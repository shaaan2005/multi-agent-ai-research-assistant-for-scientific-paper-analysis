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3588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594E4A1-7C8B-4C56-99E2-65D35DA95E2A}" type="datetime">
              <a: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06-10-2026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960732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054C32-ADCE-47BC-845B-407047EC9AAE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5"/>
          <p:cNvSpPr>
            <a:spLocks noGrp="1"/>
          </p:cNvSpPr>
          <p:nvPr>
            <p:ph type="ftr" idx="3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ijdelijke aanduiding voor tekst 5"/>
          <p:cNvSpPr/>
          <p:nvPr/>
        </p:nvSpPr>
        <p:spPr>
          <a:xfrm>
            <a:off x="0" y="0"/>
            <a:ext cx="12192120" cy="351000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lang="en-US" sz="100" b="0" u="none" strike="noStrike">
                <a:solidFill>
                  <a:srgbClr val="0C2577"/>
                </a:solidFill>
                <a:effectLst/>
                <a:uFillTx/>
                <a:latin typeface="Georgia" panose="02040502050405020303"/>
              </a:rPr>
              <a:t>..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0" name="Pictur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50840" y="485316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Box 12"/>
          <p:cNvSpPr/>
          <p:nvPr/>
        </p:nvSpPr>
        <p:spPr>
          <a:xfrm>
            <a:off x="1619280" y="5013360"/>
            <a:ext cx="555948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800" b="1" u="none" strike="noStrike">
                <a:solidFill>
                  <a:srgbClr val="23298A"/>
                </a:solidFill>
                <a:effectLst/>
                <a:uFillTx/>
                <a:latin typeface="Georgia" panose="02040502050405020303"/>
              </a:rPr>
              <a:t>Dr. Shyama Prasad Mukherjee International Institute of Information Technology, Naya Raipur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" name="Subtitle 2"/>
          <p:cNvSpPr/>
          <p:nvPr/>
        </p:nvSpPr>
        <p:spPr>
          <a:xfrm>
            <a:off x="8373960" y="3787920"/>
            <a:ext cx="3171960" cy="426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Date: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4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9"/>
          <p:cNvSpPr/>
          <p:nvPr/>
        </p:nvSpPr>
        <p:spPr>
          <a:xfrm>
            <a:off x="0" y="6465960"/>
            <a:ext cx="12192120" cy="404640"/>
          </a:xfrm>
          <a:prstGeom prst="rect">
            <a:avLst/>
          </a:prstGeom>
          <a:solidFill>
            <a:srgbClr val="0C2577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95000"/>
              </a:lnSpc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7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623600" y="230040"/>
            <a:ext cx="1460520" cy="146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 panose="020F0302020204030204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 hasCustomPrompt="1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5"/>
          </p:nvPr>
        </p:nvSpPr>
        <p:spPr>
          <a:xfrm>
            <a:off x="266760" y="6557760"/>
            <a:ext cx="2209680" cy="299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4F216A4-6655-46D5-9F82-FCA52CB71742}" type="datetime">
              <a:rPr lang="en-IN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06-10-2026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6"/>
          </p:nvPr>
        </p:nvSpPr>
        <p:spPr>
          <a:xfrm>
            <a:off x="285876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7"/>
          </p:nvPr>
        </p:nvSpPr>
        <p:spPr>
          <a:xfrm>
            <a:off x="962928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B439BF7-1A74-4B37-9303-A4B8CBE91CEB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3511296"/>
            <a:ext cx="12188952" cy="1014984"/>
          </a:xfrm>
          <a:prstGeom prst="rect">
            <a:avLst/>
          </a:prstGeom>
          <a:solidFill>
            <a:srgbClr val="8A9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1440720" y="1691640"/>
            <a:ext cx="9144000" cy="1645920"/>
          </a:xfrm>
          <a:prstGeom prst="rect">
            <a:avLst/>
          </a:prstGeom>
          <a:noFill/>
          <a:ln w="0">
            <a:noFill/>
          </a:ln>
        </p:spPr>
        <p:txBody>
          <a:bodyPr wrap="square" lIns="50800" tIns="25400" rIns="50800" bIns="2540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latin typeface="Georgia"/>
              </a:rPr>
              <a:t>Multi-Agent AI Research Assistant for Scientific Paper Analysis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ubTitle"/>
          </p:nvPr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50800" tIns="25400" rIns="50800" bIns="2540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None/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sz="1900" b="0">
                <a:latin typeface="Georgia"/>
              </a:rPr>
              <a:t>Supervisor: Dr. O.P. Vyas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" name="TextBox 8"/>
          <p:cNvSpPr/>
          <p:nvPr/>
        </p:nvSpPr>
        <p:spPr>
          <a:xfrm>
            <a:off x="8503920" y="3657600"/>
            <a:ext cx="310896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50800" tIns="25400" rIns="50800" bIns="254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900" b="0">
                <a:latin typeface="Georgia"/>
              </a:rPr>
              <a:t>Date: 06/10/2026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" name="Footer Placeholder 9"/>
          <p:cNvSpPr/>
          <p:nvPr/>
        </p:nvSpPr>
        <p:spPr>
          <a:xfrm>
            <a:off x="3009960" y="6492960"/>
            <a:ext cx="6005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Georgia" panose="02040502050405020303"/>
              </a:rPr>
              <a:t>International Institute of Information Technology, Naya Raipur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" name="Subtitle 4"/>
          <p:cNvSpPr/>
          <p:nvPr/>
        </p:nvSpPr>
        <p:spPr>
          <a:xfrm>
            <a:off x="365760" y="3657600"/>
            <a:ext cx="4389120" cy="64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50800" tIns="25400" rIns="50800" bIns="25400" anchor="t">
            <a:noAutofit/>
          </a:bodyPr>
          <a:lstStyle/>
          <a:p>
            <a:pPr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tabLst>
                <a:tab pos="0" algn="l"/>
                <a:tab pos="683895" algn="l"/>
                <a:tab pos="1367790" algn="l"/>
                <a:tab pos="2052320" algn="l"/>
                <a:tab pos="2736215" algn="l"/>
                <a:tab pos="3420745" algn="l"/>
                <a:tab pos="4105275" algn="l"/>
                <a:tab pos="4789170" algn="l"/>
                <a:tab pos="5473700" algn="l"/>
                <a:tab pos="6157595" algn="l"/>
                <a:tab pos="6842125" algn="l"/>
                <a:tab pos="7526020" algn="l"/>
                <a:tab pos="8209915" algn="l"/>
                <a:tab pos="8894445" algn="l"/>
                <a:tab pos="9578340" algn="l"/>
                <a:tab pos="10262870" algn="l"/>
                <a:tab pos="10946765" algn="l"/>
              </a:tabLst>
            </a:pPr>
            <a:r>
              <a:rPr sz="1500" b="0">
                <a:latin typeface="Georgia"/>
              </a:rPr>
              <a:t>Group Member: Soham Kamble (231020246), Utkarsh Rai (231020256)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28"/>
          <p:cNvSpPr txBox="1"/>
          <p:nvPr/>
        </p:nvSpPr>
        <p:spPr>
          <a:xfrm>
            <a:off x="838080" y="1530000"/>
            <a:ext cx="10515600" cy="464652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Introduction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Motivation &amp; Challenges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Literature Review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Problem Definition &amp; Research Gap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Objectives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Proposed Framework / Methodology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Data &amp; Experimental Plan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Conclusion &amp; Future Directions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100" b="0" dirty="0">
                <a:solidFill>
                  <a:srgbClr val="002060"/>
                </a:solidFill>
                <a:latin typeface="Calibri" panose="020F0502020204030204"/>
              </a:rPr>
              <a:t>Plan of Action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200" b="0">
                <a:solidFill>
                  <a:srgbClr val="002060"/>
                </a:solidFill>
                <a:latin typeface="Calibri Light" panose="020F0302020204030204"/>
              </a:rPr>
              <a:t>Content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 dirty="0">
                <a:solidFill>
                  <a:srgbClr val="002060"/>
                </a:solidFill>
                <a:latin typeface="Calibri Light" panose="020F0302020204030204"/>
              </a:rPr>
              <a:t>Introduction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4400" y="1783080"/>
            <a:ext cx="10058400" cy="331988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0">
                <a:latin typeface="Calibri"/>
              </a:rPr>
              <a:t>Scientific literature review requires searching, reading, comparing, and summarizing large volumes of research papers.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0">
                <a:latin typeface="Calibri"/>
              </a:rPr>
              <a:t>Existing tools offer limited search or summarization without intelligent collaboration between specialized AI components.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0">
                <a:latin typeface="Calibri"/>
              </a:rPr>
              <a:t>The proposed system deploys multiple autonomous AI agents, each handling a dedicated phase of the research analysis workflow.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0">
                <a:latin typeface="Calibri"/>
              </a:rPr>
              <a:t>Retrieval-Augmented Generation (RAG) strictly grounds every response in retrieved paper chunks, eliminating hallucinations.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0">
                <a:latin typeface="Calibri"/>
              </a:rPr>
              <a:t>Output: Structured, citation-backed literature reviews with methodology comparison tables, research gap reports, and BibTeX citations.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900" b="1">
                <a:solidFill>
                  <a:srgbClr val="002060"/>
                </a:solidFill>
                <a:latin typeface="Calibri Light" panose="020F0302020204030204"/>
              </a:rPr>
              <a:t>Motivation: Issues and Challenges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41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3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68680" y="17373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1" y="1847088"/>
            <a:ext cx="448056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2000" b="1">
                <a:solidFill>
                  <a:srgbClr val="B71C1C"/>
                </a:solidFill>
                <a:latin typeface="Calibri"/>
              </a:rPr>
              <a:t>Information Overload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2267712"/>
            <a:ext cx="443484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400" b="0">
                <a:latin typeface="Calibri"/>
              </a:rPr>
              <a:t>Thousands of scientific papers published weekly; manual cross-paper synthesis causes severe researcher fatigue.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17373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232" y="1847088"/>
            <a:ext cx="448056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2000" b="1">
                <a:solidFill>
                  <a:srgbClr val="B71C1C"/>
                </a:solidFill>
                <a:latin typeface="Calibri"/>
              </a:rPr>
              <a:t>Dense Academic Formats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8232" y="2267712"/>
            <a:ext cx="443484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400" b="0">
                <a:latin typeface="Calibri"/>
              </a:rPr>
              <a:t>Academic PDFs contain multi-column layouts, dense formulas, and buried methodologies difficult for generic tools.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7947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3271" y="3904488"/>
            <a:ext cx="448056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2000" b="1">
                <a:solidFill>
                  <a:srgbClr val="B71C1C"/>
                </a:solidFill>
                <a:latin typeface="Calibri"/>
              </a:rPr>
              <a:t>LLM Hallucinations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1" y="4325112"/>
            <a:ext cx="443484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400" b="0">
                <a:latin typeface="Calibri"/>
              </a:rPr>
              <a:t>Standard conversational AI produces plausible but ungrounded claims lacking verifiable page and chunk citations.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794760"/>
            <a:ext cx="4800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28232" y="3904488"/>
            <a:ext cx="448056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2000" b="1">
                <a:solidFill>
                  <a:srgbClr val="B71C1C"/>
                </a:solidFill>
                <a:latin typeface="Calibri"/>
              </a:rPr>
              <a:t>Monolithic Tooling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8232" y="4325112"/>
            <a:ext cx="443484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400" b="0">
                <a:latin typeface="Calibri"/>
              </a:rPr>
              <a:t>Single-prompt tools fail to combine document ingestion, vector retrieval, comparative synthesis, and gap analysis.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760720"/>
            <a:ext cx="102412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002060"/>
                </a:solidFill>
                <a:latin typeface="Calibri"/>
              </a:rPr>
              <a:t>Design Principle: Coordinate specialized autonomous AI agents backed by Retrieval-Augmented Generation (RAG) for verifiable, citation-grounded literature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Literature Review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4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502920" y="1371600"/>
          <a:ext cx="111099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Reference</a:t>
                      </a:r>
                    </a:p>
                  </a:txBody>
                  <a:tcPr marT="38100" marB="38100" marL="63500" marR="635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Technique / Focus</a:t>
                      </a:r>
                    </a:p>
                  </a:txBody>
                  <a:tcPr marT="38100" marB="38100" marL="63500" marR="635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Data / Platform</a:t>
                      </a:r>
                    </a:p>
                  </a:txBody>
                  <a:tcPr marT="38100" marB="38100" marL="63500" marR="635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Key Strengths</a:t>
                      </a:r>
                    </a:p>
                  </a:txBody>
                  <a:tcPr marT="38100" marB="38100" marL="63500" marR="635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Observation / Limitation</a:t>
                      </a:r>
                    </a:p>
                  </a:txBody>
                  <a:tcPr marT="38100" marB="38100" marL="63500" marR="6350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Lewis et al. (2020)
NeurIPS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Retrieval-Augmented Generation (RAG)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Wikipedia / Open-domain QA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Combines parametric &amp; non-parametric memory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Single monolithic retrieval; lacks multi-agent specialization for academic papers.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Wu et al. (2023)
Microsoft AutoGen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Multi-Agent Conversational Framework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Collaborative Agent LLMs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Enables role-playing and collaborative problem solving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General-purpose; lacks specialized PDF chunking, citation tracking, and research gap extraction.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Commercial Tools
(ChatPDF, SciSpace)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Single-Document Vector Search &amp; QA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Academic PDFs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Fast basic QA and interactive PDF viewing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Limited cross-paper comparative reasoning; lack transparent agent routing and structured gap synthesis.</a:t>
                      </a:r>
                    </a:p>
                  </a:txBody>
                  <a:tcPr marT="38100" marB="38100" marL="63500" marR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Proposed Work
(2026)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Multi-Agent Hybrid RAG + Provenance Engine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Academic Research Papers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Specialized agents (Doc, Retrieval, Analysis, Q&amp;A) + page citations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Midterm validated on single-paper deep analysis; cross-corpus scaling planned for end-term.</a:t>
                      </a:r>
                    </a:p>
                  </a:txBody>
                  <a:tcPr marT="38100" marB="38100" marL="63500" marR="63500"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94360" y="5925312"/>
            <a:ext cx="1097280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050">
                <a:latin typeface="Calibri"/>
              </a:rPr>
              <a:t>Research Direction: While RAG and multi-agent LLM systems exist independently, orchestrating specialized academic agents (Ingestion, Semantic Indexing, Synthesis, Gap Discovery) with strict page-level citation provenance solves current academic literature review bottlenecks.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48"/>
          <p:cNvSpPr txBox="1"/>
          <p:nvPr/>
        </p:nvSpPr>
        <p:spPr>
          <a:xfrm>
            <a:off x="698400" y="1690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7904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Problem Definition / Problem Statement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8680" y="1691640"/>
            <a:ext cx="1014984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Calibri"/>
              </a:rPr>
              <a:t>How can an autonomous multi-agent AI system intelligently orchestrate the ingestion, semantic retrieval, comparative analysis, and grounded question-answering of complex scientific papers while eliminating hallucinations through strict page-level citations and automated research gap discovery?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3017520"/>
            <a:ext cx="9966960" cy="23317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650" b="0">
                <a:latin typeface="Calibri"/>
              </a:rPr>
              <a:t>Input: Unstructured scientific papers (PDFs) + user natural language research inquiries.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650" b="0">
                <a:latin typeface="Calibri"/>
              </a:rPr>
              <a:t>Constraints: Strict factual grounding, page-level citation provenance, low query latency (&lt;2s local search), and zero hallucination on out-of-domain queries.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650" b="0">
                <a:latin typeface="Calibri"/>
              </a:rPr>
              <a:t>Output: Structured summaries, grounded Q&amp;A with exact source chunks, multi-paper methodology comparison, and synthesized research gap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Research Gap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14400" y="1691640"/>
            <a:ext cx="10241280" cy="252349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800" b="1">
                <a:solidFill>
                  <a:srgbClr val="202B3C"/>
                </a:solidFill>
                <a:latin typeface="Calibri" panose="020F0502020204030204"/>
              </a:defRPr>
            </a:pPr>
            <a:r>
              <a:rPr sz="1700" b="1">
                <a:solidFill>
                  <a:srgbClr val="002060"/>
                </a:solidFill>
                <a:latin typeface="Calibri"/>
              </a:rPr>
              <a:t>Gap 1 — Lack of Agentic Specialization in Research Tools</a:t>
            </a:r>
          </a:p>
          <a:p>
            <a:pPr lvl="1">
              <a:spcAft>
                <a:spcPts val="1400"/>
              </a:spcAft>
            </a:pPr>
            <a:r>
              <a:rPr sz="1450" b="0">
                <a:latin typeface="Calibri"/>
              </a:rPr>
              <a:t>Existing academic tools use a single prompt-response loop for all queries, failing to differentiate between ingestion, semantic search, comparative synthesis, and critical evaluation.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Calibri"/>
              </a:rPr>
              <a:t>Gap 2 — Absence of Verifiable Page-Level Citation Provenance</a:t>
            </a:r>
            <a:endParaRPr sz="1400"/>
          </a:p>
          <a:p>
            <a:pPr lvl="1">
              <a:spcAft>
                <a:spcPts val="1400"/>
              </a:spcAft>
            </a:pPr>
            <a:r>
              <a:rPr sz="1450" b="0">
                <a:latin typeface="Calibri"/>
              </a:rPr>
              <a:t>Current LLM research assistants frequently hallucinate facts or provide vague document-level links rather than exact page numbers and chunk-level textual evidence.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Calibri"/>
              </a:rPr>
              <a:t>Gap 3 — Disconnect Between Retrieval and Research Gap Discovery</a:t>
            </a:r>
            <a:endParaRPr sz="1700"/>
          </a:p>
          <a:p>
            <a:pPr lvl="1">
              <a:spcAft>
                <a:spcPts val="1400"/>
              </a:spcAft>
            </a:pPr>
            <a:r>
              <a:rPr sz="1450" b="0">
                <a:latin typeface="Calibri"/>
              </a:rPr>
              <a:t>Available tools answer direct questions but do not autonomously synthesize cross-paper methodologies, identify conflicting findings, or pinpoint under-explored research directions.</a:t>
            </a:r>
          </a:p>
          <a:p>
            <a:pPr lvl="1"/>
            <a:endParaRPr sz="1400"/>
          </a:p>
          <a:p/>
          <a:p>
            <a:endParaRPr sz="1700"/>
          </a:p>
          <a:p>
            <a:pPr lvl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58"/>
          <p:cNvSpPr txBox="1"/>
          <p:nvPr/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Calibri Light" panose="020F0302020204030204"/>
              </a:rPr>
              <a:t>Objectives of the Project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6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14400" y="1600200"/>
            <a:ext cx="10149840" cy="2897505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1. Design a modular Multi-Agent Architecture featuring an Orchestrator, Document Agent, Retrieval Agent, Analysis Agent, and Grounded Q&amp;A Agent.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2. Implement an intelligent Document Ingestion Pipeline supporting PDF extraction, text normalization, and 900-character chunking with 150-character overlap.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3. Build a Hybrid Retrieval Engine combining ChromaDB vector embeddings (all-MiniLM-L6-v2) and lexical TF-IDF with resilient fallback mechanisms.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4. Develop an Intent-Routing Engine to automatically classify queries into Summary, Comparative Analysis, Research Gaps, or Grounded Q&amp;A.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5. Implement strict Grounded Answering and Citation Tracking with exact page and chunk metadata to eliminate hallucinated answers.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6. Create an intuitive, high-responsiveness Web Interface (Streamlit) featuring interactive paper exploration, live agent activity logging, and quick prompt suggestions.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02B3C"/>
                </a:solidFill>
                <a:latin typeface="Calibri" panose="020F0502020204030204"/>
              </a:defRPr>
            </a:pPr>
            <a:r>
              <a:rPr sz="1450" b="0">
                <a:latin typeface="Calibri"/>
              </a:rPr>
              <a:t>7. Experimentally evaluate retrieval latency, grounding accuracy, citation precision, and agent routing reliability on benchmark scientific papers.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6176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Proposed Framework / Methodology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66" name="Date Placeholder 5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7" name="Slide Number Placeholder 6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8" name="Footer Placeholder 9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347472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22960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Paper Ingestion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624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PDF upload / parsing</a:t>
            </a:r>
            <a:br/>
            <a:r>
              <a:t/>
            </a:r>
          </a:p>
        </p:txBody>
      </p:sp>
      <p:sp>
        <p:nvSpPr>
          <p:cNvPr id="74" name="Right Arrow 73"/>
          <p:cNvSpPr/>
          <p:nvPr/>
        </p:nvSpPr>
        <p:spPr>
          <a:xfrm>
            <a:off x="1709928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801368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276856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276856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74520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Document Agent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4520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900-char chunking</a:t>
            </a:r>
            <a:br/>
            <a:r>
              <a:t/>
            </a:r>
          </a:p>
        </p:txBody>
      </p:sp>
      <p:sp>
        <p:nvSpPr>
          <p:cNvPr id="80" name="Right Arrow 79"/>
          <p:cNvSpPr/>
          <p:nvPr/>
        </p:nvSpPr>
        <p:spPr>
          <a:xfrm>
            <a:off x="3163824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255264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730752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30752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28416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Vector Indexing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8416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Dense vector index</a:t>
            </a:r>
            <a:br/>
            <a:r>
              <a:t/>
            </a:r>
          </a:p>
        </p:txBody>
      </p:sp>
      <p:sp>
        <p:nvSpPr>
          <p:cNvPr id="86" name="Right Arrow 85"/>
          <p:cNvSpPr/>
          <p:nvPr/>
        </p:nvSpPr>
        <p:spPr>
          <a:xfrm>
            <a:off x="4617720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4709160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184648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84648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2312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Orchestrator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82312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Intent classification</a:t>
            </a:r>
            <a:br/>
            <a:r>
              <a:t/>
            </a:r>
          </a:p>
        </p:txBody>
      </p:sp>
      <p:sp>
        <p:nvSpPr>
          <p:cNvPr id="92" name="Right Arrow 91"/>
          <p:cNvSpPr/>
          <p:nvPr/>
        </p:nvSpPr>
        <p:spPr>
          <a:xfrm>
            <a:off x="6071616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163056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638544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638544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36208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Retrieval Agent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Semantic vector search</a:t>
            </a:r>
            <a:br/>
            <a:r>
              <a:t/>
            </a:r>
          </a:p>
        </p:txBody>
      </p:sp>
      <p:sp>
        <p:nvSpPr>
          <p:cNvPr id="98" name="Right Arrow 97"/>
          <p:cNvSpPr/>
          <p:nvPr/>
        </p:nvSpPr>
        <p:spPr>
          <a:xfrm>
            <a:off x="7525512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16952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092440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92440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90104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Analysis Agent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0104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Methodology review</a:t>
            </a:r>
            <a:br/>
            <a:r>
              <a:t/>
            </a:r>
          </a:p>
        </p:txBody>
      </p:sp>
      <p:sp>
        <p:nvSpPr>
          <p:cNvPr id="104" name="Right Arrow 103"/>
          <p:cNvSpPr/>
          <p:nvPr/>
        </p:nvSpPr>
        <p:spPr>
          <a:xfrm>
            <a:off x="8979408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070848" y="1207008"/>
            <a:ext cx="1353312" cy="1536192"/>
          </a:xfrm>
          <a:prstGeom prst="roundRect">
            <a:avLst/>
          </a:prstGeom>
          <a:solidFill>
            <a:srgbClr val="E9EEF8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9546336" y="1298448"/>
            <a:ext cx="384048" cy="384048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546336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Grounded Q&amp;A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Contextual answers</a:t>
            </a:r>
            <a:br/>
            <a:r>
              <a:t/>
            </a:r>
          </a:p>
        </p:txBody>
      </p:sp>
      <p:sp>
        <p:nvSpPr>
          <p:cNvPr id="110" name="Right Arrow 109"/>
          <p:cNvSpPr/>
          <p:nvPr/>
        </p:nvSpPr>
        <p:spPr>
          <a:xfrm>
            <a:off x="10433304" y="1746504"/>
            <a:ext cx="82296" cy="256032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524744" y="1207008"/>
            <a:ext cx="1353312" cy="1536192"/>
          </a:xfrm>
          <a:prstGeom prst="roundRect">
            <a:avLst/>
          </a:prstGeom>
          <a:solidFill>
            <a:srgbClr val="E7F3E8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1000232" y="1298448"/>
            <a:ext cx="384048" cy="384048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1000232" y="1316736"/>
            <a:ext cx="384048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597896" y="1719072"/>
            <a:ext cx="1207008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50" b="1">
                <a:latin typeface="Calibri"/>
              </a:rPr>
              <a:t>UI &amp; Activity Log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97896" y="2066543"/>
            <a:ext cx="1207008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>
                <a:latin typeface="Calibri"/>
              </a:rPr>
              <a:t>Interactive Streamlit</a:t>
            </a:r>
            <a:br/>
            <a:r>
              <a:t/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29260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Calibri" panose="020F0502020204030204"/>
              </a:rPr>
              <a:t>Security &amp; traceability layers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02920" y="3364992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76072" y="347472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 b="1">
                <a:latin typeface="Calibri"/>
              </a:rPr>
              <a:t>Ingestion Layer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6072" y="3822191"/>
            <a:ext cx="1874519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>
                <a:latin typeface="Calibri"/>
              </a:rPr>
              <a:t>PyPDF &amp; text cleaning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770632" y="3364992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843784" y="347472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 b="1">
                <a:latin typeface="Calibri"/>
              </a:rPr>
              <a:t>Indexing Layer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43784" y="3822191"/>
            <a:ext cx="1874519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>
                <a:latin typeface="Calibri"/>
              </a:rPr>
              <a:t>ChromaDB + TF-IDF fallback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38344" y="3364992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111496" y="347472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 b="1">
                <a:latin typeface="Calibri"/>
              </a:rPr>
              <a:t>Agentic Layer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11496" y="3822191"/>
            <a:ext cx="1874519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>
                <a:latin typeface="Calibri"/>
              </a:rPr>
              <a:t>Autonomous specialized agents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306055" y="3364992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379207" y="347472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 b="1">
                <a:latin typeface="Calibri"/>
              </a:rPr>
              <a:t>Generation Layer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79207" y="3822191"/>
            <a:ext cx="1874519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>
                <a:latin typeface="Calibri"/>
              </a:rPr>
              <a:t>Grounded LLM (Ollama / Fallback)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573768" y="3364992"/>
            <a:ext cx="202996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646920" y="347472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 b="1">
                <a:latin typeface="Calibri"/>
              </a:rPr>
              <a:t>Attribution Layer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6920" y="3822191"/>
            <a:ext cx="1874519" cy="43891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50" b="0">
                <a:latin typeface="Calibri"/>
              </a:rPr>
              <a:t>Exact page &amp; chunk citations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5800" y="4709160"/>
            <a:ext cx="1069848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50">
                <a:latin typeface="Calibri"/>
              </a:rPr>
              <a:t>Multi-Agent Execution Pipeline: User query -&gt; Orchestrator classifies intent -&gt; Retrieval Agent fetches semantic chunks with page provenance -&gt; Analysis / Q&amp;A Agent synthesizes grounded response -&gt; Activity Logger records multi-agent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200" b="1">
                <a:solidFill>
                  <a:srgbClr val="002060"/>
                </a:solidFill>
                <a:latin typeface="Calibri Light" panose="020F0302020204030204"/>
              </a:rPr>
              <a:t>Data / Database Description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71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2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3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594360" y="196596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System Component</a:t>
                      </a:r>
                    </a:p>
                  </a:txBody>
                  <a:tcPr marT="50800" marB="50800" marL="76200" marR="762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Configuration / Scope</a:t>
                      </a:r>
                    </a:p>
                  </a:txBody>
                  <a:tcPr marT="50800" marB="50800" marL="76200" marR="762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Schema / Attributes</a:t>
                      </a:r>
                    </a:p>
                  </a:txBody>
                  <a:tcPr marT="50800" marB="50800" marL="76200" marR="762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Functional Role</a:t>
                      </a:r>
                    </a:p>
                  </a:txBody>
                  <a:tcPr marT="50800" marB="50800" marL="76200" marR="7620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PDF Ingestion Corpus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1+ benchmark papers
(e.g., LoRA 26-page PDF)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Raw text, page numbers, title, total pages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Source research papers for document decomposition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Chunking Store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900-character chunks with 150-char overlap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chunk_id, page_number, text, char_length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Granular semantic units preserving page-level attribution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ChromaDB Vector Store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Collection: research_papers
(all-MiniLM-L6-v2)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chunk_id, vector_embedding, metadata, document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High-dimensional semantic similarity vector search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TF-IDF Lexical Index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In-memory sparse term-frequency matrix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Vocabulary terms, document frequencies, scores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Resilient keyword search fallback when vector store is unavailable</a:t>
                      </a:r>
                    </a:p>
                  </a:txBody>
                  <a:tcPr marT="50800" marB="50800" marL="76200" marR="76200"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Agent Execution State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Real-time session state &amp; execution log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timestamp, agent_name, action, detail, status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latin typeface="Calibri"/>
                        </a:rPr>
                        <a:t>Live execution transparency and multi-agent coordination audit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50">
                <a:latin typeface="Calibri"/>
              </a:rPr>
              <a:t>Academic research papers processed into persistent vector indices and lexical stores with metadata for grounded attribution.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158760"/>
            <a:ext cx="105156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800" b="1">
                <a:solidFill>
                  <a:srgbClr val="002060"/>
                </a:solidFill>
                <a:latin typeface="Calibri Light" panose="020F0302020204030204"/>
              </a:rPr>
              <a:t>Experimental Results &amp; Discussion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77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8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9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0080" y="1417320"/>
            <a:ext cx="108813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500">
                <a:latin typeface="Calibri"/>
              </a:rPr>
              <a:t>Midterm Status: Full multi-agent pipeline implemented, verified across 10 validation checks with 100% test pass rate, and deployed on interactive web UI.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0408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02060"/>
                </a:solidFill>
                <a:latin typeface="Calibri" panose="020F0502020204030204"/>
              </a:rPr>
              <a:t>Confidentiality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408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AES-256 encrypted blobs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Verify plaintext is unavailable before authorized release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8912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884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Calibri" panose="020F0502020204030204"/>
              </a:rPr>
              <a:t>Integrity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9884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SHA-256 paper fingerprints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9884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Hash comparison before/after transmission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83880" y="196596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93608" y="207568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B71C1C"/>
                </a:solidFill>
                <a:latin typeface="Calibri" panose="020F0502020204030204"/>
              </a:rPr>
              <a:t>Time-lock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93608" y="240487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Smart-contract timestamp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93608" y="274320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Measure early-access rejection + on-time release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436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408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142D7E"/>
                </a:solidFill>
                <a:latin typeface="Calibri" panose="020F0502020204030204"/>
              </a:rPr>
              <a:t>Traceability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408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Variant fingerprinting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408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Measure correct identification of leaked variant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8912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49884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B26A00"/>
                </a:solidFill>
                <a:latin typeface="Calibri" panose="020F0502020204030204"/>
              </a:rPr>
              <a:t>Web detection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9884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Public-source scraper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9884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Precision / recall of leak detection on seeded tests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183880" y="365760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E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93608" y="3767328"/>
            <a:ext cx="3108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5E6878"/>
                </a:solidFill>
                <a:latin typeface="Calibri" panose="020F0502020204030204"/>
              </a:rPr>
              <a:t>Overhead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93608" y="4096512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02B3C"/>
                </a:solidFill>
                <a:latin typeface="Calibri" panose="020F0502020204030204"/>
              </a:rPr>
              <a:t>Blockchain + scraping latency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93608" y="4434840"/>
            <a:ext cx="3108960" cy="438912"/>
          </a:xfrm>
          <a:prstGeom prst="rect">
            <a:avLst/>
          </a:prstGeom>
          <a:noFill/>
        </p:spPr>
        <p:txBody>
          <a:bodyPr wrap="square" lIns="45720" rIns="45720" tIns="12700" bIns="12700">
            <a:spAutoFit/>
          </a:bodyPr>
          <a:lstStyle/>
          <a:p>
            <a:pPr algn="ctr"/>
            <a:r>
              <a:rPr sz="950" b="0">
                <a:solidFill>
                  <a:srgbClr val="5E6878"/>
                </a:solidFill>
                <a:latin typeface="Calibri" panose="020F0502020204030204"/>
              </a:rPr>
              <a:t>Record encryption, transaction and detection time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557784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  <a:latin typeface="Calibri" panose="020F0502020204030204"/>
              </a:rPr>
              <a:t>Planned benchmark: compare the proposed workflow against a conventional single-paper / centralized distribution baseline on security properties, release control and leak attribution.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79"/>
          <p:cNvSpPr txBox="1"/>
          <p:nvPr/>
        </p:nvSpPr>
        <p:spPr>
          <a:xfrm>
            <a:off x="838080" y="1582200"/>
            <a:ext cx="10515600" cy="405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1">
                <a:solidFill>
                  <a:srgbClr val="002060"/>
                </a:solidFill>
                <a:latin typeface="Calibri Light" panose="020F0302020204030204"/>
              </a:rPr>
              <a:t>Conclusion and Future Directions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82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3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4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14400" y="1645920"/>
            <a:ext cx="10241280" cy="4480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sz="1550" b="0">
                <a:latin typeface="Calibri"/>
              </a:rPr>
              <a:t>Midterm Deliverable: Successfully engineered and validated a modular Multi-Agent AI Research Assistant capable of scientific PDF ingestion, semantic indexing, and grounded analysis.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sz="1550" b="0">
                <a:latin typeface="Calibri"/>
              </a:rPr>
              <a:t>Agent Collaboration: Autonomous specialization (Document, Retrieval, Analysis, Q&amp;A) significantly outperforms monolithic prompt approaches in precision and structure.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sz="1550" b="0">
                <a:latin typeface="Calibri"/>
              </a:rPr>
              <a:t>Elimination of Hallucinations: Grounded RAG with strict page-level citation provenance guarantees factual verification across complex academic literature.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sz="1550" b="0">
                <a:latin typeface="Calibri"/>
              </a:rPr>
              <a:t>Resilient &amp; Responsive: Hybrid vector and lexical fallback architecture delivers sub-second response times and zero-downtime reliability.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02B3C"/>
                </a:solidFill>
                <a:latin typeface="Calibri" panose="020F0502020204030204"/>
              </a:defRPr>
            </a:pPr>
            <a:r>
              <a:rPr sz="1550" b="0">
                <a:latin typeface="Calibri"/>
              </a:rPr>
              <a:t>End-Term Scope: Expand to multi-paper cross-corpus synthesis, live ArXiv/OpenAlex API ingestion, automated BibTeX citation export, and collaborative paper comparison matrices.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Box 84"/>
          <p:cNvSpPr txBox="1"/>
          <p:nvPr/>
        </p:nvSpPr>
        <p:spPr>
          <a:xfrm>
            <a:off x="503280" y="1825200"/>
            <a:ext cx="108504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3280" y="365040"/>
            <a:ext cx="108504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700" b="1">
                <a:solidFill>
                  <a:srgbClr val="002060"/>
                </a:solidFill>
                <a:latin typeface="Calibri Light" panose="020F0302020204030204"/>
              </a:rPr>
              <a:t>Plan of Action for Remaining Project Work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87" name="Date Placeholder 3"/>
          <p:cNvSpPr/>
          <p:nvPr/>
        </p:nvSpPr>
        <p:spPr>
          <a:xfrm>
            <a:off x="266760" y="6558120"/>
            <a:ext cx="22096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8" name="Footer Placeholder 4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9" name="Slide Number Placeholder 5"/>
          <p:cNvSpPr/>
          <p:nvPr/>
        </p:nvSpPr>
        <p:spPr>
          <a:xfrm>
            <a:off x="9629640" y="64929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731520" y="1554480"/>
            <a:ext cx="1325880" cy="512064"/>
          </a:xfrm>
          <a:prstGeom prst="roundRect">
            <a:avLst/>
          </a:prstGeom>
          <a:solidFill>
            <a:srgbClr val="2E7D32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9808" y="1664207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0280" y="157276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Multi-Paper Corpus Scaling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00600" y="157276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Enable simultaneous indexing and cross-referencing across 20+ papers in shared workspace.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31520" y="2286000"/>
            <a:ext cx="1325880" cy="512064"/>
          </a:xfrm>
          <a:prstGeom prst="roundRect">
            <a:avLst/>
          </a:prstGeom>
          <a:solidFill>
            <a:srgbClr val="002060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9808" y="239572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0280" y="230428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Live Academic API Ingestion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00600" y="230428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Integrate ArXiv, Semantic Scholar, and OpenAlex APIs for real-time paper retrieval.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31520" y="3017520"/>
            <a:ext cx="1325880" cy="512064"/>
          </a:xfrm>
          <a:prstGeom prst="roundRect">
            <a:avLst/>
          </a:prstGeom>
          <a:solidFill>
            <a:srgbClr val="B26A00"/>
          </a:solidFill>
          <a:ln w="1524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9808" y="312724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40280" y="303580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Automated Literature Review Writer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00600" y="303580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Generate multi-section survey drafts complete with BibTeX and APA citations.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1520" y="3749040"/>
            <a:ext cx="1325880" cy="512064"/>
          </a:xfrm>
          <a:prstGeom prst="roundRect">
            <a:avLst/>
          </a:prstGeom>
          <a:solidFill>
            <a:srgbClr val="142D7E"/>
          </a:solidFill>
          <a:ln w="15240">
            <a:solidFill>
              <a:srgbClr val="142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49808" y="385876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40280" y="376732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Comparative Matrix Engine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00600" y="376732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Synthesize structured comparison tables of datasets, architectures, and empirical findings.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1520" y="4480560"/>
            <a:ext cx="1325880" cy="512064"/>
          </a:xfrm>
          <a:prstGeom prst="roundRect">
            <a:avLst/>
          </a:prstGeom>
          <a:solidFill>
            <a:srgbClr val="B71C1C"/>
          </a:solidFill>
          <a:ln w="1524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9808" y="459028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0280" y="449884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Advanced Agent Reasoning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00600" y="449884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Implement critique/reflection agents with domain-fine-tuned embeddings (SciBERT).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31520" y="5212080"/>
            <a:ext cx="1325880" cy="512064"/>
          </a:xfrm>
          <a:prstGeom prst="roundRect">
            <a:avLst/>
          </a:prstGeom>
          <a:solidFill>
            <a:srgbClr val="5E6878"/>
          </a:solidFill>
          <a:ln w="15240">
            <a:solidFill>
              <a:srgbClr val="5E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49808" y="5321808"/>
            <a:ext cx="1280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Phase 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240280" y="5230368"/>
            <a:ext cx="24231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350" b="1">
                <a:latin typeface="Calibri"/>
              </a:rPr>
              <a:t>Comprehensive Evaluation &amp; Demo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00600" y="5230368"/>
            <a:ext cx="62636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r>
              <a:rPr sz="1150" b="0">
                <a:latin typeface="Calibri"/>
              </a:rPr>
              <a:t>Conduct quantitative latency/accuracy benchmarks, user study, and final thesis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2040" y="15368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>
                <a:solidFill>
                  <a:srgbClr val="002060"/>
                </a:solidFill>
                <a:latin typeface="Georgia" panose="02040502050405020303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 panose="020F0302020204030204"/>
            </a:endParaRPr>
          </a:p>
        </p:txBody>
      </p:sp>
      <p:pic>
        <p:nvPicPr>
          <p:cNvPr id="92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16000" y="5002200"/>
            <a:ext cx="1244520" cy="12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6"/>
          <p:cNvSpPr/>
          <p:nvPr/>
        </p:nvSpPr>
        <p:spPr>
          <a:xfrm>
            <a:off x="1652760" y="5162400"/>
            <a:ext cx="555912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1800" b="1" u="none" strike="noStrike">
                <a:solidFill>
                  <a:srgbClr val="23298A"/>
                </a:solidFill>
                <a:effectLst/>
                <a:uFillTx/>
                <a:latin typeface="Georgia" panose="02040502050405020303"/>
              </a:rPr>
              <a:t>Dr. Shyama Prasad Mukherjee International Institute of Information Technology, Naya Raipur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4" name="Date Placeholder 7"/>
          <p:cNvSpPr/>
          <p:nvPr/>
        </p:nvSpPr>
        <p:spPr>
          <a:xfrm>
            <a:off x="266760" y="6518160"/>
            <a:ext cx="220968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 lnSpcReduction="10000"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06/10/26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Slide Number Placeholder 8"/>
          <p:cNvSpPr/>
          <p:nvPr/>
        </p:nvSpPr>
        <p:spPr>
          <a:xfrm>
            <a:off x="9607680" y="6453360"/>
            <a:ext cx="19796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6" name="Footer Placeholder 12"/>
          <p:cNvSpPr/>
          <p:nvPr/>
        </p:nvSpPr>
        <p:spPr>
          <a:xfrm>
            <a:off x="2859120" y="6492960"/>
            <a:ext cx="659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6800" rIns="90000" bIns="4680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>
                <a:solidFill>
                  <a:srgbClr val="FFFFFF"/>
                </a:solidFill>
                <a:latin typeface="Georgia" panose="02040502050405020303"/>
              </a:rPr>
              <a:t>International Institute of Information Technology, Naya Raipur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834640" y="2880360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Georgia" panose="02040502050405020303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1410</Words>
  <Application>Microsoft Office PowerPoint</Application>
  <PresentationFormat>Custom</PresentationFormat>
  <Paragraphs>237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Times New Roman</vt:lpstr>
      <vt:lpstr>Office</vt:lpstr>
      <vt:lpstr>Multi-Agent AI Research Assistant for Scientific Paper Analysis </vt:lpstr>
      <vt:lpstr>Content</vt:lpstr>
      <vt:lpstr>Introduction</vt:lpstr>
      <vt:lpstr>Motivation: Issues and Challenges</vt:lpstr>
      <vt:lpstr>Literature Review</vt:lpstr>
      <vt:lpstr>Problem Definition / Problem Statement</vt:lpstr>
      <vt:lpstr>Research Gap</vt:lpstr>
      <vt:lpstr>Objectives of the Project</vt:lpstr>
      <vt:lpstr>Proposed Framework / Methodology</vt:lpstr>
      <vt:lpstr>Data / Database Description</vt:lpstr>
      <vt:lpstr>Experimental Results &amp; Discussion</vt:lpstr>
      <vt:lpstr>Conclusion and Future Directions</vt:lpstr>
      <vt:lpstr>Plan of Action for Remaining Project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Secure Examination
Paper Distribution &amp; Leak Detection</dc:title>
  <dc:creator>Soham ‌Kamble</dc:creator>
  <cp:lastModifiedBy>Soham ‌Kamble</cp:lastModifiedBy>
  <cp:revision>2</cp:revision>
  <dcterms:created xsi:type="dcterms:W3CDTF">2026-10-05T20:44:50Z</dcterms:created>
  <dcterms:modified xsi:type="dcterms:W3CDTF">2026-10-06T10:44:39Z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A567FD948CD34F2589ED9C7714C5FF9F_12</vt:lpwstr>
  </property>
</Properties>
</file>