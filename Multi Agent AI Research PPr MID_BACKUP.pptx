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3588"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Default">
    <p:bg>
      <p:bgPr>
        <a:solidFill>
          <a:srgbClr val="FFFFFF"/>
        </a:solidFill>
        <a:effectLst/>
      </p:bgPr>
    </p:bg>
    <p:spTree>
      <p:nvGrpSpPr>
        <p:cNvPr id="1" name=""/>
        <p:cNvGrpSpPr/>
        <p:nvPr/>
      </p:nvGrpSpPr>
      <p:grpSpPr>
        <a:xfrm>
          <a:off x="0" y="0"/>
          <a:ext cx="0" cy="0"/>
          <a:chOff x="0" y="0"/>
          <a:chExt cx="0" cy="0"/>
        </a:xfrm>
      </p:grpSpPr>
      <p:sp>
        <p:nvSpPr>
          <p:cNvPr id="2" name="Rechthoek 19"/>
          <p:cNvSpPr/>
          <p:nvPr/>
        </p:nvSpPr>
        <p:spPr>
          <a:xfrm>
            <a:off x="0" y="6465960"/>
            <a:ext cx="12192120" cy="404640"/>
          </a:xfrm>
          <a:prstGeom prst="rect">
            <a:avLst/>
          </a:prstGeom>
          <a:solidFill>
            <a:srgbClr val="0C2577"/>
          </a:solidFill>
          <a:ln w="0">
            <a:noFill/>
          </a:ln>
        </p:spPr>
        <p:style>
          <a:lnRef idx="0">
            <a:srgbClr val="FFFFFF"/>
          </a:lnRef>
          <a:fillRef idx="0">
            <a:srgbClr val="FFFFFF"/>
          </a:fillRef>
          <a:effectRef idx="0">
            <a:srgbClr val="FFFFFF"/>
          </a:effectRef>
          <a:fontRef idx="minor"/>
        </p:style>
        <p:txBody>
          <a:bodyPr lIns="68400" tIns="34200" rIns="68400" bIns="34200" anchor="t">
            <a:noAutofit/>
          </a:bodyPr>
          <a:lstStyle/>
          <a:p>
            <a:pPr>
              <a:lnSpc>
                <a:spcPct val="95000"/>
              </a:lnSpc>
              <a:tabLst>
                <a:tab pos="0" algn="l"/>
                <a:tab pos="683895" algn="l"/>
                <a:tab pos="1367790" algn="l"/>
                <a:tab pos="2052320" algn="l"/>
                <a:tab pos="2736215" algn="l"/>
                <a:tab pos="3420745" algn="l"/>
                <a:tab pos="4105275" algn="l"/>
                <a:tab pos="4789170" algn="l"/>
                <a:tab pos="5473700" algn="l"/>
                <a:tab pos="6157595" algn="l"/>
                <a:tab pos="6842125" algn="l"/>
                <a:tab pos="7526020" algn="l"/>
                <a:tab pos="8209915" algn="l"/>
                <a:tab pos="8894445" algn="l"/>
                <a:tab pos="9578340" algn="l"/>
                <a:tab pos="10262870" algn="l"/>
                <a:tab pos="10946765" algn="l"/>
              </a:tabLst>
            </a:pPr>
            <a:endParaRPr lang="en-US" sz="1800" b="0" u="none" strike="noStrike">
              <a:solidFill>
                <a:srgbClr val="000000"/>
              </a:solidFill>
              <a:effectLst/>
              <a:uFillTx/>
              <a:latin typeface="Calibri" panose="020F0502020204030204"/>
            </a:endParaRPr>
          </a:p>
        </p:txBody>
      </p:sp>
      <p:sp>
        <p:nvSpPr>
          <p:cNvPr id="3" name="PlaceHolder 1"/>
          <p:cNvSpPr>
            <a:spLocks noGrp="1"/>
          </p:cNvSpPr>
          <p:nvPr>
            <p:ph type="title" hasCustomPrompt="1"/>
          </p:nvPr>
        </p:nvSpPr>
        <p:spPr>
          <a:xfrm>
            <a:off x="838080" y="365040"/>
            <a:ext cx="10515600" cy="1325520"/>
          </a:xfrm>
          <a:prstGeom prst="rect">
            <a:avLst/>
          </a:prstGeom>
          <a:noFill/>
          <a:ln w="0">
            <a:noFill/>
          </a:ln>
        </p:spPr>
        <p:txBody>
          <a:bodyPr lIns="90000" tIns="46800" rIns="90000" bIns="46800" anchor="ctr">
            <a:noAutofit/>
          </a:bodyPr>
          <a:lstStyle/>
          <a:p>
            <a:pPr indent="0">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u="none" strike="noStrike">
                <a:solidFill>
                  <a:srgbClr val="000000"/>
                </a:solidFill>
                <a:effectLst/>
                <a:uFillTx/>
                <a:latin typeface="Calibri Light" panose="020F0302020204030204"/>
              </a:rPr>
              <a:t>Click to edit the title text format</a:t>
            </a:r>
          </a:p>
        </p:txBody>
      </p:sp>
      <p:sp>
        <p:nvSpPr>
          <p:cNvPr id="4" name="PlaceHolder 2"/>
          <p:cNvSpPr>
            <a:spLocks noGrp="1"/>
          </p:cNvSpPr>
          <p:nvPr>
            <p:ph type="body" hasCustomPrompt="1"/>
          </p:nvPr>
        </p:nvSpPr>
        <p:spPr>
          <a:xfrm>
            <a:off x="838080" y="1825200"/>
            <a:ext cx="10515600" cy="4351320"/>
          </a:xfrm>
          <a:prstGeom prst="rect">
            <a:avLst/>
          </a:prstGeom>
          <a:noFill/>
          <a:ln w="0">
            <a:noFill/>
          </a:ln>
        </p:spPr>
        <p:txBody>
          <a:bodyPr lIns="90000" tIns="46800" rIns="90000" bIns="46800" anchor="t">
            <a:normAutofit/>
          </a:bodyPr>
          <a:lstStyle/>
          <a:p>
            <a:pPr marL="228600"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Calibri" panose="020F0502020204030204"/>
              </a:rPr>
              <a:t>Click to edit the outline text format</a:t>
            </a:r>
          </a:p>
          <a:p>
            <a:pPr marL="685800" lvl="1"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Calibri" panose="020F0502020204030204"/>
              </a:rPr>
              <a:t>Second Outline Level</a:t>
            </a:r>
          </a:p>
          <a:p>
            <a:pPr marL="1143000" lvl="2"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Calibri" panose="020F0502020204030204"/>
              </a:rPr>
              <a:t>Third Outline Level</a:t>
            </a:r>
          </a:p>
          <a:p>
            <a:pPr marL="1600200" lvl="3"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Calibri" panose="020F0502020204030204"/>
              </a:rPr>
              <a:t>Fourth Outline Level</a:t>
            </a:r>
          </a:p>
          <a:p>
            <a:pPr marL="2057400" lvl="4"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Calibri" panose="020F0502020204030204"/>
              </a:rPr>
              <a:t>Fifth Outline Level</a:t>
            </a:r>
          </a:p>
          <a:p>
            <a:pPr marL="2057400" lvl="5"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Calibri" panose="020F0502020204030204"/>
              </a:rPr>
              <a:t>Sixth Outline Level</a:t>
            </a:r>
          </a:p>
          <a:p>
            <a:pPr marL="2057400" lvl="6"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Calibri" panose="020F0502020204030204"/>
              </a:rPr>
              <a:t>Seventh Outline Level</a:t>
            </a:r>
          </a:p>
        </p:txBody>
      </p:sp>
      <p:sp>
        <p:nvSpPr>
          <p:cNvPr id="5" name="PlaceHolder 3"/>
          <p:cNvSpPr>
            <a:spLocks noGrp="1"/>
          </p:cNvSpPr>
          <p:nvPr>
            <p:ph type="dt" idx="1"/>
          </p:nvPr>
        </p:nvSpPr>
        <p:spPr>
          <a:xfrm>
            <a:off x="266760" y="6518160"/>
            <a:ext cx="2209680" cy="300240"/>
          </a:xfrm>
          <a:prstGeom prst="rect">
            <a:avLst/>
          </a:prstGeom>
          <a:noFill/>
          <a:ln w="0">
            <a:noFill/>
          </a:ln>
        </p:spPr>
        <p:txBody>
          <a:bodyPr lIns="90000" tIns="46800" rIns="90000" bIns="46800" anchor="ctr">
            <a:noAutofit/>
          </a:bodyPr>
          <a:lstStyle>
            <a:lvl1pPr inden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IN" sz="1200" b="0" u="none" strike="noStrike">
                <a:solidFill>
                  <a:srgbClr val="FFFFFF"/>
                </a:solidFill>
                <a:effectLst/>
                <a:uFillTx/>
                <a:latin typeface="Times New Roman" panose="02020603050405020304"/>
              </a:defRPr>
            </a:lvl1pPr>
          </a:lstStyle>
          <a:p>
            <a:pPr inden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E594E4A1-7C8B-4C56-99E2-65D35DA95E2A}" type="datetime">
              <a:rPr lang="en-IN" sz="1200" b="0" u="none" strike="noStrike">
                <a:solidFill>
                  <a:srgbClr val="FFFFFF"/>
                </a:solidFill>
                <a:effectLst/>
                <a:uFillTx/>
                <a:latin typeface="Times New Roman" panose="02020603050405020304"/>
              </a:rPr>
              <a:t>06-10-2026</a:t>
            </a:fld>
            <a:endParaRPr lang="en-US" sz="1200" b="0" u="none" strike="noStrike">
              <a:solidFill>
                <a:srgbClr val="000000"/>
              </a:solidFill>
              <a:effectLst/>
              <a:uFillTx/>
              <a:latin typeface="Times New Roman" panose="02020603050405020304"/>
            </a:endParaRPr>
          </a:p>
        </p:txBody>
      </p:sp>
      <p:sp>
        <p:nvSpPr>
          <p:cNvPr id="6" name="PlaceHolder 4"/>
          <p:cNvSpPr>
            <a:spLocks noGrp="1"/>
          </p:cNvSpPr>
          <p:nvPr>
            <p:ph type="sldNum" idx="2"/>
          </p:nvPr>
        </p:nvSpPr>
        <p:spPr>
          <a:xfrm>
            <a:off x="9607320" y="6453360"/>
            <a:ext cx="1979640" cy="365040"/>
          </a:xfrm>
          <a:prstGeom prst="rect">
            <a:avLst/>
          </a:prstGeom>
          <a:noFill/>
          <a:ln w="0">
            <a:noFill/>
          </a:ln>
        </p:spPr>
        <p:txBody>
          <a:bodyPr lIns="90000" tIns="46800" rIns="90000" bIns="46800" anchor="ctr">
            <a:noAutofit/>
          </a:bodyPr>
          <a:lstStyle>
            <a:lvl1pPr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US" sz="1200" b="0" u="none" strike="noStrike">
                <a:solidFill>
                  <a:srgbClr val="FFFFFF"/>
                </a:solidFill>
                <a:effectLst/>
                <a:uFillTx/>
                <a:latin typeface="Times New Roman" panose="02020603050405020304"/>
              </a:defRPr>
            </a:lvl1pPr>
          </a:lstStyle>
          <a:p>
            <a:pPr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D5054C32-ADCE-47BC-845B-407047EC9AAE}" type="slidenum">
              <a:rPr lang="en-US" sz="1200" b="0" u="none" strike="noStrike">
                <a:solidFill>
                  <a:srgbClr val="FFFFFF"/>
                </a:solidFill>
                <a:effectLst/>
                <a:uFillTx/>
                <a:latin typeface="Times New Roman" panose="02020603050405020304"/>
              </a:rPr>
              <a:t>‹#›</a:t>
            </a:fld>
            <a:endParaRPr lang="en-US" sz="1200" b="0" u="none" strike="noStrike">
              <a:solidFill>
                <a:srgbClr val="000000"/>
              </a:solidFill>
              <a:effectLst/>
              <a:uFillTx/>
              <a:latin typeface="Times New Roman" panose="02020603050405020304"/>
            </a:endParaRPr>
          </a:p>
        </p:txBody>
      </p:sp>
      <p:pic>
        <p:nvPicPr>
          <p:cNvPr id="7" name="Picture 8"/>
          <p:cNvPicPr/>
          <p:nvPr/>
        </p:nvPicPr>
        <p:blipFill>
          <a:blip r:embed="rId2"/>
          <a:stretch>
            <a:fillRect/>
          </a:stretch>
        </p:blipFill>
        <p:spPr>
          <a:xfrm>
            <a:off x="10623600" y="230040"/>
            <a:ext cx="1460520" cy="1460520"/>
          </a:xfrm>
          <a:prstGeom prst="rect">
            <a:avLst/>
          </a:prstGeom>
          <a:noFill/>
          <a:ln w="0">
            <a:noFill/>
          </a:ln>
        </p:spPr>
      </p:pic>
      <p:sp>
        <p:nvSpPr>
          <p:cNvPr id="8" name="PlaceHolder 5"/>
          <p:cNvSpPr>
            <a:spLocks noGrp="1"/>
          </p:cNvSpPr>
          <p:nvPr>
            <p:ph type="ftr" idx="3"/>
          </p:nvPr>
        </p:nvSpPr>
        <p:spPr>
          <a:xfrm>
            <a:off x="2858760" y="6492960"/>
            <a:ext cx="6597720" cy="365040"/>
          </a:xfrm>
          <a:prstGeom prst="rect">
            <a:avLst/>
          </a:prstGeom>
          <a:noFill/>
          <a:ln w="0">
            <a:noFill/>
          </a:ln>
        </p:spPr>
        <p:txBody>
          <a:bodyPr lIns="90000" tIns="46800" rIns="90000" bIns="46800" anchor="ctr">
            <a:noAutofit/>
          </a:bodyPr>
          <a:lstStyle>
            <a:lvl1pPr indent="0" algn="ctr">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US" sz="1400" b="0" u="none" strike="noStrike">
                <a:solidFill>
                  <a:srgbClr val="FFFFFF"/>
                </a:solidFill>
                <a:effectLst/>
                <a:uFillTx/>
                <a:latin typeface="Georgia" panose="02040502050405020303"/>
              </a:defRPr>
            </a:lvl1pPr>
          </a:lstStyle>
          <a:p>
            <a:pPr indent="0" algn="ctr">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FFFFFF"/>
                </a:solidFill>
                <a:effectLst/>
                <a:uFillTx/>
                <a:latin typeface="Georgia" panose="02040502050405020303"/>
              </a:rPr>
              <a:t>International Institute of Information Technology, Naya Raipur</a:t>
            </a:r>
            <a:endParaRPr lang="en-US" sz="1400" b="0" u="none" strike="noStrike">
              <a:solidFill>
                <a:srgbClr val="000000"/>
              </a:solidFill>
              <a:effectLst/>
              <a:uFillTx/>
              <a:latin typeface="Times New Roman" panose="02020603050405020304"/>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Title1">
    <p:bg>
      <p:bgPr>
        <a:solidFill>
          <a:srgbClr val="FFFFFF"/>
        </a:solidFill>
        <a:effectLst/>
      </p:bgPr>
    </p:bg>
    <p:spTree>
      <p:nvGrpSpPr>
        <p:cNvPr id="1" name=""/>
        <p:cNvGrpSpPr/>
        <p:nvPr/>
      </p:nvGrpSpPr>
      <p:grpSpPr>
        <a:xfrm>
          <a:off x="0" y="0"/>
          <a:ext cx="0" cy="0"/>
          <a:chOff x="0" y="0"/>
          <a:chExt cx="0" cy="0"/>
        </a:xfrm>
      </p:grpSpPr>
      <p:sp>
        <p:nvSpPr>
          <p:cNvPr id="7" name="Rechthoek 19"/>
          <p:cNvSpPr/>
          <p:nvPr/>
        </p:nvSpPr>
        <p:spPr>
          <a:xfrm>
            <a:off x="0" y="6465960"/>
            <a:ext cx="12192120" cy="404640"/>
          </a:xfrm>
          <a:prstGeom prst="rect">
            <a:avLst/>
          </a:prstGeom>
          <a:solidFill>
            <a:srgbClr val="0C2577"/>
          </a:solidFill>
          <a:ln w="0">
            <a:noFill/>
          </a:ln>
        </p:spPr>
        <p:style>
          <a:lnRef idx="0">
            <a:srgbClr val="FFFFFF"/>
          </a:lnRef>
          <a:fillRef idx="0">
            <a:srgbClr val="FFFFFF"/>
          </a:fillRef>
          <a:effectRef idx="0">
            <a:srgbClr val="FFFFFF"/>
          </a:effectRef>
          <a:fontRef idx="minor"/>
        </p:style>
        <p:txBody>
          <a:bodyPr lIns="68400" tIns="34200" rIns="68400" bIns="34200" anchor="t">
            <a:noAutofit/>
          </a:bodyPr>
          <a:lstStyle/>
          <a:p>
            <a:pPr>
              <a:lnSpc>
                <a:spcPct val="95000"/>
              </a:lnSpc>
              <a:tabLst>
                <a:tab pos="0" algn="l"/>
                <a:tab pos="683895" algn="l"/>
                <a:tab pos="1367790" algn="l"/>
                <a:tab pos="2052320" algn="l"/>
                <a:tab pos="2736215" algn="l"/>
                <a:tab pos="3420745" algn="l"/>
                <a:tab pos="4105275" algn="l"/>
                <a:tab pos="4789170" algn="l"/>
                <a:tab pos="5473700" algn="l"/>
                <a:tab pos="6157595" algn="l"/>
                <a:tab pos="6842125" algn="l"/>
                <a:tab pos="7526020" algn="l"/>
                <a:tab pos="8209915" algn="l"/>
                <a:tab pos="8894445" algn="l"/>
                <a:tab pos="9578340" algn="l"/>
                <a:tab pos="10262870" algn="l"/>
                <a:tab pos="10946765" algn="l"/>
              </a:tabLst>
            </a:pPr>
            <a:endParaRPr lang="en-US" sz="1800" b="0" u="none" strike="noStrike">
              <a:solidFill>
                <a:srgbClr val="000000"/>
              </a:solidFill>
              <a:effectLst/>
              <a:uFillTx/>
              <a:latin typeface="Calibri" panose="020F0502020204030204"/>
            </a:endParaRPr>
          </a:p>
        </p:txBody>
      </p:sp>
      <p:pic>
        <p:nvPicPr>
          <p:cNvPr id="8" name="Picture 8"/>
          <p:cNvPicPr/>
          <p:nvPr/>
        </p:nvPicPr>
        <p:blipFill>
          <a:blip r:embed="rId2"/>
          <a:stretch>
            <a:fillRect/>
          </a:stretch>
        </p:blipFill>
        <p:spPr>
          <a:xfrm>
            <a:off x="10623600" y="230040"/>
            <a:ext cx="1460520" cy="1460520"/>
          </a:xfrm>
          <a:prstGeom prst="rect">
            <a:avLst/>
          </a:prstGeom>
          <a:noFill/>
          <a:ln w="0">
            <a:noFill/>
          </a:ln>
        </p:spPr>
      </p:pic>
      <p:sp>
        <p:nvSpPr>
          <p:cNvPr id="9" name="Tijdelijke aanduiding voor tekst 5"/>
          <p:cNvSpPr/>
          <p:nvPr/>
        </p:nvSpPr>
        <p:spPr>
          <a:xfrm>
            <a:off x="0" y="0"/>
            <a:ext cx="12192120" cy="3510000"/>
          </a:xfrm>
          <a:prstGeom prst="rect">
            <a:avLst/>
          </a:prstGeom>
          <a:solidFill>
            <a:srgbClr val="0C2577"/>
          </a:solidFill>
          <a:ln w="0">
            <a:noFill/>
          </a:ln>
        </p:spPr>
        <p:style>
          <a:lnRef idx="0">
            <a:srgbClr val="FFFFFF"/>
          </a:lnRef>
          <a:fillRef idx="0">
            <a:srgbClr val="FFFFFF"/>
          </a:fillRef>
          <a:effectRef idx="0">
            <a:srgbClr val="FFFFFF"/>
          </a:effectRef>
          <a:fontRef idx="minor"/>
        </p:style>
        <p:txBody>
          <a:bodyPr lIns="0" tIns="0" rIns="0" bIns="0" anchor="t">
            <a:noAutofit/>
          </a:bodyPr>
          <a:lstStyle/>
          <a:p>
            <a:pPr>
              <a:lnSpc>
                <a:spcPct val="90000"/>
              </a:lnSpc>
              <a:spcBef>
                <a:spcPts val="450"/>
              </a:spcBef>
              <a:spcAft>
                <a:spcPts val="450"/>
              </a:spcAft>
              <a:tabLst>
                <a:tab pos="0" algn="l"/>
                <a:tab pos="683895" algn="l"/>
                <a:tab pos="1367790" algn="l"/>
                <a:tab pos="2052320" algn="l"/>
                <a:tab pos="2736215" algn="l"/>
                <a:tab pos="3420745" algn="l"/>
                <a:tab pos="4105275" algn="l"/>
                <a:tab pos="4789170" algn="l"/>
                <a:tab pos="5473700" algn="l"/>
                <a:tab pos="6157595" algn="l"/>
                <a:tab pos="6842125" algn="l"/>
                <a:tab pos="7526020" algn="l"/>
                <a:tab pos="8209915" algn="l"/>
                <a:tab pos="8894445" algn="l"/>
                <a:tab pos="9578340" algn="l"/>
                <a:tab pos="10262870" algn="l"/>
                <a:tab pos="10946765" algn="l"/>
              </a:tabLst>
            </a:pPr>
            <a:r>
              <a:rPr lang="en-US" sz="100" b="0" u="none" strike="noStrike">
                <a:solidFill>
                  <a:srgbClr val="0C2577"/>
                </a:solidFill>
                <a:effectLst/>
                <a:uFillTx/>
                <a:latin typeface="Georgia" panose="02040502050405020303"/>
              </a:rPr>
              <a:t>..</a:t>
            </a:r>
            <a:endParaRPr lang="en-US" sz="100" b="0" u="none" strike="noStrike">
              <a:solidFill>
                <a:srgbClr val="000000"/>
              </a:solidFill>
              <a:effectLst/>
              <a:uFillTx/>
              <a:latin typeface="Calibri" panose="020F0502020204030204"/>
            </a:endParaRPr>
          </a:p>
        </p:txBody>
      </p:sp>
      <p:pic>
        <p:nvPicPr>
          <p:cNvPr id="10" name="Picture 11"/>
          <p:cNvPicPr/>
          <p:nvPr/>
        </p:nvPicPr>
        <p:blipFill>
          <a:blip r:embed="rId2"/>
          <a:stretch>
            <a:fillRect/>
          </a:stretch>
        </p:blipFill>
        <p:spPr>
          <a:xfrm>
            <a:off x="150840" y="4853160"/>
            <a:ext cx="1244520" cy="1244520"/>
          </a:xfrm>
          <a:prstGeom prst="rect">
            <a:avLst/>
          </a:prstGeom>
          <a:noFill/>
          <a:ln w="0">
            <a:noFill/>
          </a:ln>
        </p:spPr>
      </p:pic>
      <p:sp>
        <p:nvSpPr>
          <p:cNvPr id="11" name="TextBox 12"/>
          <p:cNvSpPr/>
          <p:nvPr/>
        </p:nvSpPr>
        <p:spPr>
          <a:xfrm>
            <a:off x="1619280" y="5013360"/>
            <a:ext cx="5559480" cy="916920"/>
          </a:xfrm>
          <a:prstGeom prst="rect">
            <a:avLst/>
          </a:prstGeom>
          <a:noFill/>
          <a:ln w="0">
            <a:noFill/>
          </a:ln>
        </p:spPr>
        <p:style>
          <a:lnRef idx="0">
            <a:srgbClr val="FFFFFF"/>
          </a:lnRef>
          <a:fillRef idx="0">
            <a:srgbClr val="FFFFFF"/>
          </a:fillRef>
          <a:effectRef idx="0">
            <a:srgbClr val="FFFFFF"/>
          </a:effectRef>
          <a:fontRef idx="minor"/>
        </p:style>
        <p:txBody>
          <a:bodyPr lIns="90000" tIns="46800" rIns="90000" bIns="46800" anchor="t">
            <a:sp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1800" b="1" u="none" strike="noStrike">
                <a:solidFill>
                  <a:srgbClr val="23298A"/>
                </a:solidFill>
                <a:effectLst/>
                <a:uFillTx/>
                <a:latin typeface="Georgia" panose="02040502050405020303"/>
              </a:rPr>
              <a:t>Dr. Shyama Prasad Mukherjee International Institute of Information Technology, Naya Raipur </a:t>
            </a:r>
            <a:endParaRPr lang="en-US" sz="1800" b="0" u="none" strike="noStrike">
              <a:solidFill>
                <a:srgbClr val="000000"/>
              </a:solidFill>
              <a:effectLst/>
              <a:uFillTx/>
              <a:latin typeface="Calibri" panose="020F0502020204030204"/>
            </a:endParaRPr>
          </a:p>
        </p:txBody>
      </p:sp>
      <p:sp>
        <p:nvSpPr>
          <p:cNvPr id="12" name="Subtitle 2"/>
          <p:cNvSpPr/>
          <p:nvPr/>
        </p:nvSpPr>
        <p:spPr>
          <a:xfrm>
            <a:off x="8373960" y="3787920"/>
            <a:ext cx="3171960" cy="426960"/>
          </a:xfrm>
          <a:prstGeom prst="rect">
            <a:avLst/>
          </a:prstGeom>
          <a:noFill/>
          <a:ln w="0">
            <a:noFill/>
          </a:ln>
        </p:spPr>
        <p:style>
          <a:lnRef idx="0">
            <a:srgbClr val="FFFFFF"/>
          </a:lnRef>
          <a:fillRef idx="0">
            <a:srgbClr val="FFFFFF"/>
          </a:fillRef>
          <a:effectRef idx="0">
            <a:srgbClr val="FFFFFF"/>
          </a:effectRef>
          <a:fontRef idx="minor"/>
        </p:style>
        <p:txBody>
          <a:bodyPr lIns="90000" tIns="46800" rIns="90000" bIns="46800" anchor="t">
            <a:noAutofit/>
          </a:bodyPr>
          <a:lstStyle/>
          <a:p>
            <a:pPr algn="ctr">
              <a:lnSpc>
                <a:spcPct val="90000"/>
              </a:lnSpc>
              <a:spcBef>
                <a:spcPts val="1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FFFFFF"/>
                </a:solidFill>
                <a:effectLst/>
                <a:uFillTx/>
                <a:latin typeface="Georgia" panose="02040502050405020303"/>
              </a:rPr>
              <a:t>Date:</a:t>
            </a:r>
            <a:endParaRPr lang="en-US" sz="2000" b="0" u="none" strike="noStrike">
              <a:solidFill>
                <a:srgbClr val="000000"/>
              </a:solidFill>
              <a:effectLst/>
              <a:uFillTx/>
              <a:latin typeface="Calibri" panose="020F0502020204030204"/>
            </a:endParaRPr>
          </a:p>
        </p:txBody>
      </p:sp>
      <p:sp>
        <p:nvSpPr>
          <p:cNvPr id="13" name="PlaceHolder 1"/>
          <p:cNvSpPr>
            <a:spLocks noGrp="1"/>
          </p:cNvSpPr>
          <p:nvPr>
            <p:ph type="title" hasCustomPrompt="1"/>
          </p:nvPr>
        </p:nvSpPr>
        <p:spPr>
          <a:xfrm>
            <a:off x="838080" y="365040"/>
            <a:ext cx="10515600" cy="1325520"/>
          </a:xfrm>
          <a:prstGeom prst="rect">
            <a:avLst/>
          </a:prstGeom>
          <a:noFill/>
          <a:ln w="0">
            <a:noFill/>
          </a:ln>
        </p:spPr>
        <p:txBody>
          <a:bodyPr lIns="90000" tIns="46800" rIns="90000" bIns="46800" anchor="ctr">
            <a:noAutofit/>
          </a:bodyPr>
          <a:lstStyle/>
          <a:p>
            <a:pPr indent="0">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u="none" strike="noStrike">
                <a:solidFill>
                  <a:srgbClr val="000000"/>
                </a:solidFill>
                <a:effectLst/>
                <a:uFillTx/>
                <a:latin typeface="Calibri Light" panose="020F0302020204030204"/>
              </a:rPr>
              <a:t>Click to edit the title text format</a:t>
            </a:r>
          </a:p>
        </p:txBody>
      </p:sp>
      <p:sp>
        <p:nvSpPr>
          <p:cNvPr id="14" name="PlaceHolder 2"/>
          <p:cNvSpPr>
            <a:spLocks noGrp="1"/>
          </p:cNvSpPr>
          <p:nvPr>
            <p:ph type="body" hasCustomPrompt="1"/>
          </p:nvPr>
        </p:nvSpPr>
        <p:spPr>
          <a:xfrm>
            <a:off x="838080" y="1825200"/>
            <a:ext cx="10515600" cy="4351320"/>
          </a:xfrm>
          <a:prstGeom prst="rect">
            <a:avLst/>
          </a:prstGeom>
          <a:noFill/>
          <a:ln w="0">
            <a:noFill/>
          </a:ln>
        </p:spPr>
        <p:txBody>
          <a:bodyPr lIns="90000" tIns="46800" rIns="90000" bIns="46800" anchor="t">
            <a:normAutofit/>
          </a:bodyPr>
          <a:lstStyle/>
          <a:p>
            <a:pPr marL="228600"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Calibri" panose="020F0502020204030204"/>
              </a:rPr>
              <a:t>Click to edit the outline text format</a:t>
            </a:r>
          </a:p>
          <a:p>
            <a:pPr marL="685800" lvl="1"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Calibri" panose="020F0502020204030204"/>
              </a:rPr>
              <a:t>Second Outline Level</a:t>
            </a:r>
          </a:p>
          <a:p>
            <a:pPr marL="1143000" lvl="2"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Calibri" panose="020F0502020204030204"/>
              </a:rPr>
              <a:t>Third Outline Level</a:t>
            </a:r>
          </a:p>
          <a:p>
            <a:pPr marL="1600200" lvl="3"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Calibri" panose="020F0502020204030204"/>
              </a:rPr>
              <a:t>Fourth Outline Level</a:t>
            </a:r>
          </a:p>
          <a:p>
            <a:pPr marL="2057400" lvl="4"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Calibri" panose="020F0502020204030204"/>
              </a:rPr>
              <a:t>Fifth Outline Level</a:t>
            </a:r>
          </a:p>
          <a:p>
            <a:pPr marL="2057400" lvl="5"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Calibri" panose="020F0502020204030204"/>
              </a:rPr>
              <a:t>Sixth Outline Level</a:t>
            </a:r>
          </a:p>
          <a:p>
            <a:pPr marL="2057400" lvl="6"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Calibri" panose="020F0502020204030204"/>
              </a:rPr>
              <a:t>Seventh Outline Level</a:t>
            </a:r>
          </a:p>
        </p:txBody>
      </p:sp>
      <p:sp>
        <p:nvSpPr>
          <p:cNvPr id="15" name="PlaceHolder 3"/>
          <p:cNvSpPr>
            <a:spLocks noGrp="1"/>
          </p:cNvSpPr>
          <p:nvPr>
            <p:ph type="ftr" idx="4"/>
          </p:nvPr>
        </p:nvSpPr>
        <p:spPr>
          <a:xfrm>
            <a:off x="2858760" y="6492960"/>
            <a:ext cx="6597720" cy="365040"/>
          </a:xfrm>
          <a:prstGeom prst="rect">
            <a:avLst/>
          </a:prstGeom>
          <a:noFill/>
          <a:ln w="0">
            <a:noFill/>
          </a:ln>
        </p:spPr>
        <p:txBody>
          <a:bodyPr lIns="90000" tIns="46800" rIns="90000" bIns="46800" anchor="ctr">
            <a:noAutofit/>
          </a:bodyPr>
          <a:lstStyle>
            <a:lvl1pPr indent="0" algn="ctr">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US" sz="1400" b="0" u="none" strike="noStrike">
                <a:solidFill>
                  <a:srgbClr val="FFFFFF"/>
                </a:solidFill>
                <a:effectLst/>
                <a:uFillTx/>
                <a:latin typeface="Georgia" panose="02040502050405020303"/>
              </a:defRPr>
            </a:lvl1pPr>
          </a:lstStyle>
          <a:p>
            <a:pPr indent="0" algn="ctr">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FFFFFF"/>
                </a:solidFill>
                <a:effectLst/>
                <a:uFillTx/>
                <a:latin typeface="Georgia" panose="02040502050405020303"/>
              </a:rPr>
              <a:t>International Institute of Information Technology, Naya Raipur</a:t>
            </a:r>
            <a:endParaRPr lang="en-US" sz="1400" b="0" u="none" strike="noStrike">
              <a:solidFill>
                <a:srgbClr val="000000"/>
              </a:solidFill>
              <a:effectLst/>
              <a:uFillTx/>
              <a:latin typeface="Times New Roman" panose="02020603050405020304"/>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Title2">
    <p:bg>
      <p:bgPr>
        <a:solidFill>
          <a:srgbClr val="FFFFFF"/>
        </a:solidFill>
        <a:effectLst/>
      </p:bgPr>
    </p:bg>
    <p:spTree>
      <p:nvGrpSpPr>
        <p:cNvPr id="1" name=""/>
        <p:cNvGrpSpPr/>
        <p:nvPr/>
      </p:nvGrpSpPr>
      <p:grpSpPr>
        <a:xfrm>
          <a:off x="0" y="0"/>
          <a:ext cx="0" cy="0"/>
          <a:chOff x="0" y="0"/>
          <a:chExt cx="0" cy="0"/>
        </a:xfrm>
      </p:grpSpPr>
      <p:sp>
        <p:nvSpPr>
          <p:cNvPr id="16" name="Rechthoek 19"/>
          <p:cNvSpPr/>
          <p:nvPr/>
        </p:nvSpPr>
        <p:spPr>
          <a:xfrm>
            <a:off x="0" y="6465960"/>
            <a:ext cx="12192120" cy="404640"/>
          </a:xfrm>
          <a:prstGeom prst="rect">
            <a:avLst/>
          </a:prstGeom>
          <a:solidFill>
            <a:srgbClr val="0C2577"/>
          </a:solidFill>
          <a:ln w="0">
            <a:noFill/>
          </a:ln>
        </p:spPr>
        <p:style>
          <a:lnRef idx="0">
            <a:srgbClr val="FFFFFF"/>
          </a:lnRef>
          <a:fillRef idx="0">
            <a:srgbClr val="FFFFFF"/>
          </a:fillRef>
          <a:effectRef idx="0">
            <a:srgbClr val="FFFFFF"/>
          </a:effectRef>
          <a:fontRef idx="minor"/>
        </p:style>
        <p:txBody>
          <a:bodyPr lIns="68400" tIns="34200" rIns="68400" bIns="34200" anchor="t">
            <a:noAutofit/>
          </a:bodyPr>
          <a:lstStyle/>
          <a:p>
            <a:pPr>
              <a:lnSpc>
                <a:spcPct val="95000"/>
              </a:lnSpc>
              <a:tabLst>
                <a:tab pos="0" algn="l"/>
                <a:tab pos="683895" algn="l"/>
                <a:tab pos="1367790" algn="l"/>
                <a:tab pos="2052320" algn="l"/>
                <a:tab pos="2736215" algn="l"/>
                <a:tab pos="3420745" algn="l"/>
                <a:tab pos="4105275" algn="l"/>
                <a:tab pos="4789170" algn="l"/>
                <a:tab pos="5473700" algn="l"/>
                <a:tab pos="6157595" algn="l"/>
                <a:tab pos="6842125" algn="l"/>
                <a:tab pos="7526020" algn="l"/>
                <a:tab pos="8209915" algn="l"/>
                <a:tab pos="8894445" algn="l"/>
                <a:tab pos="9578340" algn="l"/>
                <a:tab pos="10262870" algn="l"/>
                <a:tab pos="10946765" algn="l"/>
              </a:tabLst>
            </a:pPr>
            <a:endParaRPr lang="en-US" sz="1800" b="0" u="none" strike="noStrike">
              <a:solidFill>
                <a:srgbClr val="000000"/>
              </a:solidFill>
              <a:effectLst/>
              <a:uFillTx/>
              <a:latin typeface="Calibri" panose="020F0502020204030204"/>
            </a:endParaRPr>
          </a:p>
        </p:txBody>
      </p:sp>
      <p:pic>
        <p:nvPicPr>
          <p:cNvPr id="17" name="Picture 8"/>
          <p:cNvPicPr/>
          <p:nvPr/>
        </p:nvPicPr>
        <p:blipFill>
          <a:blip r:embed="rId2"/>
          <a:stretch>
            <a:fillRect/>
          </a:stretch>
        </p:blipFill>
        <p:spPr>
          <a:xfrm>
            <a:off x="10623600" y="230040"/>
            <a:ext cx="1460520" cy="1460520"/>
          </a:xfrm>
          <a:prstGeom prst="rect">
            <a:avLst/>
          </a:prstGeom>
          <a:noFill/>
          <a:ln w="0">
            <a:noFill/>
          </a:ln>
        </p:spPr>
      </p:pic>
      <p:sp>
        <p:nvSpPr>
          <p:cNvPr id="18" name="PlaceHolder 1"/>
          <p:cNvSpPr>
            <a:spLocks noGrp="1"/>
          </p:cNvSpPr>
          <p:nvPr>
            <p:ph type="title" hasCustomPrompt="1"/>
          </p:nvPr>
        </p:nvSpPr>
        <p:spPr>
          <a:xfrm>
            <a:off x="838080" y="365040"/>
            <a:ext cx="10515600" cy="1325520"/>
          </a:xfrm>
          <a:prstGeom prst="rect">
            <a:avLst/>
          </a:prstGeom>
          <a:noFill/>
          <a:ln w="0">
            <a:noFill/>
          </a:ln>
        </p:spPr>
        <p:txBody>
          <a:bodyPr lIns="90000" tIns="46800" rIns="90000" bIns="46800" anchor="ctr">
            <a:noAutofit/>
          </a:bodyPr>
          <a:lstStyle/>
          <a:p>
            <a:pPr indent="0">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400" b="0" u="none" strike="noStrike">
                <a:solidFill>
                  <a:srgbClr val="000000"/>
                </a:solidFill>
                <a:effectLst/>
                <a:uFillTx/>
                <a:latin typeface="Calibri Light" panose="020F0302020204030204"/>
              </a:rPr>
              <a:t>Click to edit the title text format</a:t>
            </a:r>
          </a:p>
        </p:txBody>
      </p:sp>
      <p:sp>
        <p:nvSpPr>
          <p:cNvPr id="19" name="PlaceHolder 2"/>
          <p:cNvSpPr>
            <a:spLocks noGrp="1"/>
          </p:cNvSpPr>
          <p:nvPr>
            <p:ph type="body" hasCustomPrompt="1"/>
          </p:nvPr>
        </p:nvSpPr>
        <p:spPr>
          <a:xfrm>
            <a:off x="838080" y="1825200"/>
            <a:ext cx="10515600" cy="4351320"/>
          </a:xfrm>
          <a:prstGeom prst="rect">
            <a:avLst/>
          </a:prstGeom>
          <a:noFill/>
          <a:ln w="0">
            <a:noFill/>
          </a:ln>
        </p:spPr>
        <p:txBody>
          <a:bodyPr lIns="90000" tIns="46800" rIns="90000" bIns="46800" anchor="t">
            <a:normAutofit/>
          </a:bodyPr>
          <a:lstStyle/>
          <a:p>
            <a:pPr marL="228600"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Calibri" panose="020F0502020204030204"/>
              </a:rPr>
              <a:t>Click to edit the outline text format</a:t>
            </a:r>
          </a:p>
          <a:p>
            <a:pPr marL="685800" lvl="1"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Calibri" panose="020F0502020204030204"/>
              </a:rPr>
              <a:t>Second Outline Level</a:t>
            </a:r>
          </a:p>
          <a:p>
            <a:pPr marL="1143000" lvl="2"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Calibri" panose="020F0502020204030204"/>
              </a:rPr>
              <a:t>Third Outline Level</a:t>
            </a:r>
          </a:p>
          <a:p>
            <a:pPr marL="1600200" lvl="3"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Calibri" panose="020F0502020204030204"/>
              </a:rPr>
              <a:t>Fourth Outline Level</a:t>
            </a:r>
          </a:p>
          <a:p>
            <a:pPr marL="2057400" lvl="4"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Calibri" panose="020F0502020204030204"/>
              </a:rPr>
              <a:t>Fifth Outline Level</a:t>
            </a:r>
          </a:p>
          <a:p>
            <a:pPr marL="2057400" lvl="5"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Calibri" panose="020F0502020204030204"/>
              </a:rPr>
              <a:t>Sixth Outline Level</a:t>
            </a:r>
          </a:p>
          <a:p>
            <a:pPr marL="2057400" lvl="6" indent="-228600">
              <a:lnSpc>
                <a:spcPct val="90000"/>
              </a:lnSpc>
              <a:spcBef>
                <a:spcPts val="1000"/>
              </a:spcBef>
              <a:buClr>
                <a:srgbClr val="000000"/>
              </a:buClr>
              <a:buFont typeface="Arial" panose="020B0604020202020204"/>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Calibri" panose="020F0502020204030204"/>
              </a:rPr>
              <a:t>Seventh Outline Level</a:t>
            </a:r>
          </a:p>
        </p:txBody>
      </p:sp>
      <p:sp>
        <p:nvSpPr>
          <p:cNvPr id="20" name="PlaceHolder 3"/>
          <p:cNvSpPr>
            <a:spLocks noGrp="1"/>
          </p:cNvSpPr>
          <p:nvPr>
            <p:ph type="dt" idx="5"/>
          </p:nvPr>
        </p:nvSpPr>
        <p:spPr>
          <a:xfrm>
            <a:off x="266760" y="6557760"/>
            <a:ext cx="2209680" cy="299880"/>
          </a:xfrm>
          <a:prstGeom prst="rect">
            <a:avLst/>
          </a:prstGeom>
          <a:noFill/>
          <a:ln w="0">
            <a:noFill/>
          </a:ln>
        </p:spPr>
        <p:txBody>
          <a:bodyPr lIns="90000" tIns="46800" rIns="90000" bIns="46800" anchor="ctr">
            <a:noAutofit/>
          </a:bodyPr>
          <a:lstStyle>
            <a:lvl1pPr inden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IN" sz="1200" b="0" u="none" strike="noStrike">
                <a:solidFill>
                  <a:srgbClr val="FFFFFF"/>
                </a:solidFill>
                <a:effectLst/>
                <a:uFillTx/>
                <a:latin typeface="Times New Roman" panose="02020603050405020304"/>
              </a:defRPr>
            </a:lvl1pPr>
          </a:lstStyle>
          <a:p>
            <a:pPr inden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04F216A4-6655-46D5-9F82-FCA52CB71742}" type="datetime">
              <a:rPr lang="en-IN" sz="1200" b="0" u="none" strike="noStrike">
                <a:solidFill>
                  <a:srgbClr val="FFFFFF"/>
                </a:solidFill>
                <a:effectLst/>
                <a:uFillTx/>
                <a:latin typeface="Times New Roman" panose="02020603050405020304"/>
              </a:rPr>
              <a:t>06-10-2026</a:t>
            </a:fld>
            <a:endParaRPr lang="en-US" sz="1200" b="0" u="none" strike="noStrike">
              <a:solidFill>
                <a:srgbClr val="000000"/>
              </a:solidFill>
              <a:effectLst/>
              <a:uFillTx/>
              <a:latin typeface="Times New Roman" panose="02020603050405020304"/>
            </a:endParaRPr>
          </a:p>
        </p:txBody>
      </p:sp>
      <p:sp>
        <p:nvSpPr>
          <p:cNvPr id="21" name="PlaceHolder 4"/>
          <p:cNvSpPr>
            <a:spLocks noGrp="1"/>
          </p:cNvSpPr>
          <p:nvPr>
            <p:ph type="ftr" idx="6"/>
          </p:nvPr>
        </p:nvSpPr>
        <p:spPr>
          <a:xfrm>
            <a:off x="2858760" y="6492960"/>
            <a:ext cx="6597720" cy="365040"/>
          </a:xfrm>
          <a:prstGeom prst="rect">
            <a:avLst/>
          </a:prstGeom>
          <a:noFill/>
          <a:ln w="0">
            <a:noFill/>
          </a:ln>
        </p:spPr>
        <p:txBody>
          <a:bodyPr lIns="90000" tIns="46800" rIns="90000" bIns="46800" anchor="ctr">
            <a:noAutofit/>
          </a:bodyPr>
          <a:lstStyle>
            <a:lvl1pPr indent="0" algn="ctr">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US" sz="1400" b="0" u="none" strike="noStrike">
                <a:solidFill>
                  <a:srgbClr val="FFFFFF"/>
                </a:solidFill>
                <a:effectLst/>
                <a:uFillTx/>
                <a:latin typeface="Georgia" panose="02040502050405020303"/>
              </a:defRPr>
            </a:lvl1pPr>
          </a:lstStyle>
          <a:p>
            <a:pPr indent="0" algn="ctr">
              <a:lnSpc>
                <a:spcPct val="10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0" u="none" strike="noStrike">
                <a:solidFill>
                  <a:srgbClr val="FFFFFF"/>
                </a:solidFill>
                <a:effectLst/>
                <a:uFillTx/>
                <a:latin typeface="Georgia" panose="02040502050405020303"/>
              </a:rPr>
              <a:t>International Institute of Information Technology, Naya Raipur</a:t>
            </a:r>
            <a:endParaRPr lang="en-US" sz="1400" b="0" u="none" strike="noStrike">
              <a:solidFill>
                <a:srgbClr val="000000"/>
              </a:solidFill>
              <a:effectLst/>
              <a:uFillTx/>
              <a:latin typeface="Times New Roman" panose="02020603050405020304"/>
            </a:endParaRPr>
          </a:p>
        </p:txBody>
      </p:sp>
      <p:sp>
        <p:nvSpPr>
          <p:cNvPr id="22" name="PlaceHolder 5"/>
          <p:cNvSpPr>
            <a:spLocks noGrp="1"/>
          </p:cNvSpPr>
          <p:nvPr>
            <p:ph type="sldNum" idx="7"/>
          </p:nvPr>
        </p:nvSpPr>
        <p:spPr>
          <a:xfrm>
            <a:off x="9629280" y="6492960"/>
            <a:ext cx="1979640" cy="365040"/>
          </a:xfrm>
          <a:prstGeom prst="rect">
            <a:avLst/>
          </a:prstGeom>
          <a:noFill/>
          <a:ln w="0">
            <a:noFill/>
          </a:ln>
        </p:spPr>
        <p:txBody>
          <a:bodyPr lIns="90000" tIns="46800" rIns="90000" bIns="46800" anchor="ctr">
            <a:noAutofit/>
          </a:bodyPr>
          <a:lstStyle>
            <a:lvl1pPr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US" sz="1200" b="0" u="none" strike="noStrike">
                <a:solidFill>
                  <a:srgbClr val="FFFFFF"/>
                </a:solidFill>
                <a:effectLst/>
                <a:uFillTx/>
                <a:latin typeface="Times New Roman" panose="02020603050405020304"/>
              </a:defRPr>
            </a:lvl1pPr>
          </a:lstStyle>
          <a:p>
            <a:pPr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FB439BF7-1A74-4B37-9303-A4B8CBE91CEB}" type="slidenum">
              <a:rPr lang="en-US" sz="1200" b="0" u="none" strike="noStrike">
                <a:solidFill>
                  <a:srgbClr val="FFFFFF"/>
                </a:solidFill>
                <a:effectLst/>
                <a:uFillTx/>
                <a:latin typeface="Times New Roman" panose="02020603050405020304"/>
              </a:rPr>
              <a:t>‹#›</a:t>
            </a:fld>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p:bodyStyle/>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28"/>
          <p:cNvSpPr/>
          <p:nvPr/>
        </p:nvSpPr>
        <p:spPr>
          <a:xfrm>
            <a:off x="0" y="3511296"/>
            <a:ext cx="12188952" cy="1014984"/>
          </a:xfrm>
          <a:prstGeom prst="rect">
            <a:avLst/>
          </a:prstGeom>
          <a:solidFill>
            <a:srgbClr val="8A99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PlaceHolder 2"/>
          <p:cNvSpPr>
            <a:spLocks noGrp="1"/>
          </p:cNvSpPr>
          <p:nvPr>
            <p:ph type="title"/>
          </p:nvPr>
        </p:nvSpPr>
        <p:spPr>
          <a:xfrm>
            <a:off x="1440720" y="1843243"/>
            <a:ext cx="9144000" cy="1635120"/>
          </a:xfrm>
          <a:prstGeom prst="rect">
            <a:avLst/>
          </a:prstGeom>
          <a:noFill/>
          <a:ln w="0">
            <a:noFill/>
          </a:ln>
        </p:spPr>
        <p:txBody>
          <a:bodyPr wrap="square" lIns="91440" tIns="45720" rIns="91440" bIns="45720" anchor="b">
            <a:noAutofit/>
          </a:bodyPr>
          <a:lstStyle/>
          <a:p>
            <a:pPr algn="ctr">
              <a:lnSpc>
                <a:spcPct val="9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800" b="1" dirty="0">
                <a:solidFill>
                  <a:srgbClr val="FFFFFF"/>
                </a:solidFill>
                <a:latin typeface="Georgia" pitchFamily="34" charset="0"/>
                <a:ea typeface="Georgia" pitchFamily="34" charset="-122"/>
                <a:cs typeface="Georgia" pitchFamily="34" charset="-120"/>
              </a:rPr>
              <a:t>Multi-Agent AI Research Assistant</a:t>
            </a:r>
            <a:br>
              <a:rPr lang="en-US" sz="4800" dirty="0"/>
            </a:br>
            <a:r>
              <a:rPr lang="en-US" sz="4800" b="1" dirty="0">
                <a:solidFill>
                  <a:srgbClr val="FFFFFF"/>
                </a:solidFill>
                <a:latin typeface="Georgia" pitchFamily="34" charset="0"/>
                <a:ea typeface="Georgia" pitchFamily="34" charset="-122"/>
                <a:cs typeface="Georgia" pitchFamily="34" charset="-120"/>
              </a:rPr>
              <a:t>for Scientific Paper Analysis</a:t>
            </a:r>
            <a:br>
              <a:rPr lang="en-US" sz="4800" dirty="0"/>
            </a:br>
            <a:endParaRPr lang="en-US" sz="4800" b="0" u="none" strike="noStrike" dirty="0">
              <a:solidFill>
                <a:srgbClr val="000000"/>
              </a:solidFill>
              <a:effectLst/>
              <a:uFillTx/>
              <a:latin typeface="Calibri Light" panose="020F0302020204030204"/>
            </a:endParaRPr>
          </a:p>
        </p:txBody>
      </p:sp>
      <p:sp>
        <p:nvSpPr>
          <p:cNvPr id="25" name="PlaceHolder 3"/>
          <p:cNvSpPr>
            <a:spLocks noGrp="1"/>
          </p:cNvSpPr>
          <p:nvPr>
            <p:ph type="subTitle"/>
          </p:nvPr>
        </p:nvSpPr>
        <p:spPr>
          <a:xfrm>
            <a:off x="4284730" y="3733675"/>
            <a:ext cx="4730750" cy="606425"/>
          </a:xfrm>
          <a:prstGeom prst="rect">
            <a:avLst/>
          </a:prstGeom>
          <a:noFill/>
          <a:ln w="0">
            <a:noFill/>
          </a:ln>
        </p:spPr>
        <p:txBody>
          <a:bodyPr wrap="square" lIns="91440" tIns="45720" rIns="91440" bIns="45720" anchor="t">
            <a:noAutofit/>
          </a:bodyPr>
          <a:lstStyle/>
          <a:p>
            <a:pPr indent="0">
              <a:lnSpc>
                <a:spcPct val="90000"/>
              </a:lnSpc>
              <a:spcBef>
                <a:spcPts val="450"/>
              </a:spcBef>
              <a:spcAft>
                <a:spcPts val="450"/>
              </a:spcAft>
              <a:buNone/>
              <a:tabLst>
                <a:tab pos="0" algn="l"/>
                <a:tab pos="683895" algn="l"/>
                <a:tab pos="1367790" algn="l"/>
                <a:tab pos="2052320" algn="l"/>
                <a:tab pos="2736215" algn="l"/>
                <a:tab pos="3420745" algn="l"/>
                <a:tab pos="4105275" algn="l"/>
                <a:tab pos="4789170" algn="l"/>
                <a:tab pos="5473700" algn="l"/>
                <a:tab pos="6157595" algn="l"/>
                <a:tab pos="6842125" algn="l"/>
                <a:tab pos="7526020" algn="l"/>
                <a:tab pos="8209915" algn="l"/>
                <a:tab pos="8894445" algn="l"/>
                <a:tab pos="9578340" algn="l"/>
                <a:tab pos="10262870" algn="l"/>
                <a:tab pos="10946765" algn="l"/>
              </a:tabLst>
            </a:pPr>
            <a:r>
              <a:rPr sz="2100" b="0" dirty="0">
                <a:solidFill>
                  <a:srgbClr val="002060"/>
                </a:solidFill>
                <a:latin typeface="Georgia" panose="02040502050405020303"/>
              </a:rPr>
              <a:t>Supervisor: </a:t>
            </a:r>
            <a:r>
              <a:rPr lang="en-IN" altLang="" sz="2100" b="0" dirty="0">
                <a:solidFill>
                  <a:srgbClr val="002060"/>
                </a:solidFill>
                <a:latin typeface="Georgia" panose="02040502050405020303"/>
              </a:rPr>
              <a:t>Dr. O.P. Vyas </a:t>
            </a:r>
            <a:r>
              <a:rPr sz="2100" b="0" dirty="0">
                <a:solidFill>
                  <a:srgbClr val="002060"/>
                </a:solidFill>
                <a:latin typeface="Georgia" panose="02040502050405020303"/>
              </a:rPr>
              <a:t>________________</a:t>
            </a:r>
            <a:endParaRPr lang="en-US" sz="2400" b="0" u="none" strike="noStrike" dirty="0">
              <a:solidFill>
                <a:srgbClr val="000000"/>
              </a:solidFill>
              <a:effectLst/>
              <a:uFillTx/>
              <a:latin typeface="Calibri" panose="020F0502020204030204"/>
            </a:endParaRPr>
          </a:p>
        </p:txBody>
      </p:sp>
      <p:sp>
        <p:nvSpPr>
          <p:cNvPr id="26" name="TextBox 8"/>
          <p:cNvSpPr/>
          <p:nvPr/>
        </p:nvSpPr>
        <p:spPr>
          <a:xfrm>
            <a:off x="8451720" y="3784680"/>
            <a:ext cx="3106800" cy="459720"/>
          </a:xfrm>
          <a:prstGeom prst="rect">
            <a:avLst/>
          </a:prstGeom>
          <a:noFill/>
          <a:ln w="0">
            <a:noFill/>
          </a:ln>
        </p:spPr>
        <p:style>
          <a:lnRef idx="0">
            <a:srgbClr val="FFFFFF"/>
          </a:lnRef>
          <a:fillRef idx="0">
            <a:srgbClr val="FFFFFF"/>
          </a:fillRef>
          <a:effectRef idx="0">
            <a:srgbClr val="FFFFFF"/>
          </a:effectRef>
          <a:fontRef idx="minor"/>
        </p:style>
        <p:txBody>
          <a:bodyPr wrap="square" lIns="90000" tIns="46800" rIns="90000" bIns="46800" anchor="t">
            <a:sp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2100" b="0" dirty="0">
                <a:solidFill>
                  <a:srgbClr val="FFFFFF"/>
                </a:solidFill>
                <a:latin typeface="Georgia" panose="02040502050405020303"/>
              </a:rPr>
              <a:t>Date: 06/10/2026</a:t>
            </a:r>
            <a:endParaRPr lang="en-US" sz="2400" b="0" u="none" strike="noStrike" dirty="0">
              <a:solidFill>
                <a:srgbClr val="000000"/>
              </a:solidFill>
              <a:effectLst/>
              <a:uFillTx/>
              <a:latin typeface="Calibri" panose="020F0502020204030204"/>
            </a:endParaRPr>
          </a:p>
        </p:txBody>
      </p:sp>
      <p:sp>
        <p:nvSpPr>
          <p:cNvPr id="27" name="Footer Placeholder 9"/>
          <p:cNvSpPr/>
          <p:nvPr/>
        </p:nvSpPr>
        <p:spPr>
          <a:xfrm>
            <a:off x="3009960" y="6492960"/>
            <a:ext cx="6005520" cy="365040"/>
          </a:xfrm>
          <a:prstGeom prst="rect">
            <a:avLst/>
          </a:prstGeom>
          <a:noFill/>
          <a:ln w="0">
            <a:noFill/>
          </a:ln>
        </p:spPr>
        <p:style>
          <a:lnRef idx="0">
            <a:srgbClr val="FFFFFF"/>
          </a:lnRef>
          <a:fillRef idx="0">
            <a:srgbClr val="FFFFFF"/>
          </a:fillRef>
          <a:effectRef idx="0">
            <a:srgbClr val="FFFFFF"/>
          </a:effectRef>
          <a:fontRef idx="minor"/>
        </p:style>
        <p:txBody>
          <a:bodyPr lIns="90000" tIns="46800" rIns="90000" bIns="46800" anchor="t">
            <a:norm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FFFFFF"/>
                </a:solidFill>
                <a:effectLst/>
                <a:uFillTx/>
                <a:latin typeface="Georgia" panose="02040502050405020303"/>
              </a:rPr>
              <a:t>International Institute of Information Technology, Naya Raipur</a:t>
            </a:r>
            <a:endParaRPr lang="en-US" sz="1600" b="0" u="none" strike="noStrike">
              <a:solidFill>
                <a:srgbClr val="000000"/>
              </a:solidFill>
              <a:effectLst/>
              <a:uFillTx/>
              <a:latin typeface="Calibri" panose="020F0502020204030204"/>
            </a:endParaRPr>
          </a:p>
        </p:txBody>
      </p:sp>
      <p:sp>
        <p:nvSpPr>
          <p:cNvPr id="28" name="Subtitle 4"/>
          <p:cNvSpPr/>
          <p:nvPr/>
        </p:nvSpPr>
        <p:spPr>
          <a:xfrm>
            <a:off x="127000" y="3615055"/>
            <a:ext cx="4458970" cy="606425"/>
          </a:xfrm>
          <a:prstGeom prst="rect">
            <a:avLst/>
          </a:prstGeom>
          <a:noFill/>
          <a:ln w="0">
            <a:noFill/>
          </a:ln>
        </p:spPr>
        <p:style>
          <a:lnRef idx="0">
            <a:srgbClr val="FFFFFF"/>
          </a:lnRef>
          <a:fillRef idx="0">
            <a:srgbClr val="FFFFFF"/>
          </a:fillRef>
          <a:effectRef idx="0">
            <a:srgbClr val="FFFFFF"/>
          </a:effectRef>
          <a:fontRef idx="minor"/>
        </p:style>
        <p:txBody>
          <a:bodyPr wrap="square" lIns="90000" tIns="46800" rIns="90000" bIns="46800" anchor="t">
            <a:noAutofit/>
          </a:bodyPr>
          <a:lstStyle/>
          <a:p>
            <a:pPr>
              <a:lnSpc>
                <a:spcPct val="90000"/>
              </a:lnSpc>
              <a:spcBef>
                <a:spcPts val="450"/>
              </a:spcBef>
              <a:spcAft>
                <a:spcPts val="450"/>
              </a:spcAft>
              <a:tabLst>
                <a:tab pos="0" algn="l"/>
                <a:tab pos="683895" algn="l"/>
                <a:tab pos="1367790" algn="l"/>
                <a:tab pos="2052320" algn="l"/>
                <a:tab pos="2736215" algn="l"/>
                <a:tab pos="3420745" algn="l"/>
                <a:tab pos="4105275" algn="l"/>
                <a:tab pos="4789170" algn="l"/>
                <a:tab pos="5473700" algn="l"/>
                <a:tab pos="6157595" algn="l"/>
                <a:tab pos="6842125" algn="l"/>
                <a:tab pos="7526020" algn="l"/>
                <a:tab pos="8209915" algn="l"/>
                <a:tab pos="8894445" algn="l"/>
                <a:tab pos="9578340" algn="l"/>
                <a:tab pos="10262870" algn="l"/>
                <a:tab pos="10946765" algn="l"/>
              </a:tabLst>
            </a:pPr>
            <a:r>
              <a:rPr sz="1500" b="0" dirty="0">
                <a:solidFill>
                  <a:schemeClr val="bg1"/>
                </a:solidFill>
                <a:latin typeface="Georgia" panose="02040502050405020303" charset="0"/>
                <a:cs typeface="Georgia" panose="02040502050405020303" charset="0"/>
              </a:rPr>
              <a:t>Group Member: </a:t>
            </a:r>
            <a:r>
              <a:rPr lang="en-IN" sz="1500" dirty="0">
                <a:solidFill>
                  <a:schemeClr val="bg1"/>
                </a:solidFill>
                <a:latin typeface="Georgia" panose="02040502050405020303" charset="0"/>
                <a:cs typeface="Georgia" panose="02040502050405020303" charset="0"/>
              </a:rPr>
              <a:t>Soham Kamble </a:t>
            </a:r>
            <a:r>
              <a:rPr lang="en-IN" sz="1500" b="0" dirty="0">
                <a:solidFill>
                  <a:schemeClr val="bg1"/>
                </a:solidFill>
                <a:latin typeface="Georgia" panose="02040502050405020303" charset="0"/>
                <a:cs typeface="Georgia" panose="02040502050405020303" charset="0"/>
              </a:rPr>
              <a:t>(231020246), </a:t>
            </a:r>
            <a:r>
              <a:rPr lang="en-IN" sz="1500" dirty="0">
                <a:solidFill>
                  <a:schemeClr val="bg1"/>
                </a:solidFill>
                <a:latin typeface="Georgia" panose="02040502050405020303" charset="0"/>
                <a:cs typeface="Georgia" panose="02040502050405020303" charset="0"/>
              </a:rPr>
              <a:t>Utkarsh Rai </a:t>
            </a:r>
            <a:r>
              <a:rPr lang="en-IN" altLang="en-US" sz="1500" b="0" u="none" strike="noStrike" dirty="0">
                <a:solidFill>
                  <a:schemeClr val="bg1"/>
                </a:solidFill>
                <a:effectLst/>
                <a:uFillTx/>
                <a:latin typeface="Georgia" panose="02040502050405020303" charset="0"/>
                <a:cs typeface="Georgia" panose="02040502050405020303" charset="0"/>
              </a:rPr>
              <a:t>(231020256)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 Box 28"/>
          <p:cNvSpPr txBox="1"/>
          <p:nvPr/>
        </p:nvSpPr>
        <p:spPr>
          <a:xfrm>
            <a:off x="838080" y="1530000"/>
            <a:ext cx="10515600" cy="4646520"/>
          </a:xfrm>
          <a:prstGeom prst="rect">
            <a:avLst/>
          </a:prstGeom>
          <a:noFill/>
          <a:ln w="0">
            <a:noFill/>
          </a:ln>
        </p:spPr>
        <p:txBody>
          <a:bodyPr wrap="square" anchor="t">
            <a:normAutofit/>
          </a:bodyPr>
          <a:lstStyle/>
          <a:p>
            <a:pPr marL="342900" indent="-342900">
              <a:lnSpc>
                <a:spcPct val="90000"/>
              </a:lnSpc>
              <a:spcBef>
                <a:spcPts val="1000"/>
              </a:spcBef>
              <a:buClr>
                <a:srgbClr val="002060"/>
              </a:buClr>
              <a:buFont typeface="Arial" panose="020B0604020202020204"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sz="2100" b="0" dirty="0">
                <a:solidFill>
                  <a:srgbClr val="002060"/>
                </a:solidFill>
                <a:latin typeface="Calibri" panose="020F0502020204030204"/>
              </a:rPr>
              <a:t>Introduction</a:t>
            </a:r>
          </a:p>
          <a:p>
            <a:pPr marL="342900" indent="-342900">
              <a:lnSpc>
                <a:spcPct val="90000"/>
              </a:lnSpc>
              <a:spcBef>
                <a:spcPts val="1000"/>
              </a:spcBef>
              <a:buClr>
                <a:srgbClr val="002060"/>
              </a:buClr>
              <a:buFont typeface="Arial" panose="020B0604020202020204"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sz="2100" b="0" dirty="0">
                <a:solidFill>
                  <a:srgbClr val="002060"/>
                </a:solidFill>
                <a:latin typeface="Calibri" panose="020F0502020204030204"/>
              </a:rPr>
              <a:t>Motivation &amp; Challenges</a:t>
            </a:r>
          </a:p>
          <a:p>
            <a:pPr marL="342900" indent="-342900">
              <a:lnSpc>
                <a:spcPct val="90000"/>
              </a:lnSpc>
              <a:spcBef>
                <a:spcPts val="1000"/>
              </a:spcBef>
              <a:buClr>
                <a:srgbClr val="002060"/>
              </a:buClr>
              <a:buFont typeface="Arial" panose="020B0604020202020204"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sz="2100" b="0" dirty="0">
                <a:solidFill>
                  <a:srgbClr val="002060"/>
                </a:solidFill>
                <a:latin typeface="Calibri" panose="020F0502020204030204"/>
              </a:rPr>
              <a:t>Literature Review</a:t>
            </a:r>
          </a:p>
          <a:p>
            <a:pPr marL="342900" indent="-342900">
              <a:lnSpc>
                <a:spcPct val="90000"/>
              </a:lnSpc>
              <a:spcBef>
                <a:spcPts val="1000"/>
              </a:spcBef>
              <a:buClr>
                <a:srgbClr val="002060"/>
              </a:buClr>
              <a:buFont typeface="Arial" panose="020B0604020202020204"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sz="2100" b="0" dirty="0">
                <a:solidFill>
                  <a:srgbClr val="002060"/>
                </a:solidFill>
                <a:latin typeface="Calibri" panose="020F0502020204030204"/>
              </a:rPr>
              <a:t>Problem Definition &amp; Research Gap</a:t>
            </a:r>
          </a:p>
          <a:p>
            <a:pPr marL="342900" indent="-342900">
              <a:lnSpc>
                <a:spcPct val="90000"/>
              </a:lnSpc>
              <a:spcBef>
                <a:spcPts val="1000"/>
              </a:spcBef>
              <a:buClr>
                <a:srgbClr val="002060"/>
              </a:buClr>
              <a:buFont typeface="Arial" panose="020B0604020202020204"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sz="2100" b="0" dirty="0">
                <a:solidFill>
                  <a:srgbClr val="002060"/>
                </a:solidFill>
                <a:latin typeface="Calibri" panose="020F0502020204030204"/>
              </a:rPr>
              <a:t>Objectives</a:t>
            </a:r>
          </a:p>
          <a:p>
            <a:pPr marL="342900" indent="-342900">
              <a:lnSpc>
                <a:spcPct val="90000"/>
              </a:lnSpc>
              <a:spcBef>
                <a:spcPts val="1000"/>
              </a:spcBef>
              <a:buClr>
                <a:srgbClr val="002060"/>
              </a:buClr>
              <a:buFont typeface="Arial" panose="020B0604020202020204"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sz="2100" b="0" dirty="0">
                <a:solidFill>
                  <a:srgbClr val="002060"/>
                </a:solidFill>
                <a:latin typeface="Calibri" panose="020F0502020204030204"/>
              </a:rPr>
              <a:t>Proposed Framework / Methodology</a:t>
            </a:r>
          </a:p>
          <a:p>
            <a:pPr marL="342900" indent="-342900">
              <a:lnSpc>
                <a:spcPct val="90000"/>
              </a:lnSpc>
              <a:spcBef>
                <a:spcPts val="1000"/>
              </a:spcBef>
              <a:buClr>
                <a:srgbClr val="002060"/>
              </a:buClr>
              <a:buFont typeface="Arial" panose="020B0604020202020204"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sz="2100" b="0" dirty="0">
                <a:solidFill>
                  <a:srgbClr val="002060"/>
                </a:solidFill>
                <a:latin typeface="Calibri" panose="020F0502020204030204"/>
              </a:rPr>
              <a:t>Data &amp; Experimental Plan</a:t>
            </a:r>
          </a:p>
          <a:p>
            <a:pPr marL="342900" indent="-342900">
              <a:lnSpc>
                <a:spcPct val="90000"/>
              </a:lnSpc>
              <a:spcBef>
                <a:spcPts val="1000"/>
              </a:spcBef>
              <a:buClr>
                <a:srgbClr val="002060"/>
              </a:buClr>
              <a:buFont typeface="Arial" panose="020B0604020202020204"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sz="2100" b="0" dirty="0">
                <a:solidFill>
                  <a:srgbClr val="002060"/>
                </a:solidFill>
                <a:latin typeface="Calibri" panose="020F0502020204030204"/>
              </a:rPr>
              <a:t>Conclusion &amp; Future Directions</a:t>
            </a:r>
          </a:p>
          <a:p>
            <a:pPr marL="342900" indent="-342900">
              <a:lnSpc>
                <a:spcPct val="90000"/>
              </a:lnSpc>
              <a:spcBef>
                <a:spcPts val="1000"/>
              </a:spcBef>
              <a:buClr>
                <a:srgbClr val="002060"/>
              </a:buClr>
              <a:buFont typeface="Arial" panose="020B0604020202020204"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sz="2100" b="0" dirty="0">
                <a:solidFill>
                  <a:srgbClr val="002060"/>
                </a:solidFill>
                <a:latin typeface="Calibri" panose="020F0502020204030204"/>
              </a:rPr>
              <a:t>Plan of Action</a:t>
            </a:r>
            <a:endParaRPr lang="en-US" sz="2400" b="0" u="none" strike="noStrike" dirty="0">
              <a:solidFill>
                <a:srgbClr val="000000"/>
              </a:solidFill>
              <a:effectLst/>
              <a:uFillTx/>
              <a:latin typeface="Calibri" panose="020F0502020204030204"/>
            </a:endParaRPr>
          </a:p>
        </p:txBody>
      </p:sp>
      <p:sp>
        <p:nvSpPr>
          <p:cNvPr id="30" name="PlaceHolder 1"/>
          <p:cNvSpPr>
            <a:spLocks noGrp="1"/>
          </p:cNvSpPr>
          <p:nvPr>
            <p:ph type="title"/>
          </p:nvPr>
        </p:nvSpPr>
        <p:spPr>
          <a:xfrm>
            <a:off x="838080" y="365040"/>
            <a:ext cx="10515600" cy="1044720"/>
          </a:xfrm>
          <a:prstGeom prst="rect">
            <a:avLst/>
          </a:prstGeom>
          <a:noFill/>
          <a:ln w="0">
            <a:noFill/>
          </a:ln>
        </p:spPr>
        <p:txBody>
          <a:bodyPr wrap="square" lIns="91440" tIns="45720" rIns="91440" bIns="45720" anchor="ctr">
            <a:noAutofit/>
          </a:bodyPr>
          <a:lstStyle/>
          <a:p>
            <a:pPr indent="0">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4200" b="0">
                <a:solidFill>
                  <a:srgbClr val="002060"/>
                </a:solidFill>
                <a:latin typeface="Calibri Light" panose="020F0302020204030204"/>
              </a:rPr>
              <a:t>Content</a:t>
            </a:r>
            <a:endParaRPr lang="en-US" sz="4400" b="0" u="none" strike="noStrike">
              <a:solidFill>
                <a:srgbClr val="000000"/>
              </a:solidFill>
              <a:effectLst/>
              <a:uFillTx/>
              <a:latin typeface="Calibri Light" panose="020F0302020204030204"/>
            </a:endParaRPr>
          </a:p>
        </p:txBody>
      </p:sp>
      <p:sp>
        <p:nvSpPr>
          <p:cNvPr id="31" name="Date Placeholder 3"/>
          <p:cNvSpPr/>
          <p:nvPr/>
        </p:nvSpPr>
        <p:spPr>
          <a:xfrm>
            <a:off x="266760" y="6558120"/>
            <a:ext cx="2209680" cy="299880"/>
          </a:xfrm>
          <a:prstGeom prst="rect">
            <a:avLst/>
          </a:prstGeom>
          <a:noFill/>
          <a:ln w="0">
            <a:noFill/>
          </a:ln>
        </p:spPr>
        <p:style>
          <a:lnRef idx="0">
            <a:srgbClr val="FFFFFF"/>
          </a:lnRef>
          <a:fillRef idx="0">
            <a:srgbClr val="FFFFFF"/>
          </a:fillRef>
          <a:effectRef idx="0">
            <a:srgbClr val="FFFFFF"/>
          </a:effectRef>
          <a:fontRef idx="minor"/>
        </p:style>
        <p:txBody>
          <a:bodyPr wrap="square" lIns="90000" tIns="46800" rIns="90000" bIns="46800" anchor="ctr">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1400" b="0">
                <a:solidFill>
                  <a:srgbClr val="FFFFFF"/>
                </a:solidFill>
                <a:latin typeface="Georgia" panose="02040502050405020303"/>
              </a:rPr>
              <a:t>06/10/26</a:t>
            </a:r>
            <a:endParaRPr lang="en-US" sz="1200" b="0" u="none" strike="noStrike">
              <a:solidFill>
                <a:srgbClr val="000000"/>
              </a:solidFill>
              <a:effectLst/>
              <a:uFillTx/>
              <a:latin typeface="Calibri" panose="020F0502020204030204"/>
            </a:endParaRPr>
          </a:p>
        </p:txBody>
      </p:sp>
      <p:sp>
        <p:nvSpPr>
          <p:cNvPr id="32" name="Footer Placeholder 4"/>
          <p:cNvSpPr/>
          <p:nvPr/>
        </p:nvSpPr>
        <p:spPr>
          <a:xfrm>
            <a:off x="2859120" y="6492960"/>
            <a:ext cx="6597720" cy="365040"/>
          </a:xfrm>
          <a:prstGeom prst="rect">
            <a:avLst/>
          </a:prstGeom>
          <a:noFill/>
          <a:ln w="0">
            <a:noFill/>
          </a:ln>
        </p:spPr>
        <p:style>
          <a:lnRef idx="0">
            <a:srgbClr val="FFFFFF"/>
          </a:lnRef>
          <a:fillRef idx="0">
            <a:srgbClr val="FFFFFF"/>
          </a:fillRef>
          <a:effectRef idx="0">
            <a:srgbClr val="FFFFFF"/>
          </a:effectRef>
          <a:fontRef idx="minor"/>
        </p:style>
        <p:txBody>
          <a:bodyPr wrap="square" lIns="90000" tIns="46800" rIns="90000" bIns="46800" anchor="ctr">
            <a:norm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1400" b="0">
                <a:solidFill>
                  <a:srgbClr val="FFFFFF"/>
                </a:solidFill>
                <a:latin typeface="Georgia" panose="02040502050405020303"/>
              </a:rPr>
              <a:t>International Institute of Information Technology, Naya Raipur</a:t>
            </a:r>
            <a:endParaRPr lang="en-US" sz="1400" b="0" u="none" strike="noStrike">
              <a:solidFill>
                <a:srgbClr val="000000"/>
              </a:solidFill>
              <a:effectLst/>
              <a:uFillTx/>
              <a:latin typeface="Calibri" panose="020F0502020204030204"/>
            </a:endParaRPr>
          </a:p>
        </p:txBody>
      </p:sp>
      <p:sp>
        <p:nvSpPr>
          <p:cNvPr id="33" name="Slide Number Placeholder 5"/>
          <p:cNvSpPr/>
          <p:nvPr/>
        </p:nvSpPr>
        <p:spPr>
          <a:xfrm>
            <a:off x="9629640" y="6492960"/>
            <a:ext cx="1979640" cy="365040"/>
          </a:xfrm>
          <a:prstGeom prst="rect">
            <a:avLst/>
          </a:prstGeom>
          <a:noFill/>
          <a:ln w="0">
            <a:noFill/>
          </a:ln>
        </p:spPr>
        <p:style>
          <a:lnRef idx="0">
            <a:srgbClr val="FFFFFF"/>
          </a:lnRef>
          <a:fillRef idx="0">
            <a:srgbClr val="FFFFFF"/>
          </a:fillRef>
          <a:effectRef idx="0">
            <a:srgbClr val="FFFFFF"/>
          </a:effectRef>
          <a:fontRef idx="minor"/>
        </p:style>
        <p:txBody>
          <a:bodyPr wrap="square" lIns="90000" tIns="46800" rIns="90000" bIns="46800" anchor="ctr">
            <a:normAutofit/>
          </a:bodyPr>
          <a:lstStyle/>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1400" b="0">
                <a:solidFill>
                  <a:srgbClr val="FFFFFF"/>
                </a:solidFill>
                <a:latin typeface="Georgia" panose="02040502050405020303"/>
              </a:rPr>
              <a:t>2</a:t>
            </a:r>
            <a:endParaRPr lang="en-US" sz="1200" b="0" u="none" strike="noStrike">
              <a:solidFill>
                <a:srgbClr val="000000"/>
              </a:solidFill>
              <a:effectLst/>
              <a:uFillTx/>
              <a:latin typeface="Calibri" panose="020F050202020403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PlaceHolder 1"/>
          <p:cNvSpPr>
            <a:spLocks noGrp="1"/>
          </p:cNvSpPr>
          <p:nvPr>
            <p:ph type="title"/>
          </p:nvPr>
        </p:nvSpPr>
        <p:spPr>
          <a:xfrm>
            <a:off x="838080" y="365040"/>
            <a:ext cx="9761760" cy="1325520"/>
          </a:xfrm>
          <a:prstGeom prst="rect">
            <a:avLst/>
          </a:prstGeom>
          <a:noFill/>
          <a:ln w="0">
            <a:noFill/>
          </a:ln>
        </p:spPr>
        <p:txBody>
          <a:bodyPr wrap="square" lIns="91440" tIns="45720" rIns="91440" bIns="45720" anchor="ctr">
            <a:noAutofit/>
          </a:bodyPr>
          <a:lstStyle/>
          <a:p>
            <a:pPr indent="0">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4400" b="1" dirty="0">
                <a:solidFill>
                  <a:srgbClr val="002060"/>
                </a:solidFill>
                <a:latin typeface="Calibri Light" panose="020F0302020204030204"/>
              </a:rPr>
              <a:t>Introduction</a:t>
            </a:r>
            <a:endParaRPr lang="en-US" sz="4400" b="0" u="none" strike="noStrike" dirty="0">
              <a:solidFill>
                <a:srgbClr val="000000"/>
              </a:solidFill>
              <a:effectLst/>
              <a:uFillTx/>
              <a:latin typeface="Calibri Light" panose="020F0302020204030204"/>
            </a:endParaRPr>
          </a:p>
        </p:txBody>
      </p:sp>
      <p:sp>
        <p:nvSpPr>
          <p:cNvPr id="35" name="Text Box 34"/>
          <p:cNvSpPr txBox="1"/>
          <p:nvPr/>
        </p:nvSpPr>
        <p:spPr>
          <a:xfrm>
            <a:off x="838080" y="1825200"/>
            <a:ext cx="10515600" cy="4351320"/>
          </a:xfrm>
          <a:prstGeom prst="rect">
            <a:avLst/>
          </a:prstGeom>
          <a:noFill/>
          <a:ln w="0">
            <a:noFill/>
          </a:ln>
        </p:spPr>
        <p:txBody>
          <a:bodyPr anchor="t">
            <a:normAutofit/>
          </a:bodyPr>
          <a:lstStyle/>
          <a:p>
            <a:endParaRPr/>
          </a:p>
        </p:txBody>
      </p:sp>
      <p:sp>
        <p:nvSpPr>
          <p:cNvPr id="36" name="Date Placeholder 5"/>
          <p:cNvSpPr/>
          <p:nvPr/>
        </p:nvSpPr>
        <p:spPr>
          <a:xfrm>
            <a:off x="266760" y="6518160"/>
            <a:ext cx="2209680" cy="300240"/>
          </a:xfrm>
          <a:prstGeom prst="rect">
            <a:avLst/>
          </a:prstGeom>
          <a:noFill/>
          <a:ln w="0">
            <a:noFill/>
          </a:ln>
        </p:spPr>
        <p:style>
          <a:lnRef idx="0">
            <a:srgbClr val="FFFFFF"/>
          </a:lnRef>
          <a:fillRef idx="0">
            <a:srgbClr val="FFFFFF"/>
          </a:fillRef>
          <a:effectRef idx="0">
            <a:srgbClr val="FFFFFF"/>
          </a:effectRef>
          <a:fontRef idx="minor"/>
        </p:style>
        <p:txBody>
          <a:bodyPr wrap="square" lIns="90000" tIns="46800" rIns="90000" bIns="46800" anchor="ctr">
            <a:normAutofit lnSpcReduction="10000"/>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1400" b="0">
                <a:solidFill>
                  <a:srgbClr val="FFFFFF"/>
                </a:solidFill>
                <a:latin typeface="Georgia" panose="02040502050405020303"/>
              </a:rPr>
              <a:t>06/10/26</a:t>
            </a:r>
            <a:endParaRPr lang="en-US" sz="1200" b="0" u="none" strike="noStrike">
              <a:solidFill>
                <a:srgbClr val="000000"/>
              </a:solidFill>
              <a:effectLst/>
              <a:uFillTx/>
              <a:latin typeface="Calibri" panose="020F0502020204030204"/>
            </a:endParaRPr>
          </a:p>
        </p:txBody>
      </p:sp>
      <p:sp>
        <p:nvSpPr>
          <p:cNvPr id="37" name="Slide Number Placeholder 6"/>
          <p:cNvSpPr/>
          <p:nvPr/>
        </p:nvSpPr>
        <p:spPr>
          <a:xfrm>
            <a:off x="9607680" y="6453360"/>
            <a:ext cx="1979640" cy="365040"/>
          </a:xfrm>
          <a:prstGeom prst="rect">
            <a:avLst/>
          </a:prstGeom>
          <a:noFill/>
          <a:ln w="0">
            <a:noFill/>
          </a:ln>
        </p:spPr>
        <p:style>
          <a:lnRef idx="0">
            <a:srgbClr val="FFFFFF"/>
          </a:lnRef>
          <a:fillRef idx="0">
            <a:srgbClr val="FFFFFF"/>
          </a:fillRef>
          <a:effectRef idx="0">
            <a:srgbClr val="FFFFFF"/>
          </a:effectRef>
          <a:fontRef idx="minor"/>
        </p:style>
        <p:txBody>
          <a:bodyPr wrap="square" lIns="90000" tIns="46800" rIns="90000" bIns="46800" anchor="ctr">
            <a:normAutofit/>
          </a:bodyPr>
          <a:lstStyle/>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1400" b="0">
                <a:solidFill>
                  <a:srgbClr val="FFFFFF"/>
                </a:solidFill>
                <a:latin typeface="Georgia" panose="02040502050405020303"/>
              </a:rPr>
              <a:t>3</a:t>
            </a:r>
            <a:endParaRPr lang="en-US" sz="1200" b="0" u="none" strike="noStrike">
              <a:solidFill>
                <a:srgbClr val="000000"/>
              </a:solidFill>
              <a:effectLst/>
              <a:uFillTx/>
              <a:latin typeface="Calibri" panose="020F0502020204030204"/>
            </a:endParaRPr>
          </a:p>
        </p:txBody>
      </p:sp>
      <p:sp>
        <p:nvSpPr>
          <p:cNvPr id="38" name="Footer Placeholder 9"/>
          <p:cNvSpPr/>
          <p:nvPr/>
        </p:nvSpPr>
        <p:spPr>
          <a:xfrm>
            <a:off x="2859120" y="6492960"/>
            <a:ext cx="6597720" cy="365040"/>
          </a:xfrm>
          <a:prstGeom prst="rect">
            <a:avLst/>
          </a:prstGeom>
          <a:noFill/>
          <a:ln w="0">
            <a:noFill/>
          </a:ln>
        </p:spPr>
        <p:style>
          <a:lnRef idx="0">
            <a:srgbClr val="FFFFFF"/>
          </a:lnRef>
          <a:fillRef idx="0">
            <a:srgbClr val="FFFFFF"/>
          </a:fillRef>
          <a:effectRef idx="0">
            <a:srgbClr val="FFFFFF"/>
          </a:effectRef>
          <a:fontRef idx="minor"/>
        </p:style>
        <p:txBody>
          <a:bodyPr wrap="square" lIns="90000" tIns="46800" rIns="90000" bIns="46800" anchor="ctr">
            <a:norm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1400" b="0">
                <a:solidFill>
                  <a:srgbClr val="FFFFFF"/>
                </a:solidFill>
                <a:latin typeface="Georgia" panose="02040502050405020303"/>
              </a:rPr>
              <a:t>International Institute of Information Technology, Naya Raipur</a:t>
            </a:r>
            <a:endParaRPr lang="en-US" sz="1400" b="0" u="none" strike="noStrike">
              <a:solidFill>
                <a:srgbClr val="000000"/>
              </a:solidFill>
              <a:effectLst/>
              <a:uFillTx/>
              <a:latin typeface="Calibri" panose="020F0502020204030204"/>
            </a:endParaRPr>
          </a:p>
        </p:txBody>
      </p:sp>
      <p:sp>
        <p:nvSpPr>
          <p:cNvPr id="39" name="TextBox 38"/>
          <p:cNvSpPr txBox="1"/>
          <p:nvPr/>
        </p:nvSpPr>
        <p:spPr>
          <a:xfrm>
            <a:off x="914400" y="1783080"/>
            <a:ext cx="10058400" cy="3319883"/>
          </a:xfrm>
          <a:prstGeom prst="rect">
            <a:avLst/>
          </a:prstGeom>
          <a:noFill/>
        </p:spPr>
        <p:txBody>
          <a:bodyPr wrap="square" lIns="45720" tIns="18288" rIns="45720" bIns="18288">
            <a:spAutoFit/>
          </a:bodyPr>
          <a:lstStyle/>
          <a:p>
            <a:pPr marL="342900" indent="-342900">
              <a:spcAft>
                <a:spcPts val="1000"/>
              </a:spcAft>
              <a:buSzPct val="100000"/>
              <a:buFont typeface="Arial" panose="020B0604020202020204" pitchFamily="34" charset="0"/>
              <a:buChar char="•"/>
            </a:pPr>
            <a:r>
              <a:rPr lang="en-US" dirty="0">
                <a:solidFill>
                  <a:srgbClr val="202B3C"/>
                </a:solidFill>
                <a:latin typeface="Calibri" pitchFamily="34" charset="0"/>
                <a:ea typeface="Calibri" pitchFamily="34" charset="-122"/>
                <a:cs typeface="Calibri" pitchFamily="34" charset="-120"/>
              </a:rPr>
              <a:t>Scientific literature review requires searching, reading, comparing and summarizing large volumes of papers.</a:t>
            </a:r>
            <a:endParaRPr lang="en-US" dirty="0"/>
          </a:p>
          <a:p>
            <a:pPr marL="342900" indent="-342900">
              <a:spcAft>
                <a:spcPts val="1000"/>
              </a:spcAft>
              <a:buSzPct val="100000"/>
              <a:buFont typeface="Arial" panose="020B0604020202020204" pitchFamily="34" charset="0"/>
              <a:buChar char="•"/>
            </a:pPr>
            <a:r>
              <a:rPr lang="en-US" dirty="0">
                <a:solidFill>
                  <a:srgbClr val="202B3C"/>
                </a:solidFill>
                <a:latin typeface="Calibri" pitchFamily="34" charset="0"/>
                <a:ea typeface="Calibri" pitchFamily="34" charset="-122"/>
                <a:cs typeface="Calibri" pitchFamily="34" charset="-120"/>
              </a:rPr>
              <a:t>Existing tools offer limited search or summarization, without intelligent collaboration between specialized components.</a:t>
            </a:r>
            <a:endParaRPr lang="en-US" dirty="0"/>
          </a:p>
          <a:p>
            <a:pPr marL="342900" indent="-342900">
              <a:spcAft>
                <a:spcPts val="1000"/>
              </a:spcAft>
              <a:buSzPct val="100000"/>
              <a:buFont typeface="Arial" panose="020B0604020202020204" pitchFamily="34" charset="0"/>
              <a:buChar char="•"/>
            </a:pPr>
            <a:r>
              <a:rPr lang="en-US" dirty="0">
                <a:solidFill>
                  <a:srgbClr val="202B3C"/>
                </a:solidFill>
                <a:latin typeface="Calibri" pitchFamily="34" charset="0"/>
                <a:ea typeface="Calibri" pitchFamily="34" charset="-122"/>
                <a:cs typeface="Calibri" pitchFamily="34" charset="-120"/>
              </a:rPr>
              <a:t>The proposed system uses multiple autonomous AI agents, each handling one sub-task of the research workflow.</a:t>
            </a:r>
            <a:endParaRPr lang="en-US" dirty="0"/>
          </a:p>
          <a:p>
            <a:pPr marL="342900" indent="-342900">
              <a:spcAft>
                <a:spcPts val="1000"/>
              </a:spcAft>
              <a:buSzPct val="100000"/>
              <a:buFont typeface="Arial" panose="020B0604020202020204" pitchFamily="34" charset="0"/>
              <a:buChar char="•"/>
            </a:pPr>
            <a:r>
              <a:rPr lang="en-US" dirty="0">
                <a:solidFill>
                  <a:srgbClr val="202B3C"/>
                </a:solidFill>
                <a:latin typeface="Calibri" pitchFamily="34" charset="0"/>
                <a:ea typeface="Calibri" pitchFamily="34" charset="-122"/>
                <a:cs typeface="Calibri" pitchFamily="34" charset="-120"/>
              </a:rPr>
              <a:t>Retrieval-Augmented Generation (RAG) grounds every answer in the full text of retrieved papers, reducing hallucination.</a:t>
            </a:r>
            <a:endParaRPr lang="en-US" dirty="0"/>
          </a:p>
          <a:p>
            <a:pPr marL="342900" indent="-342900">
              <a:spcAft>
                <a:spcPts val="1000"/>
              </a:spcAft>
              <a:buSzPct val="100000"/>
              <a:buFont typeface="Arial" panose="020B0604020202020204" pitchFamily="34" charset="0"/>
              <a:buChar char="•"/>
            </a:pPr>
            <a:r>
              <a:rPr lang="en-US" dirty="0">
                <a:solidFill>
                  <a:srgbClr val="202B3C"/>
                </a:solidFill>
                <a:latin typeface="Calibri" pitchFamily="34" charset="0"/>
                <a:ea typeface="Calibri" pitchFamily="34" charset="-122"/>
                <a:cs typeface="Calibri" pitchFamily="34" charset="-120"/>
              </a:rPr>
              <a:t>Output: a structured, citation-backed literature review with comparison table, research gaps and </a:t>
            </a:r>
            <a:r>
              <a:rPr lang="en-US" dirty="0" err="1">
                <a:solidFill>
                  <a:srgbClr val="202B3C"/>
                </a:solidFill>
                <a:latin typeface="Calibri" pitchFamily="34" charset="0"/>
                <a:ea typeface="Calibri" pitchFamily="34" charset="-122"/>
                <a:cs typeface="Calibri" pitchFamily="34" charset="-120"/>
              </a:rPr>
              <a:t>BibTeX</a:t>
            </a:r>
            <a:r>
              <a:rPr lang="en-US" dirty="0">
                <a:solidFill>
                  <a:srgbClr val="202B3C"/>
                </a:solidFill>
                <a:latin typeface="Calibri" pitchFamily="34" charset="0"/>
                <a:ea typeface="Calibri" pitchFamily="34" charset="-122"/>
                <a:cs typeface="Calibri" pitchFamily="34" charset="-120"/>
              </a:rPr>
              <a:t>/APA references.</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PlaceHolder 1"/>
          <p:cNvSpPr>
            <a:spLocks noGrp="1"/>
          </p:cNvSpPr>
          <p:nvPr>
            <p:ph type="title"/>
          </p:nvPr>
        </p:nvSpPr>
        <p:spPr>
          <a:xfrm>
            <a:off x="838080" y="365040"/>
            <a:ext cx="9761760" cy="1325520"/>
          </a:xfrm>
          <a:prstGeom prst="rect">
            <a:avLst/>
          </a:prstGeom>
          <a:noFill/>
          <a:ln w="0">
            <a:noFill/>
          </a:ln>
        </p:spPr>
        <p:txBody>
          <a:bodyPr wrap="square" lIns="91440" tIns="45720" rIns="91440" bIns="45720" anchor="ctr">
            <a:noAutofit/>
          </a:bodyPr>
          <a:lstStyle/>
          <a:p>
            <a:pPr indent="0">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3900" b="1">
                <a:solidFill>
                  <a:srgbClr val="002060"/>
                </a:solidFill>
                <a:latin typeface="Calibri Light" panose="020F0302020204030204"/>
              </a:rPr>
              <a:t>Motivation: Issues and Challenges</a:t>
            </a:r>
            <a:endParaRPr lang="en-US" sz="4400" b="0" u="none" strike="noStrike">
              <a:solidFill>
                <a:srgbClr val="000000"/>
              </a:solidFill>
              <a:effectLst/>
              <a:uFillTx/>
              <a:latin typeface="Calibri Light" panose="020F0302020204030204"/>
            </a:endParaRPr>
          </a:p>
        </p:txBody>
      </p:sp>
      <p:sp>
        <p:nvSpPr>
          <p:cNvPr id="40" name="Text Box 39"/>
          <p:cNvSpPr txBox="1"/>
          <p:nvPr/>
        </p:nvSpPr>
        <p:spPr>
          <a:xfrm>
            <a:off x="838080" y="1825200"/>
            <a:ext cx="10515600" cy="4351320"/>
          </a:xfrm>
          <a:prstGeom prst="rect">
            <a:avLst/>
          </a:prstGeom>
          <a:noFill/>
          <a:ln w="0">
            <a:noFill/>
          </a:ln>
        </p:spPr>
        <p:txBody>
          <a:bodyPr anchor="t">
            <a:normAutofit/>
          </a:bodyPr>
          <a:lstStyle/>
          <a:p>
            <a:endParaRPr/>
          </a:p>
        </p:txBody>
      </p:sp>
      <p:sp>
        <p:nvSpPr>
          <p:cNvPr id="41" name="Date Placeholder 5"/>
          <p:cNvSpPr/>
          <p:nvPr/>
        </p:nvSpPr>
        <p:spPr>
          <a:xfrm>
            <a:off x="266760" y="6518160"/>
            <a:ext cx="2209680" cy="300240"/>
          </a:xfrm>
          <a:prstGeom prst="rect">
            <a:avLst/>
          </a:prstGeom>
          <a:noFill/>
          <a:ln w="0">
            <a:noFill/>
          </a:ln>
        </p:spPr>
        <p:style>
          <a:lnRef idx="0">
            <a:srgbClr val="FFFFFF"/>
          </a:lnRef>
          <a:fillRef idx="0">
            <a:srgbClr val="FFFFFF"/>
          </a:fillRef>
          <a:effectRef idx="0">
            <a:srgbClr val="FFFFFF"/>
          </a:effectRef>
          <a:fontRef idx="minor"/>
        </p:style>
        <p:txBody>
          <a:bodyPr wrap="square" lIns="90000" tIns="46800" rIns="90000" bIns="46800" anchor="ctr">
            <a:normAutofit lnSpcReduction="10000"/>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1400" b="0">
                <a:solidFill>
                  <a:srgbClr val="FFFFFF"/>
                </a:solidFill>
                <a:latin typeface="Georgia" panose="02040502050405020303"/>
              </a:rPr>
              <a:t>06/10/26</a:t>
            </a:r>
            <a:endParaRPr lang="en-US" sz="1200" b="0" u="none" strike="noStrike">
              <a:solidFill>
                <a:srgbClr val="000000"/>
              </a:solidFill>
              <a:effectLst/>
              <a:uFillTx/>
              <a:latin typeface="Calibri" panose="020F0502020204030204"/>
            </a:endParaRPr>
          </a:p>
        </p:txBody>
      </p:sp>
      <p:sp>
        <p:nvSpPr>
          <p:cNvPr id="42" name="Slide Number Placeholder 6"/>
          <p:cNvSpPr/>
          <p:nvPr/>
        </p:nvSpPr>
        <p:spPr>
          <a:xfrm>
            <a:off x="9607680" y="6453360"/>
            <a:ext cx="1979640" cy="365040"/>
          </a:xfrm>
          <a:prstGeom prst="rect">
            <a:avLst/>
          </a:prstGeom>
          <a:noFill/>
          <a:ln w="0">
            <a:noFill/>
          </a:ln>
        </p:spPr>
        <p:style>
          <a:lnRef idx="0">
            <a:srgbClr val="FFFFFF"/>
          </a:lnRef>
          <a:fillRef idx="0">
            <a:srgbClr val="FFFFFF"/>
          </a:fillRef>
          <a:effectRef idx="0">
            <a:srgbClr val="FFFFFF"/>
          </a:effectRef>
          <a:fontRef idx="minor"/>
        </p:style>
        <p:txBody>
          <a:bodyPr wrap="square" lIns="90000" tIns="46800" rIns="90000" bIns="46800" anchor="ctr">
            <a:normAutofit/>
          </a:bodyPr>
          <a:lstStyle/>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1400" b="0">
                <a:solidFill>
                  <a:srgbClr val="FFFFFF"/>
                </a:solidFill>
                <a:latin typeface="Georgia" panose="02040502050405020303"/>
              </a:rPr>
              <a:t>4</a:t>
            </a:r>
            <a:endParaRPr lang="en-US" sz="1200" b="0" u="none" strike="noStrike">
              <a:solidFill>
                <a:srgbClr val="000000"/>
              </a:solidFill>
              <a:effectLst/>
              <a:uFillTx/>
              <a:latin typeface="Calibri" panose="020F0502020204030204"/>
            </a:endParaRPr>
          </a:p>
        </p:txBody>
      </p:sp>
      <p:sp>
        <p:nvSpPr>
          <p:cNvPr id="43" name="Footer Placeholder 9"/>
          <p:cNvSpPr/>
          <p:nvPr/>
        </p:nvSpPr>
        <p:spPr>
          <a:xfrm>
            <a:off x="2859120" y="6492960"/>
            <a:ext cx="6597720" cy="365040"/>
          </a:xfrm>
          <a:prstGeom prst="rect">
            <a:avLst/>
          </a:prstGeom>
          <a:noFill/>
          <a:ln w="0">
            <a:noFill/>
          </a:ln>
        </p:spPr>
        <p:style>
          <a:lnRef idx="0">
            <a:srgbClr val="FFFFFF"/>
          </a:lnRef>
          <a:fillRef idx="0">
            <a:srgbClr val="FFFFFF"/>
          </a:fillRef>
          <a:effectRef idx="0">
            <a:srgbClr val="FFFFFF"/>
          </a:effectRef>
          <a:fontRef idx="minor"/>
        </p:style>
        <p:txBody>
          <a:bodyPr wrap="square" lIns="90000" tIns="46800" rIns="90000" bIns="46800" anchor="ctr">
            <a:norm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1400" b="0">
                <a:solidFill>
                  <a:srgbClr val="FFFFFF"/>
                </a:solidFill>
                <a:latin typeface="Georgia" panose="02040502050405020303"/>
              </a:rPr>
              <a:t>International Institute of Information Technology, Naya Raipur</a:t>
            </a:r>
            <a:endParaRPr lang="en-US" sz="1400" b="0" u="none" strike="noStrike">
              <a:solidFill>
                <a:srgbClr val="000000"/>
              </a:solidFill>
              <a:effectLst/>
              <a:uFillTx/>
              <a:latin typeface="Calibri" panose="020F0502020204030204"/>
            </a:endParaRPr>
          </a:p>
        </p:txBody>
      </p:sp>
      <p:sp>
        <p:nvSpPr>
          <p:cNvPr id="44" name="Rounded Rectangle 43"/>
          <p:cNvSpPr/>
          <p:nvPr/>
        </p:nvSpPr>
        <p:spPr>
          <a:xfrm>
            <a:off x="868680" y="1737360"/>
            <a:ext cx="4800600" cy="1600200"/>
          </a:xfrm>
          <a:prstGeom prst="roundRect">
            <a:avLst/>
          </a:prstGeom>
          <a:solidFill>
            <a:srgbClr val="FFFFFF"/>
          </a:solidFill>
          <a:ln w="15240">
            <a:solidFill>
              <a:srgbClr val="B7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1033271" y="1847088"/>
            <a:ext cx="4480560" cy="347472"/>
          </a:xfrm>
          <a:prstGeom prst="rect">
            <a:avLst/>
          </a:prstGeom>
          <a:noFill/>
        </p:spPr>
        <p:txBody>
          <a:bodyPr wrap="square" lIns="45720" rIns="45720">
            <a:spAutoFit/>
          </a:bodyPr>
          <a:lstStyle/>
          <a:p>
            <a:r>
              <a:rPr sz="2000" b="1">
                <a:solidFill>
                  <a:srgbClr val="B71C1C"/>
                </a:solidFill>
                <a:latin typeface="Calibri" panose="020F0502020204030204"/>
              </a:rPr>
              <a:t>Multiple custody points</a:t>
            </a:r>
          </a:p>
        </p:txBody>
      </p:sp>
      <p:sp>
        <p:nvSpPr>
          <p:cNvPr id="46" name="TextBox 45"/>
          <p:cNvSpPr txBox="1"/>
          <p:nvPr/>
        </p:nvSpPr>
        <p:spPr>
          <a:xfrm>
            <a:off x="1033271" y="2267712"/>
            <a:ext cx="4434840" cy="868680"/>
          </a:xfrm>
          <a:prstGeom prst="rect">
            <a:avLst/>
          </a:prstGeom>
          <a:noFill/>
        </p:spPr>
        <p:txBody>
          <a:bodyPr wrap="square" lIns="45720" rIns="45720">
            <a:spAutoFit/>
          </a:bodyPr>
          <a:lstStyle/>
          <a:p>
            <a:r>
              <a:rPr sz="1500" b="0">
                <a:solidFill>
                  <a:srgbClr val="202B3C"/>
                </a:solidFill>
                <a:latin typeface="Calibri" panose="020F0502020204030204"/>
              </a:rPr>
              <a:t>Physical movement and manual handling increase the number of possible leak points.</a:t>
            </a:r>
          </a:p>
        </p:txBody>
      </p:sp>
      <p:sp>
        <p:nvSpPr>
          <p:cNvPr id="47" name="Rounded Rectangle 46"/>
          <p:cNvSpPr/>
          <p:nvPr/>
        </p:nvSpPr>
        <p:spPr>
          <a:xfrm>
            <a:off x="6263640" y="1737360"/>
            <a:ext cx="4800600" cy="1600200"/>
          </a:xfrm>
          <a:prstGeom prst="roundRect">
            <a:avLst/>
          </a:prstGeom>
          <a:solidFill>
            <a:srgbClr val="FFFFFF"/>
          </a:solidFill>
          <a:ln w="15240">
            <a:solidFill>
              <a:srgbClr val="B26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428232" y="1847088"/>
            <a:ext cx="4480560" cy="347472"/>
          </a:xfrm>
          <a:prstGeom prst="rect">
            <a:avLst/>
          </a:prstGeom>
          <a:noFill/>
        </p:spPr>
        <p:txBody>
          <a:bodyPr wrap="square" lIns="45720" rIns="45720">
            <a:spAutoFit/>
          </a:bodyPr>
          <a:lstStyle/>
          <a:p>
            <a:r>
              <a:rPr sz="2000" b="1">
                <a:solidFill>
                  <a:srgbClr val="B26A00"/>
                </a:solidFill>
                <a:latin typeface="Calibri" panose="020F0502020204030204"/>
              </a:rPr>
              <a:t>Premature access</a:t>
            </a:r>
          </a:p>
        </p:txBody>
      </p:sp>
      <p:sp>
        <p:nvSpPr>
          <p:cNvPr id="49" name="TextBox 48"/>
          <p:cNvSpPr txBox="1"/>
          <p:nvPr/>
        </p:nvSpPr>
        <p:spPr>
          <a:xfrm>
            <a:off x="6428232" y="2267712"/>
            <a:ext cx="4434840" cy="868680"/>
          </a:xfrm>
          <a:prstGeom prst="rect">
            <a:avLst/>
          </a:prstGeom>
          <a:noFill/>
        </p:spPr>
        <p:txBody>
          <a:bodyPr wrap="square" lIns="45720" rIns="45720">
            <a:spAutoFit/>
          </a:bodyPr>
          <a:lstStyle/>
          <a:p>
            <a:r>
              <a:rPr sz="1500" b="0">
                <a:solidFill>
                  <a:srgbClr val="202B3C"/>
                </a:solidFill>
                <a:latin typeface="Calibri" panose="020F0502020204030204"/>
              </a:rPr>
              <a:t>A finalized paper should remain unreadable until the official release time.</a:t>
            </a:r>
          </a:p>
        </p:txBody>
      </p:sp>
      <p:sp>
        <p:nvSpPr>
          <p:cNvPr id="50" name="Rounded Rectangle 49"/>
          <p:cNvSpPr/>
          <p:nvPr/>
        </p:nvSpPr>
        <p:spPr>
          <a:xfrm>
            <a:off x="868680" y="3794760"/>
            <a:ext cx="4800600" cy="1600200"/>
          </a:xfrm>
          <a:prstGeom prst="roundRect">
            <a:avLst/>
          </a:prstGeom>
          <a:solidFill>
            <a:srgbClr val="FFFFFF"/>
          </a:solidFill>
          <a:ln w="15240">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1033271" y="3904488"/>
            <a:ext cx="4480560" cy="347472"/>
          </a:xfrm>
          <a:prstGeom prst="rect">
            <a:avLst/>
          </a:prstGeom>
          <a:noFill/>
        </p:spPr>
        <p:txBody>
          <a:bodyPr wrap="square" lIns="45720" rIns="45720">
            <a:spAutoFit/>
          </a:bodyPr>
          <a:lstStyle/>
          <a:p>
            <a:r>
              <a:rPr sz="2000" b="1">
                <a:solidFill>
                  <a:srgbClr val="002060"/>
                </a:solidFill>
                <a:latin typeface="Calibri" panose="020F0502020204030204"/>
              </a:rPr>
              <a:t>Weak traceability</a:t>
            </a:r>
          </a:p>
        </p:txBody>
      </p:sp>
      <p:sp>
        <p:nvSpPr>
          <p:cNvPr id="52" name="TextBox 51"/>
          <p:cNvSpPr txBox="1"/>
          <p:nvPr/>
        </p:nvSpPr>
        <p:spPr>
          <a:xfrm>
            <a:off x="1033271" y="4325112"/>
            <a:ext cx="4434840" cy="868680"/>
          </a:xfrm>
          <a:prstGeom prst="rect">
            <a:avLst/>
          </a:prstGeom>
          <a:noFill/>
        </p:spPr>
        <p:txBody>
          <a:bodyPr wrap="square" lIns="45720" rIns="45720">
            <a:spAutoFit/>
          </a:bodyPr>
          <a:lstStyle/>
          <a:p>
            <a:r>
              <a:rPr sz="1500" b="0">
                <a:solidFill>
                  <a:srgbClr val="202B3C"/>
                </a:solidFill>
                <a:latin typeface="Calibri" panose="020F0502020204030204"/>
              </a:rPr>
              <a:t>A leaked copy is difficult to attribute to a particular distribution point.</a:t>
            </a:r>
          </a:p>
        </p:txBody>
      </p:sp>
      <p:sp>
        <p:nvSpPr>
          <p:cNvPr id="53" name="Rounded Rectangle 52"/>
          <p:cNvSpPr/>
          <p:nvPr/>
        </p:nvSpPr>
        <p:spPr>
          <a:xfrm>
            <a:off x="6263640" y="3794760"/>
            <a:ext cx="4800600" cy="1600200"/>
          </a:xfrm>
          <a:prstGeom prst="roundRect">
            <a:avLst/>
          </a:prstGeom>
          <a:solidFill>
            <a:srgbClr val="FFFFFF"/>
          </a:solidFill>
          <a:ln w="1524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6428232" y="3904488"/>
            <a:ext cx="4480560" cy="347472"/>
          </a:xfrm>
          <a:prstGeom prst="rect">
            <a:avLst/>
          </a:prstGeom>
          <a:noFill/>
        </p:spPr>
        <p:txBody>
          <a:bodyPr wrap="square" lIns="45720" rIns="45720">
            <a:spAutoFit/>
          </a:bodyPr>
          <a:lstStyle/>
          <a:p>
            <a:r>
              <a:rPr sz="2000" b="1">
                <a:solidFill>
                  <a:srgbClr val="2E7D32"/>
                </a:solidFill>
                <a:latin typeface="Calibri" panose="020F0502020204030204"/>
              </a:rPr>
              <a:t>Slow leak investigation</a:t>
            </a:r>
          </a:p>
        </p:txBody>
      </p:sp>
      <p:sp>
        <p:nvSpPr>
          <p:cNvPr id="55" name="TextBox 54"/>
          <p:cNvSpPr txBox="1"/>
          <p:nvPr/>
        </p:nvSpPr>
        <p:spPr>
          <a:xfrm>
            <a:off x="6428232" y="4325112"/>
            <a:ext cx="4434840" cy="868680"/>
          </a:xfrm>
          <a:prstGeom prst="rect">
            <a:avLst/>
          </a:prstGeom>
          <a:noFill/>
        </p:spPr>
        <p:txBody>
          <a:bodyPr wrap="square" lIns="45720" rIns="45720">
            <a:spAutoFit/>
          </a:bodyPr>
          <a:lstStyle/>
          <a:p>
            <a:r>
              <a:rPr sz="1500" b="0">
                <a:solidFill>
                  <a:srgbClr val="202B3C"/>
                </a:solidFill>
                <a:latin typeface="Calibri" panose="020F0502020204030204"/>
              </a:rPr>
              <a:t>Finding a leaked copy across public online sources is largely manual.</a:t>
            </a:r>
          </a:p>
        </p:txBody>
      </p:sp>
      <p:sp>
        <p:nvSpPr>
          <p:cNvPr id="56" name="TextBox 55"/>
          <p:cNvSpPr txBox="1"/>
          <p:nvPr/>
        </p:nvSpPr>
        <p:spPr>
          <a:xfrm>
            <a:off x="914400" y="5806440"/>
            <a:ext cx="10241280" cy="411480"/>
          </a:xfrm>
          <a:prstGeom prst="rect">
            <a:avLst/>
          </a:prstGeom>
          <a:noFill/>
        </p:spPr>
        <p:txBody>
          <a:bodyPr wrap="square" lIns="45720" rIns="45720">
            <a:spAutoFit/>
          </a:bodyPr>
          <a:lstStyle/>
          <a:p>
            <a:pPr algn="ctr"/>
            <a:r>
              <a:rPr sz="1600" b="1">
                <a:solidFill>
                  <a:srgbClr val="002060"/>
                </a:solidFill>
                <a:latin typeface="Calibri" panose="020F0502020204030204"/>
              </a:rPr>
              <a:t>Design principle: reduce custody points while adding cryptographic integrity, time-locking and source traceability.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PlaceHolder 1"/>
          <p:cNvSpPr>
            <a:spLocks noGrp="1"/>
          </p:cNvSpPr>
          <p:nvPr>
            <p:ph type="title"/>
          </p:nvPr>
        </p:nvSpPr>
        <p:spPr>
          <a:xfrm>
            <a:off x="838080" y="365040"/>
            <a:ext cx="9761760" cy="1325520"/>
          </a:xfrm>
          <a:prstGeom prst="rect">
            <a:avLst/>
          </a:prstGeom>
          <a:noFill/>
          <a:ln w="0">
            <a:noFill/>
          </a:ln>
        </p:spPr>
        <p:txBody>
          <a:bodyPr wrap="square" lIns="91440" tIns="45720" rIns="91440" bIns="45720" anchor="ctr">
            <a:noAutofit/>
          </a:bodyPr>
          <a:lstStyle/>
          <a:p>
            <a:pPr indent="0">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4400" b="1">
                <a:solidFill>
                  <a:srgbClr val="002060"/>
                </a:solidFill>
                <a:latin typeface="Calibri Light" panose="020F0302020204030204"/>
              </a:rPr>
              <a:t>Literature Review</a:t>
            </a:r>
            <a:endParaRPr lang="en-US" sz="4400" b="0" u="none" strike="noStrike">
              <a:solidFill>
                <a:srgbClr val="000000"/>
              </a:solidFill>
              <a:effectLst/>
              <a:uFillTx/>
              <a:latin typeface="Calibri Light" panose="020F0302020204030204"/>
            </a:endParaRPr>
          </a:p>
        </p:txBody>
      </p:sp>
      <p:sp>
        <p:nvSpPr>
          <p:cNvPr id="46" name="Date Placeholder 5"/>
          <p:cNvSpPr/>
          <p:nvPr/>
        </p:nvSpPr>
        <p:spPr>
          <a:xfrm>
            <a:off x="266760" y="6518160"/>
            <a:ext cx="2209680" cy="300240"/>
          </a:xfrm>
          <a:prstGeom prst="rect">
            <a:avLst/>
          </a:prstGeom>
          <a:noFill/>
          <a:ln w="0">
            <a:noFill/>
          </a:ln>
        </p:spPr>
        <p:style>
          <a:lnRef idx="0">
            <a:srgbClr val="FFFFFF"/>
          </a:lnRef>
          <a:fillRef idx="0">
            <a:srgbClr val="FFFFFF"/>
          </a:fillRef>
          <a:effectRef idx="0">
            <a:srgbClr val="FFFFFF"/>
          </a:effectRef>
          <a:fontRef idx="minor"/>
        </p:style>
        <p:txBody>
          <a:bodyPr wrap="square" lIns="90000" tIns="46800" rIns="90000" bIns="46800" anchor="ctr">
            <a:normAutofit lnSpcReduction="10000"/>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1400" b="0">
                <a:solidFill>
                  <a:srgbClr val="FFFFFF"/>
                </a:solidFill>
                <a:latin typeface="Georgia" panose="02040502050405020303"/>
              </a:rPr>
              <a:t>06/10/26</a:t>
            </a:r>
            <a:endParaRPr lang="en-US" sz="1200" b="0" u="none" strike="noStrike">
              <a:solidFill>
                <a:srgbClr val="000000"/>
              </a:solidFill>
              <a:effectLst/>
              <a:uFillTx/>
              <a:latin typeface="Calibri" panose="020F0502020204030204"/>
            </a:endParaRPr>
          </a:p>
        </p:txBody>
      </p:sp>
      <p:sp>
        <p:nvSpPr>
          <p:cNvPr id="47" name="Slide Number Placeholder 6"/>
          <p:cNvSpPr/>
          <p:nvPr/>
        </p:nvSpPr>
        <p:spPr>
          <a:xfrm>
            <a:off x="9607680" y="6453360"/>
            <a:ext cx="1979640" cy="365040"/>
          </a:xfrm>
          <a:prstGeom prst="rect">
            <a:avLst/>
          </a:prstGeom>
          <a:noFill/>
          <a:ln w="0">
            <a:noFill/>
          </a:ln>
        </p:spPr>
        <p:style>
          <a:lnRef idx="0">
            <a:srgbClr val="FFFFFF"/>
          </a:lnRef>
          <a:fillRef idx="0">
            <a:srgbClr val="FFFFFF"/>
          </a:fillRef>
          <a:effectRef idx="0">
            <a:srgbClr val="FFFFFF"/>
          </a:effectRef>
          <a:fontRef idx="minor"/>
        </p:style>
        <p:txBody>
          <a:bodyPr wrap="square" lIns="90000" tIns="46800" rIns="90000" bIns="46800" anchor="ctr">
            <a:normAutofit/>
          </a:bodyPr>
          <a:lstStyle/>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1400" b="0">
                <a:solidFill>
                  <a:srgbClr val="FFFFFF"/>
                </a:solidFill>
                <a:latin typeface="Georgia" panose="02040502050405020303"/>
              </a:rPr>
              <a:t>5</a:t>
            </a:r>
            <a:endParaRPr lang="en-US" sz="1200" b="0" u="none" strike="noStrike">
              <a:solidFill>
                <a:srgbClr val="000000"/>
              </a:solidFill>
              <a:effectLst/>
              <a:uFillTx/>
              <a:latin typeface="Calibri" panose="020F0502020204030204"/>
            </a:endParaRPr>
          </a:p>
        </p:txBody>
      </p:sp>
      <p:sp>
        <p:nvSpPr>
          <p:cNvPr id="48" name="Footer Placeholder 9"/>
          <p:cNvSpPr/>
          <p:nvPr/>
        </p:nvSpPr>
        <p:spPr>
          <a:xfrm>
            <a:off x="2859120" y="6492960"/>
            <a:ext cx="6597720" cy="365040"/>
          </a:xfrm>
          <a:prstGeom prst="rect">
            <a:avLst/>
          </a:prstGeom>
          <a:noFill/>
          <a:ln w="0">
            <a:noFill/>
          </a:ln>
        </p:spPr>
        <p:style>
          <a:lnRef idx="0">
            <a:srgbClr val="FFFFFF"/>
          </a:lnRef>
          <a:fillRef idx="0">
            <a:srgbClr val="FFFFFF"/>
          </a:fillRef>
          <a:effectRef idx="0">
            <a:srgbClr val="FFFFFF"/>
          </a:effectRef>
          <a:fontRef idx="minor"/>
        </p:style>
        <p:txBody>
          <a:bodyPr wrap="square" lIns="90000" tIns="46800" rIns="90000" bIns="46800" anchor="ctr">
            <a:norm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1400" b="0">
                <a:solidFill>
                  <a:srgbClr val="FFFFFF"/>
                </a:solidFill>
                <a:latin typeface="Georgia" panose="02040502050405020303"/>
              </a:rPr>
              <a:t>International Institute of Information Technology, Naya Raipur</a:t>
            </a:r>
            <a:endParaRPr lang="en-US" sz="1400" b="0" u="none" strike="noStrike">
              <a:solidFill>
                <a:srgbClr val="000000"/>
              </a:solidFill>
              <a:effectLst/>
              <a:uFillTx/>
              <a:latin typeface="Calibri" panose="020F0502020204030204"/>
            </a:endParaRPr>
          </a:p>
        </p:txBody>
      </p:sp>
      <p:graphicFrame>
        <p:nvGraphicFramePr>
          <p:cNvPr id="49" name="Table 48"/>
          <p:cNvGraphicFramePr>
            <a:graphicFrameLocks noGrp="1"/>
          </p:cNvGraphicFramePr>
          <p:nvPr/>
        </p:nvGraphicFramePr>
        <p:xfrm>
          <a:off x="502920" y="1508760"/>
          <a:ext cx="11109959" cy="4434840"/>
        </p:xfrm>
        <a:graphic>
          <a:graphicData uri="http://schemas.openxmlformats.org/drawingml/2006/table">
            <a:tbl>
              <a:tblPr firstRow="1" bandRow="1">
                <a:tableStyleId>{5C22544A-7EE6-4342-B048-85BDC9FD1C3A}</a:tableStyleId>
              </a:tblPr>
              <a:tblGrid>
                <a:gridCol w="224028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1874519">
                  <a:extLst>
                    <a:ext uri="{9D8B030D-6E8A-4147-A177-3AD203B41FA5}">
                      <a16:colId xmlns:a16="http://schemas.microsoft.com/office/drawing/2014/main" val="20002"/>
                    </a:ext>
                  </a:extLst>
                </a:gridCol>
                <a:gridCol w="1417320">
                  <a:extLst>
                    <a:ext uri="{9D8B030D-6E8A-4147-A177-3AD203B41FA5}">
                      <a16:colId xmlns:a16="http://schemas.microsoft.com/office/drawing/2014/main" val="20003"/>
                    </a:ext>
                  </a:extLst>
                </a:gridCol>
                <a:gridCol w="3429000">
                  <a:extLst>
                    <a:ext uri="{9D8B030D-6E8A-4147-A177-3AD203B41FA5}">
                      <a16:colId xmlns:a16="http://schemas.microsoft.com/office/drawing/2014/main" val="20004"/>
                    </a:ext>
                  </a:extLst>
                </a:gridCol>
              </a:tblGrid>
              <a:tr h="886968">
                <a:tc>
                  <a:txBody>
                    <a:bodyPr/>
                    <a:lstStyle/>
                    <a:p>
                      <a:pPr algn="ctr">
                        <a:defRPr sz="1200" b="1">
                          <a:solidFill>
                            <a:srgbClr val="FFFFFF"/>
                          </a:solidFill>
                          <a:latin typeface="Calibri" panose="020F0502020204030204"/>
                        </a:defRPr>
                      </a:pPr>
                      <a:r>
                        <a:t>Reference</a:t>
                      </a:r>
                    </a:p>
                  </a:txBody>
                  <a:tcPr>
                    <a:solidFill>
                      <a:srgbClr val="002060"/>
                    </a:solidFill>
                  </a:tcPr>
                </a:tc>
                <a:tc>
                  <a:txBody>
                    <a:bodyPr/>
                    <a:lstStyle/>
                    <a:p>
                      <a:pPr algn="ctr">
                        <a:defRPr sz="1200" b="1">
                          <a:solidFill>
                            <a:srgbClr val="FFFFFF"/>
                          </a:solidFill>
                          <a:latin typeface="Calibri" panose="020F0502020204030204"/>
                        </a:defRPr>
                      </a:pPr>
                      <a:r>
                        <a:t>Technique / Focus</a:t>
                      </a:r>
                    </a:p>
                  </a:txBody>
                  <a:tcPr>
                    <a:solidFill>
                      <a:srgbClr val="002060"/>
                    </a:solidFill>
                  </a:tcPr>
                </a:tc>
                <a:tc>
                  <a:txBody>
                    <a:bodyPr/>
                    <a:lstStyle/>
                    <a:p>
                      <a:pPr algn="ctr">
                        <a:defRPr sz="1200" b="1">
                          <a:solidFill>
                            <a:srgbClr val="FFFFFF"/>
                          </a:solidFill>
                          <a:latin typeface="Calibri" panose="020F0502020204030204"/>
                        </a:defRPr>
                      </a:pPr>
                      <a:r>
                        <a:t>Data / Platform</a:t>
                      </a:r>
                    </a:p>
                  </a:txBody>
                  <a:tcPr>
                    <a:solidFill>
                      <a:srgbClr val="002060"/>
                    </a:solidFill>
                  </a:tcPr>
                </a:tc>
                <a:tc>
                  <a:txBody>
                    <a:bodyPr/>
                    <a:lstStyle/>
                    <a:p>
                      <a:pPr algn="ctr">
                        <a:defRPr sz="1200" b="1">
                          <a:solidFill>
                            <a:srgbClr val="FFFFFF"/>
                          </a:solidFill>
                          <a:latin typeface="Calibri" panose="020F0502020204030204"/>
                        </a:defRPr>
                      </a:pPr>
                      <a:r>
                        <a:t>Measures</a:t>
                      </a:r>
                    </a:p>
                  </a:txBody>
                  <a:tcPr>
                    <a:solidFill>
                      <a:srgbClr val="002060"/>
                    </a:solidFill>
                  </a:tcPr>
                </a:tc>
                <a:tc>
                  <a:txBody>
                    <a:bodyPr/>
                    <a:lstStyle/>
                    <a:p>
                      <a:pPr algn="ctr">
                        <a:defRPr sz="1200" b="1">
                          <a:solidFill>
                            <a:srgbClr val="FFFFFF"/>
                          </a:solidFill>
                          <a:latin typeface="Calibri" panose="020F0502020204030204"/>
                        </a:defRPr>
                      </a:pPr>
                      <a:r>
                        <a:t>Observation / Limitation</a:t>
                      </a:r>
                    </a:p>
                  </a:txBody>
                  <a:tcPr>
                    <a:solidFill>
                      <a:srgbClr val="002060"/>
                    </a:solidFill>
                  </a:tcPr>
                </a:tc>
                <a:extLst>
                  <a:ext uri="{0D108BD9-81ED-4DB2-BD59-A6C34878D82A}">
                    <a16:rowId xmlns:a16="http://schemas.microsoft.com/office/drawing/2014/main" val="10000"/>
                  </a:ext>
                </a:extLst>
              </a:tr>
              <a:tr h="886968">
                <a:tc>
                  <a:txBody>
                    <a:bodyPr/>
                    <a:lstStyle/>
                    <a:p>
                      <a:pPr algn="l">
                        <a:defRPr sz="1050">
                          <a:solidFill>
                            <a:srgbClr val="202B3C"/>
                          </a:solidFill>
                          <a:latin typeface="Calibri" panose="020F0502020204030204"/>
                        </a:defRPr>
                      </a:pPr>
                      <a:r>
                        <a:t>Kulkarni et al. (2022)</a:t>
                      </a:r>
                    </a:p>
                    <a:p>
                      <a:pPr algn="l">
                        <a:defRPr sz="1050">
                          <a:solidFill>
                            <a:srgbClr val="202B3C"/>
                          </a:solidFill>
                          <a:latin typeface="Calibri" panose="020F0502020204030204"/>
                        </a:defRPr>
                      </a:pPr>
                      <a:r>
                        <a:t>IEEE iSSSC</a:t>
                      </a:r>
                    </a:p>
                  </a:txBody>
                  <a:tcPr>
                    <a:solidFill>
                      <a:srgbClr val="FFFFFF"/>
                    </a:solidFill>
                  </a:tcPr>
                </a:tc>
                <a:tc>
                  <a:txBody>
                    <a:bodyPr/>
                    <a:lstStyle/>
                    <a:p>
                      <a:pPr algn="l">
                        <a:defRPr sz="1050">
                          <a:solidFill>
                            <a:srgbClr val="202B3C"/>
                          </a:solidFill>
                          <a:latin typeface="Calibri" panose="020F0502020204030204"/>
                        </a:defRPr>
                      </a:pPr>
                      <a:r>
                        <a:t>Blockchain + IPFS for secured transmission</a:t>
                      </a:r>
                    </a:p>
                  </a:txBody>
                  <a:tcPr>
                    <a:solidFill>
                      <a:srgbClr val="FFFFFF"/>
                    </a:solidFill>
                  </a:tcPr>
                </a:tc>
                <a:tc>
                  <a:txBody>
                    <a:bodyPr/>
                    <a:lstStyle/>
                    <a:p>
                      <a:pPr algn="l">
                        <a:defRPr sz="1050">
                          <a:solidFill>
                            <a:srgbClr val="202B3C"/>
                          </a:solidFill>
                          <a:latin typeface="Calibri" panose="020F0502020204030204"/>
                        </a:defRPr>
                      </a:pPr>
                      <a:r>
                        <a:t>Exam-paper workflow</a:t>
                      </a:r>
                    </a:p>
                  </a:txBody>
                  <a:tcPr>
                    <a:solidFill>
                      <a:srgbClr val="FFFFFF"/>
                    </a:solidFill>
                  </a:tcPr>
                </a:tc>
                <a:tc>
                  <a:txBody>
                    <a:bodyPr/>
                    <a:lstStyle/>
                    <a:p>
                      <a:pPr algn="l">
                        <a:defRPr sz="1050">
                          <a:solidFill>
                            <a:srgbClr val="202B3C"/>
                          </a:solidFill>
                          <a:latin typeface="Calibri" panose="020F0502020204030204"/>
                        </a:defRPr>
                      </a:pPr>
                      <a:r>
                        <a:t>Security / integrity</a:t>
                      </a:r>
                    </a:p>
                  </a:txBody>
                  <a:tcPr>
                    <a:solidFill>
                      <a:srgbClr val="FFFFFF"/>
                    </a:solidFill>
                  </a:tcPr>
                </a:tc>
                <a:tc>
                  <a:txBody>
                    <a:bodyPr/>
                    <a:lstStyle/>
                    <a:p>
                      <a:pPr algn="l">
                        <a:defRPr sz="1050">
                          <a:solidFill>
                            <a:srgbClr val="202B3C"/>
                          </a:solidFill>
                          <a:latin typeface="Calibri" panose="020F0502020204030204"/>
                        </a:defRPr>
                      </a:pPr>
                      <a:r>
                        <a:t>Removes physical circulation, but focuses mainly on secure transmission rather than post-leak source tracing.</a:t>
                      </a:r>
                    </a:p>
                  </a:txBody>
                  <a:tcPr>
                    <a:solidFill>
                      <a:srgbClr val="FFFFFF"/>
                    </a:solidFill>
                  </a:tcPr>
                </a:tc>
                <a:extLst>
                  <a:ext uri="{0D108BD9-81ED-4DB2-BD59-A6C34878D82A}">
                    <a16:rowId xmlns:a16="http://schemas.microsoft.com/office/drawing/2014/main" val="10001"/>
                  </a:ext>
                </a:extLst>
              </a:tr>
              <a:tr h="886968">
                <a:tc>
                  <a:txBody>
                    <a:bodyPr/>
                    <a:lstStyle/>
                    <a:p>
                      <a:pPr algn="l">
                        <a:defRPr sz="1050">
                          <a:solidFill>
                            <a:srgbClr val="202B3C"/>
                          </a:solidFill>
                          <a:latin typeface="Calibri" panose="020F0502020204030204"/>
                        </a:defRPr>
                      </a:pPr>
                      <a:r>
                        <a:t>Kadam et al. (2024)</a:t>
                      </a:r>
                    </a:p>
                    <a:p>
                      <a:pPr algn="l">
                        <a:defRPr sz="1050">
                          <a:solidFill>
                            <a:srgbClr val="202B3C"/>
                          </a:solidFill>
                          <a:latin typeface="Calibri" panose="020F0502020204030204"/>
                        </a:defRPr>
                      </a:pPr>
                      <a:r>
                        <a:t>IEEE ICCCNT</a:t>
                      </a:r>
                    </a:p>
                  </a:txBody>
                  <a:tcPr>
                    <a:solidFill>
                      <a:srgbClr val="E9EEF8"/>
                    </a:solidFill>
                  </a:tcPr>
                </a:tc>
                <a:tc>
                  <a:txBody>
                    <a:bodyPr/>
                    <a:lstStyle/>
                    <a:p>
                      <a:pPr algn="l">
                        <a:defRPr sz="1050">
                          <a:solidFill>
                            <a:srgbClr val="202B3C"/>
                          </a:solidFill>
                          <a:latin typeface="Calibri" panose="020F0502020204030204"/>
                        </a:defRPr>
                      </a:pPr>
                      <a:r>
                        <a:t>Blockchain examination platform</a:t>
                      </a:r>
                    </a:p>
                  </a:txBody>
                  <a:tcPr>
                    <a:solidFill>
                      <a:srgbClr val="E9EEF8"/>
                    </a:solidFill>
                  </a:tcPr>
                </a:tc>
                <a:tc>
                  <a:txBody>
                    <a:bodyPr/>
                    <a:lstStyle/>
                    <a:p>
                      <a:pPr algn="l">
                        <a:defRPr sz="1050">
                          <a:solidFill>
                            <a:srgbClr val="202B3C"/>
                          </a:solidFill>
                          <a:latin typeface="Calibri" panose="020F0502020204030204"/>
                        </a:defRPr>
                      </a:pPr>
                      <a:r>
                        <a:t>Exam records / web platform</a:t>
                      </a:r>
                    </a:p>
                  </a:txBody>
                  <a:tcPr>
                    <a:solidFill>
                      <a:srgbClr val="E9EEF8"/>
                    </a:solidFill>
                  </a:tcPr>
                </a:tc>
                <a:tc>
                  <a:txBody>
                    <a:bodyPr/>
                    <a:lstStyle/>
                    <a:p>
                      <a:pPr algn="l">
                        <a:defRPr sz="1050">
                          <a:solidFill>
                            <a:srgbClr val="202B3C"/>
                          </a:solidFill>
                          <a:latin typeface="Calibri" panose="020F0502020204030204"/>
                        </a:defRPr>
                      </a:pPr>
                      <a:r>
                        <a:t>Security, transparency</a:t>
                      </a:r>
                    </a:p>
                  </a:txBody>
                  <a:tcPr>
                    <a:solidFill>
                      <a:srgbClr val="E9EEF8"/>
                    </a:solidFill>
                  </a:tcPr>
                </a:tc>
                <a:tc>
                  <a:txBody>
                    <a:bodyPr/>
                    <a:lstStyle/>
                    <a:p>
                      <a:pPr algn="l">
                        <a:defRPr sz="1050">
                          <a:solidFill>
                            <a:srgbClr val="202B3C"/>
                          </a:solidFill>
                          <a:latin typeface="Calibri" panose="020F0502020204030204"/>
                        </a:defRPr>
                      </a:pPr>
                      <a:r>
                        <a:t>Broader exam platform; not specifically optimized for pre-exam paper leakage detection.</a:t>
                      </a:r>
                    </a:p>
                  </a:txBody>
                  <a:tcPr>
                    <a:solidFill>
                      <a:srgbClr val="E9EEF8"/>
                    </a:solidFill>
                  </a:tcPr>
                </a:tc>
                <a:extLst>
                  <a:ext uri="{0D108BD9-81ED-4DB2-BD59-A6C34878D82A}">
                    <a16:rowId xmlns:a16="http://schemas.microsoft.com/office/drawing/2014/main" val="10002"/>
                  </a:ext>
                </a:extLst>
              </a:tr>
              <a:tr h="886968">
                <a:tc>
                  <a:txBody>
                    <a:bodyPr/>
                    <a:lstStyle/>
                    <a:p>
                      <a:pPr algn="l">
                        <a:defRPr sz="1050">
                          <a:solidFill>
                            <a:srgbClr val="202B3C"/>
                          </a:solidFill>
                          <a:latin typeface="Calibri" panose="020F0502020204030204"/>
                        </a:defRPr>
                      </a:pPr>
                      <a:r>
                        <a:t>Yadav et al. (2025)</a:t>
                      </a:r>
                    </a:p>
                    <a:p>
                      <a:pPr algn="l">
                        <a:defRPr sz="1050">
                          <a:solidFill>
                            <a:srgbClr val="202B3C"/>
                          </a:solidFill>
                          <a:latin typeface="Calibri" panose="020F0502020204030204"/>
                        </a:defRPr>
                      </a:pPr>
                      <a:r>
                        <a:t>SciTePress</a:t>
                      </a:r>
                    </a:p>
                  </a:txBody>
                  <a:tcPr>
                    <a:solidFill>
                      <a:srgbClr val="FFFFFF"/>
                    </a:solidFill>
                  </a:tcPr>
                </a:tc>
                <a:tc>
                  <a:txBody>
                    <a:bodyPr/>
                    <a:lstStyle/>
                    <a:p>
                      <a:pPr algn="l">
                        <a:defRPr sz="1050">
                          <a:solidFill>
                            <a:srgbClr val="202B3C"/>
                          </a:solidFill>
                          <a:latin typeface="Calibri" panose="020F0502020204030204"/>
                        </a:defRPr>
                      </a:pPr>
                      <a:r>
                        <a:t>Smart contracts + RBAC + PDF distribution</a:t>
                      </a:r>
                    </a:p>
                  </a:txBody>
                  <a:tcPr>
                    <a:solidFill>
                      <a:srgbClr val="FFFFFF"/>
                    </a:solidFill>
                  </a:tcPr>
                </a:tc>
                <a:tc>
                  <a:txBody>
                    <a:bodyPr/>
                    <a:lstStyle/>
                    <a:p>
                      <a:pPr algn="l">
                        <a:defRPr sz="1050">
                          <a:solidFill>
                            <a:srgbClr val="202B3C"/>
                          </a:solidFill>
                          <a:latin typeface="Calibri" panose="020F0502020204030204"/>
                        </a:defRPr>
                      </a:pPr>
                      <a:r>
                        <a:t>PDF question papers</a:t>
                      </a:r>
                    </a:p>
                  </a:txBody>
                  <a:tcPr>
                    <a:solidFill>
                      <a:srgbClr val="FFFFFF"/>
                    </a:solidFill>
                  </a:tcPr>
                </a:tc>
                <a:tc>
                  <a:txBody>
                    <a:bodyPr/>
                    <a:lstStyle/>
                    <a:p>
                      <a:pPr algn="l">
                        <a:defRPr sz="1050">
                          <a:solidFill>
                            <a:srgbClr val="202B3C"/>
                          </a:solidFill>
                          <a:latin typeface="Calibri" panose="020F0502020204030204"/>
                        </a:defRPr>
                      </a:pPr>
                      <a:r>
                        <a:t>Access control / auditability</a:t>
                      </a:r>
                    </a:p>
                  </a:txBody>
                  <a:tcPr>
                    <a:solidFill>
                      <a:srgbClr val="FFFFFF"/>
                    </a:solidFill>
                  </a:tcPr>
                </a:tc>
                <a:tc>
                  <a:txBody>
                    <a:bodyPr/>
                    <a:lstStyle/>
                    <a:p>
                      <a:pPr algn="l">
                        <a:defRPr sz="1050">
                          <a:solidFill>
                            <a:srgbClr val="202B3C"/>
                          </a:solidFill>
                          <a:latin typeface="Calibri" panose="020F0502020204030204"/>
                        </a:defRPr>
                      </a:pPr>
                      <a:r>
                        <a:t>Adds role-based security, but leak monitoring outside the platform is not central.</a:t>
                      </a:r>
                    </a:p>
                  </a:txBody>
                  <a:tcPr>
                    <a:solidFill>
                      <a:srgbClr val="FFFFFF"/>
                    </a:solidFill>
                  </a:tcPr>
                </a:tc>
                <a:extLst>
                  <a:ext uri="{0D108BD9-81ED-4DB2-BD59-A6C34878D82A}">
                    <a16:rowId xmlns:a16="http://schemas.microsoft.com/office/drawing/2014/main" val="10003"/>
                  </a:ext>
                </a:extLst>
              </a:tr>
              <a:tr h="886968">
                <a:tc>
                  <a:txBody>
                    <a:bodyPr/>
                    <a:lstStyle/>
                    <a:p>
                      <a:pPr algn="l">
                        <a:defRPr sz="1050">
                          <a:solidFill>
                            <a:srgbClr val="202B3C"/>
                          </a:solidFill>
                          <a:latin typeface="Calibri" panose="020F0502020204030204"/>
                        </a:defRPr>
                      </a:pPr>
                      <a:r>
                        <a:t>Rigan et al. (2025/26)</a:t>
                      </a:r>
                    </a:p>
                    <a:p>
                      <a:pPr algn="l">
                        <a:defRPr sz="1050">
                          <a:solidFill>
                            <a:srgbClr val="202B3C"/>
                          </a:solidFill>
                          <a:latin typeface="Calibri" panose="020F0502020204030204"/>
                        </a:defRPr>
                      </a:pPr>
                      <a:r>
                        <a:t>ASSURE-EXAM</a:t>
                      </a:r>
                    </a:p>
                  </a:txBody>
                  <a:tcPr>
                    <a:solidFill>
                      <a:srgbClr val="E9EEF8"/>
                    </a:solidFill>
                  </a:tcPr>
                </a:tc>
                <a:tc>
                  <a:txBody>
                    <a:bodyPr/>
                    <a:lstStyle/>
                    <a:p>
                      <a:pPr algn="l">
                        <a:defRPr sz="1050">
                          <a:solidFill>
                            <a:srgbClr val="202B3C"/>
                          </a:solidFill>
                          <a:latin typeface="Calibri" panose="020F0502020204030204"/>
                        </a:defRPr>
                      </a:pPr>
                      <a:r>
                        <a:t>Encryption + blockchain + time-lock</a:t>
                      </a:r>
                    </a:p>
                  </a:txBody>
                  <a:tcPr>
                    <a:solidFill>
                      <a:srgbClr val="E9EEF8"/>
                    </a:solidFill>
                  </a:tcPr>
                </a:tc>
                <a:tc>
                  <a:txBody>
                    <a:bodyPr/>
                    <a:lstStyle/>
                    <a:p>
                      <a:pPr algn="l">
                        <a:defRPr sz="1050">
                          <a:solidFill>
                            <a:srgbClr val="202B3C"/>
                          </a:solidFill>
                          <a:latin typeface="Calibri" panose="020F0502020204030204"/>
                        </a:defRPr>
                      </a:pPr>
                      <a:r>
                        <a:t>Exam-paper distribution</a:t>
                      </a:r>
                    </a:p>
                  </a:txBody>
                  <a:tcPr>
                    <a:solidFill>
                      <a:srgbClr val="E9EEF8"/>
                    </a:solidFill>
                  </a:tcPr>
                </a:tc>
                <a:tc>
                  <a:txBody>
                    <a:bodyPr/>
                    <a:lstStyle/>
                    <a:p>
                      <a:pPr algn="l">
                        <a:defRPr sz="1050">
                          <a:solidFill>
                            <a:srgbClr val="202B3C"/>
                          </a:solidFill>
                          <a:latin typeface="Calibri" panose="020F0502020204030204"/>
                        </a:defRPr>
                      </a:pPr>
                      <a:r>
                        <a:t>Prototype performance</a:t>
                      </a:r>
                    </a:p>
                  </a:txBody>
                  <a:tcPr>
                    <a:solidFill>
                      <a:srgbClr val="E9EEF8"/>
                    </a:solidFill>
                  </a:tcPr>
                </a:tc>
                <a:tc>
                  <a:txBody>
                    <a:bodyPr/>
                    <a:lstStyle/>
                    <a:p>
                      <a:pPr algn="l">
                        <a:defRPr sz="1050">
                          <a:solidFill>
                            <a:srgbClr val="202B3C"/>
                          </a:solidFill>
                          <a:latin typeface="Calibri" panose="020F0502020204030204"/>
                        </a:defRPr>
                      </a:pPr>
                      <a:r>
                        <a:t>Very close to the proposed architecture; motivates adding centre-specific variants and online leak tracing.</a:t>
                      </a:r>
                    </a:p>
                  </a:txBody>
                  <a:tcPr>
                    <a:solidFill>
                      <a:srgbClr val="E9EEF8"/>
                    </a:solidFill>
                  </a:tcPr>
                </a:tc>
                <a:extLst>
                  <a:ext uri="{0D108BD9-81ED-4DB2-BD59-A6C34878D82A}">
                    <a16:rowId xmlns:a16="http://schemas.microsoft.com/office/drawing/2014/main" val="10004"/>
                  </a:ext>
                </a:extLst>
              </a:tr>
            </a:tbl>
          </a:graphicData>
        </a:graphic>
      </p:graphicFrame>
      <p:sp>
        <p:nvSpPr>
          <p:cNvPr id="50" name="TextBox 49"/>
          <p:cNvSpPr txBox="1"/>
          <p:nvPr/>
        </p:nvSpPr>
        <p:spPr>
          <a:xfrm>
            <a:off x="594360" y="6053328"/>
            <a:ext cx="10972800" cy="292608"/>
          </a:xfrm>
          <a:prstGeom prst="rect">
            <a:avLst/>
          </a:prstGeom>
          <a:noFill/>
        </p:spPr>
        <p:txBody>
          <a:bodyPr wrap="square" lIns="45720" rIns="45720">
            <a:spAutoFit/>
          </a:bodyPr>
          <a:lstStyle/>
          <a:p>
            <a:r>
              <a:rPr sz="1150" b="1">
                <a:solidFill>
                  <a:srgbClr val="002060"/>
                </a:solidFill>
                <a:latin typeface="Calibri" panose="020F0502020204030204"/>
              </a:rPr>
              <a:t>Research direction identified: secure distribution is well studied; combining time-locked delivery with variant-level leak attribution and public-web monitoring is the proposed extension.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 Box 48"/>
          <p:cNvSpPr txBox="1"/>
          <p:nvPr/>
        </p:nvSpPr>
        <p:spPr>
          <a:xfrm>
            <a:off x="698400" y="1690200"/>
            <a:ext cx="10515600" cy="4351320"/>
          </a:xfrm>
          <a:prstGeom prst="rect">
            <a:avLst/>
          </a:prstGeom>
          <a:noFill/>
          <a:ln w="0">
            <a:noFill/>
          </a:ln>
        </p:spPr>
        <p:txBody>
          <a:bodyPr anchor="t">
            <a:normAutofit/>
          </a:bodyPr>
          <a:lstStyle/>
          <a:p>
            <a:endParaRPr/>
          </a:p>
        </p:txBody>
      </p:sp>
      <p:sp>
        <p:nvSpPr>
          <p:cNvPr id="50" name="PlaceHolder 1"/>
          <p:cNvSpPr>
            <a:spLocks noGrp="1"/>
          </p:cNvSpPr>
          <p:nvPr>
            <p:ph type="title"/>
          </p:nvPr>
        </p:nvSpPr>
        <p:spPr>
          <a:xfrm>
            <a:off x="838080" y="365040"/>
            <a:ext cx="9779040" cy="1325520"/>
          </a:xfrm>
          <a:prstGeom prst="rect">
            <a:avLst/>
          </a:prstGeom>
          <a:noFill/>
          <a:ln w="0">
            <a:noFill/>
          </a:ln>
        </p:spPr>
        <p:txBody>
          <a:bodyPr wrap="square" lIns="91440" tIns="45720" rIns="91440" bIns="45720" anchor="ctr">
            <a:noAutofit/>
          </a:bodyPr>
          <a:lstStyle/>
          <a:p>
            <a:pPr indent="0">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3800" b="1">
                <a:solidFill>
                  <a:srgbClr val="002060"/>
                </a:solidFill>
                <a:latin typeface="Calibri Light" panose="020F0302020204030204"/>
              </a:rPr>
              <a:t>Problem Definition / Problem Statement</a:t>
            </a:r>
            <a:endParaRPr lang="en-US" sz="4400" b="0" u="none" strike="noStrike">
              <a:solidFill>
                <a:srgbClr val="000000"/>
              </a:solidFill>
              <a:effectLst/>
              <a:uFillTx/>
              <a:latin typeface="Calibri Light" panose="020F0302020204030204"/>
            </a:endParaRPr>
          </a:p>
        </p:txBody>
      </p:sp>
      <p:sp>
        <p:nvSpPr>
          <p:cNvPr id="51" name="Date Placeholder 3"/>
          <p:cNvSpPr/>
          <p:nvPr/>
        </p:nvSpPr>
        <p:spPr>
          <a:xfrm>
            <a:off x="266760" y="6558120"/>
            <a:ext cx="2209680" cy="299880"/>
          </a:xfrm>
          <a:prstGeom prst="rect">
            <a:avLst/>
          </a:prstGeom>
          <a:noFill/>
          <a:ln w="0">
            <a:noFill/>
          </a:ln>
        </p:spPr>
        <p:style>
          <a:lnRef idx="0">
            <a:srgbClr val="FFFFFF"/>
          </a:lnRef>
          <a:fillRef idx="0">
            <a:srgbClr val="FFFFFF"/>
          </a:fillRef>
          <a:effectRef idx="0">
            <a:srgbClr val="FFFFFF"/>
          </a:effectRef>
          <a:fontRef idx="minor"/>
        </p:style>
        <p:txBody>
          <a:bodyPr wrap="square" lIns="90000" tIns="46800" rIns="90000" bIns="46800" anchor="ctr">
            <a:normAutofit lnSpcReduction="10000"/>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1400" b="0">
                <a:solidFill>
                  <a:srgbClr val="FFFFFF"/>
                </a:solidFill>
                <a:latin typeface="Georgia" panose="02040502050405020303"/>
              </a:rPr>
              <a:t>06/10/26</a:t>
            </a:r>
            <a:endParaRPr lang="en-US" sz="1200" b="0" u="none" strike="noStrike">
              <a:solidFill>
                <a:srgbClr val="000000"/>
              </a:solidFill>
              <a:effectLst/>
              <a:uFillTx/>
              <a:latin typeface="Calibri" panose="020F0502020204030204"/>
            </a:endParaRPr>
          </a:p>
        </p:txBody>
      </p:sp>
      <p:sp>
        <p:nvSpPr>
          <p:cNvPr id="52" name="Footer Placeholder 4"/>
          <p:cNvSpPr/>
          <p:nvPr/>
        </p:nvSpPr>
        <p:spPr>
          <a:xfrm>
            <a:off x="2859120" y="6492960"/>
            <a:ext cx="6597720" cy="365040"/>
          </a:xfrm>
          <a:prstGeom prst="rect">
            <a:avLst/>
          </a:prstGeom>
          <a:noFill/>
          <a:ln w="0">
            <a:noFill/>
          </a:ln>
        </p:spPr>
        <p:style>
          <a:lnRef idx="0">
            <a:srgbClr val="FFFFFF"/>
          </a:lnRef>
          <a:fillRef idx="0">
            <a:srgbClr val="FFFFFF"/>
          </a:fillRef>
          <a:effectRef idx="0">
            <a:srgbClr val="FFFFFF"/>
          </a:effectRef>
          <a:fontRef idx="minor"/>
        </p:style>
        <p:txBody>
          <a:bodyPr wrap="square" lIns="90000" tIns="46800" rIns="90000" bIns="46800" anchor="ctr">
            <a:norm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1400" b="0">
                <a:solidFill>
                  <a:srgbClr val="FFFFFF"/>
                </a:solidFill>
                <a:latin typeface="Georgia" panose="02040502050405020303"/>
              </a:rPr>
              <a:t>International Institute of Information Technology, Naya Raipur</a:t>
            </a:r>
            <a:endParaRPr lang="en-US" sz="1400" b="0" u="none" strike="noStrike">
              <a:solidFill>
                <a:srgbClr val="000000"/>
              </a:solidFill>
              <a:effectLst/>
              <a:uFillTx/>
              <a:latin typeface="Calibri" panose="020F0502020204030204"/>
            </a:endParaRPr>
          </a:p>
        </p:txBody>
      </p:sp>
      <p:sp>
        <p:nvSpPr>
          <p:cNvPr id="53" name="Slide Number Placeholder 5"/>
          <p:cNvSpPr/>
          <p:nvPr/>
        </p:nvSpPr>
        <p:spPr>
          <a:xfrm>
            <a:off x="9629640" y="6492960"/>
            <a:ext cx="1979640" cy="365040"/>
          </a:xfrm>
          <a:prstGeom prst="rect">
            <a:avLst/>
          </a:prstGeom>
          <a:noFill/>
          <a:ln w="0">
            <a:noFill/>
          </a:ln>
        </p:spPr>
        <p:style>
          <a:lnRef idx="0">
            <a:srgbClr val="FFFFFF"/>
          </a:lnRef>
          <a:fillRef idx="0">
            <a:srgbClr val="FFFFFF"/>
          </a:fillRef>
          <a:effectRef idx="0">
            <a:srgbClr val="FFFFFF"/>
          </a:effectRef>
          <a:fontRef idx="minor"/>
        </p:style>
        <p:txBody>
          <a:bodyPr wrap="square" lIns="90000" tIns="46800" rIns="90000" bIns="46800" anchor="ctr">
            <a:normAutofit/>
          </a:bodyPr>
          <a:lstStyle/>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1400" b="0">
                <a:solidFill>
                  <a:srgbClr val="FFFFFF"/>
                </a:solidFill>
                <a:latin typeface="Georgia" panose="02040502050405020303"/>
              </a:rPr>
              <a:t>6</a:t>
            </a:r>
            <a:endParaRPr lang="en-US" sz="1200" b="0" u="none" strike="noStrike">
              <a:solidFill>
                <a:srgbClr val="000000"/>
              </a:solidFill>
              <a:effectLst/>
              <a:uFillTx/>
              <a:latin typeface="Calibri" panose="020F0502020204030204"/>
            </a:endParaRPr>
          </a:p>
        </p:txBody>
      </p:sp>
      <p:sp>
        <p:nvSpPr>
          <p:cNvPr id="54" name="TextBox 53"/>
          <p:cNvSpPr txBox="1"/>
          <p:nvPr/>
        </p:nvSpPr>
        <p:spPr>
          <a:xfrm>
            <a:off x="868680" y="1783080"/>
            <a:ext cx="10149840" cy="1143000"/>
          </a:xfrm>
          <a:prstGeom prst="rect">
            <a:avLst/>
          </a:prstGeom>
          <a:noFill/>
        </p:spPr>
        <p:txBody>
          <a:bodyPr wrap="square" lIns="45720" rIns="45720">
            <a:spAutoFit/>
          </a:bodyPr>
          <a:lstStyle/>
          <a:p>
            <a:pPr algn="ctr"/>
            <a:r>
              <a:rPr sz="2300" b="1">
                <a:solidFill>
                  <a:srgbClr val="002060"/>
                </a:solidFill>
                <a:latin typeface="Calibri" panose="020F0502020204030204"/>
              </a:rPr>
              <a:t>How can a high-stakes examination paper be distributed digitally to individual centres so that it remains confidential before the exam, is released only at the scheduled time, can be verified as untampered, and can be traced if a copy is leaked online?</a:t>
            </a:r>
          </a:p>
        </p:txBody>
      </p:sp>
      <p:sp>
        <p:nvSpPr>
          <p:cNvPr id="55" name="TextBox 54"/>
          <p:cNvSpPr txBox="1"/>
          <p:nvPr/>
        </p:nvSpPr>
        <p:spPr>
          <a:xfrm>
            <a:off x="1051560" y="3246120"/>
            <a:ext cx="9966960" cy="2331720"/>
          </a:xfrm>
          <a:prstGeom prst="rect">
            <a:avLst/>
          </a:prstGeom>
          <a:noFill/>
        </p:spPr>
        <p:txBody>
          <a:bodyPr wrap="square" lIns="45720" tIns="18288" rIns="45720" bIns="18288">
            <a:spAutoFit/>
          </a:bodyPr>
          <a:lstStyle/>
          <a:p>
            <a:pPr>
              <a:lnSpc>
                <a:spcPct val="105000"/>
              </a:lnSpc>
              <a:spcAft>
                <a:spcPts val="700"/>
              </a:spcAft>
              <a:defRPr sz="1800">
                <a:solidFill>
                  <a:srgbClr val="202B3C"/>
                </a:solidFill>
                <a:latin typeface="Calibri" panose="020F0502020204030204"/>
              </a:defRPr>
            </a:pPr>
            <a:r>
              <a:t>Input: one finalized question paper + centre assignments.</a:t>
            </a:r>
          </a:p>
          <a:p>
            <a:pPr>
              <a:lnSpc>
                <a:spcPct val="105000"/>
              </a:lnSpc>
              <a:spcAft>
                <a:spcPts val="700"/>
              </a:spcAft>
              <a:defRPr sz="1800">
                <a:solidFill>
                  <a:srgbClr val="202B3C"/>
                </a:solidFill>
                <a:latin typeface="Calibri" panose="020F0502020204030204"/>
              </a:defRPr>
            </a:pPr>
            <a:r>
              <a:t>Constraints: confidentiality, integrity, scheduled access, accountability and scalable digital delivery.</a:t>
            </a:r>
          </a:p>
          <a:p>
            <a:pPr>
              <a:lnSpc>
                <a:spcPct val="105000"/>
              </a:lnSpc>
              <a:spcAft>
                <a:spcPts val="700"/>
              </a:spcAft>
              <a:defRPr sz="1800">
                <a:solidFill>
                  <a:srgbClr val="202B3C"/>
                </a:solidFill>
                <a:latin typeface="Calibri" panose="020F0502020204030204"/>
              </a:defRPr>
            </a:pPr>
            <a:r>
              <a:t>Output: an auditable centre-specific paper that becomes decryptable only after the exam-start condition and carries a traceable fingerprint.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PlaceHolder 1"/>
          <p:cNvSpPr>
            <a:spLocks noGrp="1"/>
          </p:cNvSpPr>
          <p:nvPr>
            <p:ph type="title"/>
          </p:nvPr>
        </p:nvSpPr>
        <p:spPr>
          <a:xfrm>
            <a:off x="838080" y="365040"/>
            <a:ext cx="9761760" cy="1325520"/>
          </a:xfrm>
          <a:prstGeom prst="rect">
            <a:avLst/>
          </a:prstGeom>
          <a:noFill/>
          <a:ln w="0">
            <a:noFill/>
          </a:ln>
        </p:spPr>
        <p:txBody>
          <a:bodyPr wrap="square" lIns="91440" tIns="45720" rIns="91440" bIns="45720" anchor="ctr">
            <a:noAutofit/>
          </a:bodyPr>
          <a:lstStyle/>
          <a:p>
            <a:pPr indent="0">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4400" b="1">
                <a:solidFill>
                  <a:srgbClr val="002060"/>
                </a:solidFill>
                <a:latin typeface="Calibri Light" panose="020F0302020204030204"/>
              </a:rPr>
              <a:t>Research Gap</a:t>
            </a:r>
            <a:endParaRPr lang="en-US" sz="4400" b="0" u="none" strike="noStrike">
              <a:solidFill>
                <a:srgbClr val="000000"/>
              </a:solidFill>
              <a:effectLst/>
              <a:uFillTx/>
              <a:latin typeface="Calibri Light" panose="020F0302020204030204"/>
            </a:endParaRPr>
          </a:p>
        </p:txBody>
      </p:sp>
      <p:sp>
        <p:nvSpPr>
          <p:cNvPr id="55" name="Text Box 54"/>
          <p:cNvSpPr txBox="1"/>
          <p:nvPr/>
        </p:nvSpPr>
        <p:spPr>
          <a:xfrm>
            <a:off x="838080" y="1825200"/>
            <a:ext cx="10515600" cy="4351320"/>
          </a:xfrm>
          <a:prstGeom prst="rect">
            <a:avLst/>
          </a:prstGeom>
          <a:noFill/>
          <a:ln w="0">
            <a:noFill/>
          </a:ln>
        </p:spPr>
        <p:txBody>
          <a:bodyPr anchor="t">
            <a:normAutofit/>
          </a:bodyPr>
          <a:lstStyle/>
          <a:p>
            <a:endParaRPr/>
          </a:p>
        </p:txBody>
      </p:sp>
      <p:sp>
        <p:nvSpPr>
          <p:cNvPr id="56" name="Date Placeholder 5"/>
          <p:cNvSpPr/>
          <p:nvPr/>
        </p:nvSpPr>
        <p:spPr>
          <a:xfrm>
            <a:off x="266760" y="6518160"/>
            <a:ext cx="2209680" cy="300240"/>
          </a:xfrm>
          <a:prstGeom prst="rect">
            <a:avLst/>
          </a:prstGeom>
          <a:noFill/>
          <a:ln w="0">
            <a:noFill/>
          </a:ln>
        </p:spPr>
        <p:style>
          <a:lnRef idx="0">
            <a:srgbClr val="FFFFFF"/>
          </a:lnRef>
          <a:fillRef idx="0">
            <a:srgbClr val="FFFFFF"/>
          </a:fillRef>
          <a:effectRef idx="0">
            <a:srgbClr val="FFFFFF"/>
          </a:effectRef>
          <a:fontRef idx="minor"/>
        </p:style>
        <p:txBody>
          <a:bodyPr wrap="square" lIns="90000" tIns="46800" rIns="90000" bIns="46800" anchor="ctr">
            <a:normAutofit lnSpcReduction="10000"/>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1400" b="0">
                <a:solidFill>
                  <a:srgbClr val="FFFFFF"/>
                </a:solidFill>
                <a:latin typeface="Georgia" panose="02040502050405020303"/>
              </a:rPr>
              <a:t>06/10/26</a:t>
            </a:r>
            <a:endParaRPr lang="en-US" sz="1200" b="0" u="none" strike="noStrike">
              <a:solidFill>
                <a:srgbClr val="000000"/>
              </a:solidFill>
              <a:effectLst/>
              <a:uFillTx/>
              <a:latin typeface="Calibri" panose="020F0502020204030204"/>
            </a:endParaRPr>
          </a:p>
        </p:txBody>
      </p:sp>
      <p:sp>
        <p:nvSpPr>
          <p:cNvPr id="57" name="Slide Number Placeholder 6"/>
          <p:cNvSpPr/>
          <p:nvPr/>
        </p:nvSpPr>
        <p:spPr>
          <a:xfrm>
            <a:off x="9607680" y="6453360"/>
            <a:ext cx="1979640" cy="365040"/>
          </a:xfrm>
          <a:prstGeom prst="rect">
            <a:avLst/>
          </a:prstGeom>
          <a:noFill/>
          <a:ln w="0">
            <a:noFill/>
          </a:ln>
        </p:spPr>
        <p:style>
          <a:lnRef idx="0">
            <a:srgbClr val="FFFFFF"/>
          </a:lnRef>
          <a:fillRef idx="0">
            <a:srgbClr val="FFFFFF"/>
          </a:fillRef>
          <a:effectRef idx="0">
            <a:srgbClr val="FFFFFF"/>
          </a:effectRef>
          <a:fontRef idx="minor"/>
        </p:style>
        <p:txBody>
          <a:bodyPr wrap="square" lIns="90000" tIns="46800" rIns="90000" bIns="46800" anchor="ctr">
            <a:normAutofit/>
          </a:bodyPr>
          <a:lstStyle/>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1400" b="0">
                <a:solidFill>
                  <a:srgbClr val="FFFFFF"/>
                </a:solidFill>
                <a:latin typeface="Georgia" panose="02040502050405020303"/>
              </a:rPr>
              <a:t>7</a:t>
            </a:r>
            <a:endParaRPr lang="en-US" sz="1200" b="0" u="none" strike="noStrike">
              <a:solidFill>
                <a:srgbClr val="000000"/>
              </a:solidFill>
              <a:effectLst/>
              <a:uFillTx/>
              <a:latin typeface="Calibri" panose="020F0502020204030204"/>
            </a:endParaRPr>
          </a:p>
        </p:txBody>
      </p:sp>
      <p:sp>
        <p:nvSpPr>
          <p:cNvPr id="58" name="Footer Placeholder 9"/>
          <p:cNvSpPr/>
          <p:nvPr/>
        </p:nvSpPr>
        <p:spPr>
          <a:xfrm>
            <a:off x="2859120" y="6492960"/>
            <a:ext cx="6597720" cy="365040"/>
          </a:xfrm>
          <a:prstGeom prst="rect">
            <a:avLst/>
          </a:prstGeom>
          <a:noFill/>
          <a:ln w="0">
            <a:noFill/>
          </a:ln>
        </p:spPr>
        <p:style>
          <a:lnRef idx="0">
            <a:srgbClr val="FFFFFF"/>
          </a:lnRef>
          <a:fillRef idx="0">
            <a:srgbClr val="FFFFFF"/>
          </a:fillRef>
          <a:effectRef idx="0">
            <a:srgbClr val="FFFFFF"/>
          </a:effectRef>
          <a:fontRef idx="minor"/>
        </p:style>
        <p:txBody>
          <a:bodyPr wrap="square" lIns="90000" tIns="46800" rIns="90000" bIns="46800" anchor="ctr">
            <a:norm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1400" b="0">
                <a:solidFill>
                  <a:srgbClr val="FFFFFF"/>
                </a:solidFill>
                <a:latin typeface="Georgia" panose="02040502050405020303"/>
              </a:rPr>
              <a:t>International Institute of Information Technology, Naya Raipur</a:t>
            </a:r>
            <a:endParaRPr lang="en-US" sz="1400" b="0" u="none" strike="noStrike">
              <a:solidFill>
                <a:srgbClr val="000000"/>
              </a:solidFill>
              <a:effectLst/>
              <a:uFillTx/>
              <a:latin typeface="Calibri" panose="020F0502020204030204"/>
            </a:endParaRPr>
          </a:p>
        </p:txBody>
      </p:sp>
      <p:sp>
        <p:nvSpPr>
          <p:cNvPr id="59" name="TextBox 58"/>
          <p:cNvSpPr txBox="1"/>
          <p:nvPr/>
        </p:nvSpPr>
        <p:spPr>
          <a:xfrm>
            <a:off x="914400" y="1737360"/>
            <a:ext cx="10241280" cy="2523490"/>
          </a:xfrm>
          <a:prstGeom prst="rect">
            <a:avLst/>
          </a:prstGeom>
          <a:noFill/>
        </p:spPr>
        <p:txBody>
          <a:bodyPr wrap="square" lIns="45720" tIns="18288" rIns="45720" bIns="18288">
            <a:spAutoFit/>
          </a:bodyPr>
          <a:lstStyle/>
          <a:p>
            <a:pPr>
              <a:lnSpc>
                <a:spcPct val="105000"/>
              </a:lnSpc>
              <a:spcAft>
                <a:spcPts val="700"/>
              </a:spcAft>
              <a:defRPr sz="1800" b="1">
                <a:solidFill>
                  <a:srgbClr val="202B3C"/>
                </a:solidFill>
                <a:latin typeface="Calibri" panose="020F0502020204030204"/>
              </a:defRPr>
            </a:pPr>
            <a:r>
              <a:rPr sz="1700" b="0">
                <a:latin typeface="Arial" panose="020B0604020202020204" pitchFamily="34" charset="0"/>
                <a:cs typeface="Arial" panose="020B0604020202020204" pitchFamily="34" charset="0"/>
              </a:rPr>
              <a:t>Gap 1 — No end-to-end security loop</a:t>
            </a:r>
          </a:p>
          <a:p>
            <a:pPr lvl="1"/>
            <a:r>
              <a:rPr sz="1400"/>
              <a:t>Existing work addresses secure distribution, paper variants, or watermark tracing separately; none combines all three.</a:t>
            </a:r>
          </a:p>
          <a:p>
            <a:pPr lvl="1"/>
            <a:endParaRPr sz="1400"/>
          </a:p>
          <a:p>
            <a:r>
              <a:rPr sz="1700"/>
              <a:t>Gap 2 — Leak discovery is missing</a:t>
            </a:r>
          </a:p>
          <a:p>
            <a:endParaRPr sz="1700"/>
          </a:p>
          <a:p>
            <a:pPr lvl="1"/>
            <a:r>
              <a:rPr sz="1400"/>
              <a:t>Watermarking can trace a known leak, but existing work does not actively discover leaked copies on public platforms.</a:t>
            </a:r>
          </a:p>
          <a:p>
            <a:pPr lvl="1"/>
            <a:endParaRPr sz="1400"/>
          </a:p>
          <a:p>
            <a:r>
              <a:rPr sz="1700"/>
              <a:t>Gap 3 — Reduced custody is not experimentally validated</a:t>
            </a:r>
          </a:p>
          <a:p>
            <a:endParaRPr sz="1700"/>
          </a:p>
          <a:p>
            <a:pPr lvl="1"/>
            <a:r>
              <a:rPr sz="1400"/>
              <a:t>The board → centre model is proposed conceptually; this project will implement and benchmark the reduced-hop workflow.</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Text Box 58"/>
          <p:cNvSpPr txBox="1"/>
          <p:nvPr/>
        </p:nvSpPr>
        <p:spPr>
          <a:xfrm>
            <a:off x="838080" y="1825200"/>
            <a:ext cx="10515600" cy="4351320"/>
          </a:xfrm>
          <a:prstGeom prst="rect">
            <a:avLst/>
          </a:prstGeom>
          <a:noFill/>
          <a:ln w="0">
            <a:noFill/>
          </a:ln>
        </p:spPr>
        <p:txBody>
          <a:bodyPr anchor="t">
            <a:normAutofit/>
          </a:bodyPr>
          <a:lstStyle/>
          <a:p>
            <a:endParaRPr/>
          </a:p>
        </p:txBody>
      </p:sp>
      <p:sp>
        <p:nvSpPr>
          <p:cNvPr id="60" name="PlaceHolder 1"/>
          <p:cNvSpPr>
            <a:spLocks noGrp="1"/>
          </p:cNvSpPr>
          <p:nvPr>
            <p:ph type="title"/>
          </p:nvPr>
        </p:nvSpPr>
        <p:spPr>
          <a:xfrm>
            <a:off x="838080" y="365040"/>
            <a:ext cx="10515600" cy="1325520"/>
          </a:xfrm>
          <a:prstGeom prst="rect">
            <a:avLst/>
          </a:prstGeom>
          <a:noFill/>
          <a:ln w="0">
            <a:noFill/>
          </a:ln>
        </p:spPr>
        <p:txBody>
          <a:bodyPr wrap="square" lIns="91440" tIns="45720" rIns="91440" bIns="45720" anchor="ctr">
            <a:noAutofit/>
          </a:bodyPr>
          <a:lstStyle/>
          <a:p>
            <a:pPr indent="0">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4400" b="1">
                <a:solidFill>
                  <a:srgbClr val="002060"/>
                </a:solidFill>
                <a:latin typeface="Calibri Light" panose="020F0302020204030204"/>
              </a:rPr>
              <a:t>Objectives of the Project</a:t>
            </a:r>
            <a:endParaRPr lang="en-US" sz="4400" b="0" u="none" strike="noStrike">
              <a:solidFill>
                <a:srgbClr val="000000"/>
              </a:solidFill>
              <a:effectLst/>
              <a:uFillTx/>
              <a:latin typeface="Calibri Light" panose="020F0302020204030204"/>
            </a:endParaRPr>
          </a:p>
        </p:txBody>
      </p:sp>
      <p:sp>
        <p:nvSpPr>
          <p:cNvPr id="61" name="Date Placeholder 3"/>
          <p:cNvSpPr/>
          <p:nvPr/>
        </p:nvSpPr>
        <p:spPr>
          <a:xfrm>
            <a:off x="266760" y="6558120"/>
            <a:ext cx="2209680" cy="299880"/>
          </a:xfrm>
          <a:prstGeom prst="rect">
            <a:avLst/>
          </a:prstGeom>
          <a:noFill/>
          <a:ln w="0">
            <a:noFill/>
          </a:ln>
        </p:spPr>
        <p:style>
          <a:lnRef idx="0">
            <a:srgbClr val="FFFFFF"/>
          </a:lnRef>
          <a:fillRef idx="0">
            <a:srgbClr val="FFFFFF"/>
          </a:fillRef>
          <a:effectRef idx="0">
            <a:srgbClr val="FFFFFF"/>
          </a:effectRef>
          <a:fontRef idx="minor"/>
        </p:style>
        <p:txBody>
          <a:bodyPr wrap="square" lIns="90000" tIns="46800" rIns="90000" bIns="46800" anchor="ctr">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1400" b="0">
                <a:solidFill>
                  <a:srgbClr val="FFFFFF"/>
                </a:solidFill>
                <a:latin typeface="Georgia" panose="02040502050405020303"/>
              </a:rPr>
              <a:t>06/10/26</a:t>
            </a:r>
            <a:endParaRPr lang="en-US" sz="1200" b="0" u="none" strike="noStrike">
              <a:solidFill>
                <a:srgbClr val="000000"/>
              </a:solidFill>
              <a:effectLst/>
              <a:uFillTx/>
              <a:latin typeface="Calibri" panose="020F0502020204030204"/>
            </a:endParaRPr>
          </a:p>
        </p:txBody>
      </p:sp>
      <p:sp>
        <p:nvSpPr>
          <p:cNvPr id="62" name="Footer Placeholder 4"/>
          <p:cNvSpPr/>
          <p:nvPr/>
        </p:nvSpPr>
        <p:spPr>
          <a:xfrm>
            <a:off x="2859120" y="6492960"/>
            <a:ext cx="6597720" cy="365040"/>
          </a:xfrm>
          <a:prstGeom prst="rect">
            <a:avLst/>
          </a:prstGeom>
          <a:noFill/>
          <a:ln w="0">
            <a:noFill/>
          </a:ln>
        </p:spPr>
        <p:style>
          <a:lnRef idx="0">
            <a:srgbClr val="FFFFFF"/>
          </a:lnRef>
          <a:fillRef idx="0">
            <a:srgbClr val="FFFFFF"/>
          </a:fillRef>
          <a:effectRef idx="0">
            <a:srgbClr val="FFFFFF"/>
          </a:effectRef>
          <a:fontRef idx="minor"/>
        </p:style>
        <p:txBody>
          <a:bodyPr wrap="square" lIns="90000" tIns="46800" rIns="90000" bIns="46800" anchor="ctr">
            <a:norm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1400" b="0">
                <a:solidFill>
                  <a:srgbClr val="FFFFFF"/>
                </a:solidFill>
                <a:latin typeface="Georgia" panose="02040502050405020303"/>
              </a:rPr>
              <a:t>International Institute of Information Technology, Naya Raipur</a:t>
            </a:r>
            <a:endParaRPr lang="en-US" sz="1400" b="0" u="none" strike="noStrike">
              <a:solidFill>
                <a:srgbClr val="000000"/>
              </a:solidFill>
              <a:effectLst/>
              <a:uFillTx/>
              <a:latin typeface="Calibri" panose="020F0502020204030204"/>
            </a:endParaRPr>
          </a:p>
        </p:txBody>
      </p:sp>
      <p:sp>
        <p:nvSpPr>
          <p:cNvPr id="63" name="Slide Number Placeholder 5"/>
          <p:cNvSpPr/>
          <p:nvPr/>
        </p:nvSpPr>
        <p:spPr>
          <a:xfrm>
            <a:off x="9629640" y="6492960"/>
            <a:ext cx="1979640" cy="365040"/>
          </a:xfrm>
          <a:prstGeom prst="rect">
            <a:avLst/>
          </a:prstGeom>
          <a:noFill/>
          <a:ln w="0">
            <a:noFill/>
          </a:ln>
        </p:spPr>
        <p:style>
          <a:lnRef idx="0">
            <a:srgbClr val="FFFFFF"/>
          </a:lnRef>
          <a:fillRef idx="0">
            <a:srgbClr val="FFFFFF"/>
          </a:fillRef>
          <a:effectRef idx="0">
            <a:srgbClr val="FFFFFF"/>
          </a:effectRef>
          <a:fontRef idx="minor"/>
        </p:style>
        <p:txBody>
          <a:bodyPr wrap="square" lIns="90000" tIns="46800" rIns="90000" bIns="46800" anchor="ctr">
            <a:normAutofit/>
          </a:bodyPr>
          <a:lstStyle/>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1400" b="0">
                <a:solidFill>
                  <a:srgbClr val="FFFFFF"/>
                </a:solidFill>
                <a:latin typeface="Georgia" panose="02040502050405020303"/>
              </a:rPr>
              <a:t>8</a:t>
            </a:r>
            <a:endParaRPr lang="en-US" sz="1200" b="0" u="none" strike="noStrike">
              <a:solidFill>
                <a:srgbClr val="000000"/>
              </a:solidFill>
              <a:effectLst/>
              <a:uFillTx/>
              <a:latin typeface="Calibri" panose="020F0502020204030204"/>
            </a:endParaRPr>
          </a:p>
        </p:txBody>
      </p:sp>
      <p:sp>
        <p:nvSpPr>
          <p:cNvPr id="64" name="TextBox 63"/>
          <p:cNvSpPr txBox="1"/>
          <p:nvPr/>
        </p:nvSpPr>
        <p:spPr>
          <a:xfrm>
            <a:off x="914400" y="1691640"/>
            <a:ext cx="10149840" cy="2897505"/>
          </a:xfrm>
          <a:prstGeom prst="rect">
            <a:avLst/>
          </a:prstGeom>
          <a:noFill/>
        </p:spPr>
        <p:txBody>
          <a:bodyPr wrap="square" lIns="45720" tIns="18288" rIns="45720" bIns="18288">
            <a:spAutoFit/>
          </a:bodyPr>
          <a:lstStyle/>
          <a:p>
            <a:pPr marL="285750" indent="-285750">
              <a:lnSpc>
                <a:spcPct val="105000"/>
              </a:lnSpc>
              <a:spcAft>
                <a:spcPts val="700"/>
              </a:spcAft>
              <a:buFont typeface="Arial" panose="020B0604020202020204" pitchFamily="34" charset="0"/>
              <a:buChar char="•"/>
              <a:defRPr sz="1800">
                <a:solidFill>
                  <a:srgbClr val="202B3C"/>
                </a:solidFill>
                <a:latin typeface="Calibri" panose="020F0502020204030204"/>
              </a:defRPr>
            </a:pPr>
            <a:r>
              <a:t>Design a digital board → centre examination-paper distribution workflow.</a:t>
            </a:r>
          </a:p>
          <a:p>
            <a:pPr marL="285750" indent="-285750">
              <a:lnSpc>
                <a:spcPct val="105000"/>
              </a:lnSpc>
              <a:spcAft>
                <a:spcPts val="700"/>
              </a:spcAft>
              <a:buFont typeface="Arial" panose="020B0604020202020204" pitchFamily="34" charset="0"/>
              <a:buChar char="•"/>
              <a:defRPr sz="1800">
                <a:solidFill>
                  <a:srgbClr val="202B3C"/>
                </a:solidFill>
                <a:latin typeface="Calibri" panose="020F0502020204030204"/>
              </a:defRPr>
            </a:pPr>
            <a:r>
              <a:t>Generate multiple centre-specific variants of a common examination paper.</a:t>
            </a:r>
          </a:p>
          <a:p>
            <a:pPr marL="285750" indent="-285750">
              <a:lnSpc>
                <a:spcPct val="105000"/>
              </a:lnSpc>
              <a:spcAft>
                <a:spcPts val="700"/>
              </a:spcAft>
              <a:buFont typeface="Arial" panose="020B0604020202020204" pitchFamily="34" charset="0"/>
              <a:buChar char="•"/>
              <a:defRPr sz="1800">
                <a:solidFill>
                  <a:srgbClr val="202B3C"/>
                </a:solidFill>
                <a:latin typeface="Calibri" panose="020F0502020204030204"/>
              </a:defRPr>
            </a:pPr>
            <a:r>
              <a:t>Encrypt each variant and register its cryptographic hash and metadata on a blockchain.</a:t>
            </a:r>
          </a:p>
          <a:p>
            <a:pPr marL="285750" indent="-285750">
              <a:lnSpc>
                <a:spcPct val="105000"/>
              </a:lnSpc>
              <a:spcAft>
                <a:spcPts val="700"/>
              </a:spcAft>
              <a:buFont typeface="Arial" panose="020B0604020202020204" pitchFamily="34" charset="0"/>
              <a:buChar char="•"/>
              <a:defRPr sz="1800">
                <a:solidFill>
                  <a:srgbClr val="202B3C"/>
                </a:solidFill>
                <a:latin typeface="Calibri" panose="020F0502020204030204"/>
              </a:defRPr>
            </a:pPr>
            <a:r>
              <a:t>Implement smart-contract-based time-locking so decryption is permitted only after the exam-start timestamp.</a:t>
            </a:r>
          </a:p>
          <a:p>
            <a:pPr marL="285750" indent="-285750">
              <a:lnSpc>
                <a:spcPct val="105000"/>
              </a:lnSpc>
              <a:spcAft>
                <a:spcPts val="700"/>
              </a:spcAft>
              <a:buFont typeface="Arial" panose="020B0604020202020204" pitchFamily="34" charset="0"/>
              <a:buChar char="•"/>
              <a:defRPr sz="1800">
                <a:solidFill>
                  <a:srgbClr val="202B3C"/>
                </a:solidFill>
                <a:latin typeface="Calibri" panose="020F0502020204030204"/>
              </a:defRPr>
            </a:pPr>
            <a:r>
              <a:t>Build a centre-facing interface for authenticated retrieval and local printing.</a:t>
            </a:r>
          </a:p>
          <a:p>
            <a:pPr marL="285750" indent="-285750">
              <a:lnSpc>
                <a:spcPct val="105000"/>
              </a:lnSpc>
              <a:spcAft>
                <a:spcPts val="700"/>
              </a:spcAft>
              <a:buFont typeface="Arial" panose="020B0604020202020204" pitchFamily="34" charset="0"/>
              <a:buChar char="•"/>
              <a:defRPr sz="1800">
                <a:solidFill>
                  <a:srgbClr val="202B3C"/>
                </a:solidFill>
                <a:latin typeface="Calibri" panose="020F0502020204030204"/>
              </a:defRPr>
            </a:pPr>
            <a:r>
              <a:t>Add watermark/fingerprint-based leak attribution and a public-web monitoring module.</a:t>
            </a:r>
          </a:p>
          <a:p>
            <a:pPr marL="285750" indent="-285750">
              <a:lnSpc>
                <a:spcPct val="105000"/>
              </a:lnSpc>
              <a:spcAft>
                <a:spcPts val="700"/>
              </a:spcAft>
              <a:buFont typeface="Arial" panose="020B0604020202020204" pitchFamily="34" charset="0"/>
              <a:buChar char="•"/>
              <a:defRPr sz="1800">
                <a:solidFill>
                  <a:srgbClr val="202B3C"/>
                </a:solidFill>
                <a:latin typeface="Calibri" panose="020F0502020204030204"/>
              </a:defRPr>
            </a:pPr>
            <a:r>
              <a:t>Evaluate confidentiality, integrity, release timing, traceability and detection performance.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PlaceHolder 1"/>
          <p:cNvSpPr>
            <a:spLocks noGrp="1"/>
          </p:cNvSpPr>
          <p:nvPr>
            <p:ph type="title"/>
          </p:nvPr>
        </p:nvSpPr>
        <p:spPr>
          <a:xfrm>
            <a:off x="838080" y="365040"/>
            <a:ext cx="9761760" cy="1325520"/>
          </a:xfrm>
          <a:prstGeom prst="rect">
            <a:avLst/>
          </a:prstGeom>
          <a:noFill/>
          <a:ln w="0">
            <a:noFill/>
          </a:ln>
        </p:spPr>
        <p:txBody>
          <a:bodyPr wrap="square" lIns="91440" tIns="45720" rIns="91440" bIns="45720" anchor="ctr">
            <a:noAutofit/>
          </a:bodyPr>
          <a:lstStyle/>
          <a:p>
            <a:pPr indent="0">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3800" b="1">
                <a:solidFill>
                  <a:srgbClr val="002060"/>
                </a:solidFill>
                <a:latin typeface="Calibri Light" panose="020F0302020204030204"/>
              </a:rPr>
              <a:t>Proposed Framework / Methodology</a:t>
            </a:r>
            <a:endParaRPr lang="en-US" sz="4400" b="0" u="none" strike="noStrike">
              <a:solidFill>
                <a:srgbClr val="000000"/>
              </a:solidFill>
              <a:effectLst/>
              <a:uFillTx/>
              <a:latin typeface="Calibri Light" panose="020F0302020204030204"/>
            </a:endParaRPr>
          </a:p>
        </p:txBody>
      </p:sp>
      <p:sp>
        <p:nvSpPr>
          <p:cNvPr id="66" name="Date Placeholder 5"/>
          <p:cNvSpPr/>
          <p:nvPr/>
        </p:nvSpPr>
        <p:spPr>
          <a:xfrm>
            <a:off x="266760" y="6518160"/>
            <a:ext cx="2209680" cy="300240"/>
          </a:xfrm>
          <a:prstGeom prst="rect">
            <a:avLst/>
          </a:prstGeom>
          <a:noFill/>
          <a:ln w="0">
            <a:noFill/>
          </a:ln>
        </p:spPr>
        <p:style>
          <a:lnRef idx="0">
            <a:srgbClr val="FFFFFF"/>
          </a:lnRef>
          <a:fillRef idx="0">
            <a:srgbClr val="FFFFFF"/>
          </a:fillRef>
          <a:effectRef idx="0">
            <a:srgbClr val="FFFFFF"/>
          </a:effectRef>
          <a:fontRef idx="minor"/>
        </p:style>
        <p:txBody>
          <a:bodyPr wrap="square" lIns="90000" tIns="46800" rIns="90000" bIns="46800" anchor="ctr">
            <a:normAutofit lnSpcReduction="10000"/>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1400" b="0">
                <a:solidFill>
                  <a:srgbClr val="FFFFFF"/>
                </a:solidFill>
                <a:latin typeface="Georgia" panose="02040502050405020303"/>
              </a:rPr>
              <a:t>06/10/26</a:t>
            </a:r>
            <a:endParaRPr lang="en-US" sz="1200" b="0" u="none" strike="noStrike">
              <a:solidFill>
                <a:srgbClr val="000000"/>
              </a:solidFill>
              <a:effectLst/>
              <a:uFillTx/>
              <a:latin typeface="Calibri" panose="020F0502020204030204"/>
            </a:endParaRPr>
          </a:p>
        </p:txBody>
      </p:sp>
      <p:sp>
        <p:nvSpPr>
          <p:cNvPr id="67" name="Slide Number Placeholder 6"/>
          <p:cNvSpPr/>
          <p:nvPr/>
        </p:nvSpPr>
        <p:spPr>
          <a:xfrm>
            <a:off x="9607680" y="6453360"/>
            <a:ext cx="1979640" cy="365040"/>
          </a:xfrm>
          <a:prstGeom prst="rect">
            <a:avLst/>
          </a:prstGeom>
          <a:noFill/>
          <a:ln w="0">
            <a:noFill/>
          </a:ln>
        </p:spPr>
        <p:style>
          <a:lnRef idx="0">
            <a:srgbClr val="FFFFFF"/>
          </a:lnRef>
          <a:fillRef idx="0">
            <a:srgbClr val="FFFFFF"/>
          </a:fillRef>
          <a:effectRef idx="0">
            <a:srgbClr val="FFFFFF"/>
          </a:effectRef>
          <a:fontRef idx="minor"/>
        </p:style>
        <p:txBody>
          <a:bodyPr wrap="square" lIns="90000" tIns="46800" rIns="90000" bIns="46800" anchor="ctr">
            <a:normAutofit/>
          </a:bodyPr>
          <a:lstStyle/>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1400" b="0">
                <a:solidFill>
                  <a:srgbClr val="FFFFFF"/>
                </a:solidFill>
                <a:latin typeface="Georgia" panose="02040502050405020303"/>
              </a:rPr>
              <a:t>9</a:t>
            </a:r>
            <a:endParaRPr lang="en-US" sz="1200" b="0" u="none" strike="noStrike">
              <a:solidFill>
                <a:srgbClr val="000000"/>
              </a:solidFill>
              <a:effectLst/>
              <a:uFillTx/>
              <a:latin typeface="Calibri" panose="020F0502020204030204"/>
            </a:endParaRPr>
          </a:p>
        </p:txBody>
      </p:sp>
      <p:sp>
        <p:nvSpPr>
          <p:cNvPr id="68" name="Footer Placeholder 9"/>
          <p:cNvSpPr/>
          <p:nvPr/>
        </p:nvSpPr>
        <p:spPr>
          <a:xfrm>
            <a:off x="2859120" y="6492960"/>
            <a:ext cx="6597720" cy="365040"/>
          </a:xfrm>
          <a:prstGeom prst="rect">
            <a:avLst/>
          </a:prstGeom>
          <a:noFill/>
          <a:ln w="0">
            <a:noFill/>
          </a:ln>
        </p:spPr>
        <p:style>
          <a:lnRef idx="0">
            <a:srgbClr val="FFFFFF"/>
          </a:lnRef>
          <a:fillRef idx="0">
            <a:srgbClr val="FFFFFF"/>
          </a:fillRef>
          <a:effectRef idx="0">
            <a:srgbClr val="FFFFFF"/>
          </a:effectRef>
          <a:fontRef idx="minor"/>
        </p:style>
        <p:txBody>
          <a:bodyPr wrap="square" lIns="90000" tIns="46800" rIns="90000" bIns="46800" anchor="ctr">
            <a:norm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1400" b="0">
                <a:solidFill>
                  <a:srgbClr val="FFFFFF"/>
                </a:solidFill>
                <a:latin typeface="Georgia" panose="02040502050405020303"/>
              </a:rPr>
              <a:t>International Institute of Information Technology, Naya Raipur</a:t>
            </a:r>
            <a:endParaRPr lang="en-US" sz="1400" b="0" u="none" strike="noStrike">
              <a:solidFill>
                <a:srgbClr val="000000"/>
              </a:solidFill>
              <a:effectLst/>
              <a:uFillTx/>
              <a:latin typeface="Calibri" panose="020F0502020204030204"/>
            </a:endParaRPr>
          </a:p>
        </p:txBody>
      </p:sp>
      <p:sp>
        <p:nvSpPr>
          <p:cNvPr id="69" name="Rounded Rectangle 68"/>
          <p:cNvSpPr/>
          <p:nvPr/>
        </p:nvSpPr>
        <p:spPr>
          <a:xfrm>
            <a:off x="347472" y="1234440"/>
            <a:ext cx="1353312" cy="1353312"/>
          </a:xfrm>
          <a:prstGeom prst="roundRect">
            <a:avLst/>
          </a:prstGeom>
          <a:solidFill>
            <a:srgbClr val="E9EEF8"/>
          </a:solidFill>
          <a:ln w="15240">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Oval 69"/>
          <p:cNvSpPr/>
          <p:nvPr/>
        </p:nvSpPr>
        <p:spPr>
          <a:xfrm>
            <a:off x="822960" y="1344168"/>
            <a:ext cx="384048" cy="384048"/>
          </a:xfrm>
          <a:prstGeom prst="ellipse">
            <a:avLst/>
          </a:prstGeom>
          <a:solidFill>
            <a:srgbClr val="002060"/>
          </a:solidFill>
          <a:ln>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822960" y="1371600"/>
            <a:ext cx="384048" cy="256032"/>
          </a:xfrm>
          <a:prstGeom prst="rect">
            <a:avLst/>
          </a:prstGeom>
          <a:noFill/>
        </p:spPr>
        <p:txBody>
          <a:bodyPr wrap="square" lIns="45720" rIns="45720">
            <a:spAutoFit/>
          </a:bodyPr>
          <a:lstStyle/>
          <a:p>
            <a:pPr algn="ctr"/>
            <a:r>
              <a:rPr sz="1100" b="1">
                <a:solidFill>
                  <a:srgbClr val="FFFFFF"/>
                </a:solidFill>
                <a:latin typeface="Calibri" panose="020F0502020204030204"/>
              </a:rPr>
              <a:t>1</a:t>
            </a:r>
          </a:p>
        </p:txBody>
      </p:sp>
      <p:sp>
        <p:nvSpPr>
          <p:cNvPr id="72" name="TextBox 71"/>
          <p:cNvSpPr txBox="1"/>
          <p:nvPr/>
        </p:nvSpPr>
        <p:spPr>
          <a:xfrm>
            <a:off x="420624" y="1764792"/>
            <a:ext cx="1207008" cy="329184"/>
          </a:xfrm>
          <a:prstGeom prst="rect">
            <a:avLst/>
          </a:prstGeom>
          <a:noFill/>
        </p:spPr>
        <p:txBody>
          <a:bodyPr wrap="square" lIns="45720" rIns="45720">
            <a:spAutoFit/>
          </a:bodyPr>
          <a:lstStyle/>
          <a:p>
            <a:pPr algn="ctr"/>
            <a:r>
              <a:rPr sz="1300" b="1">
                <a:solidFill>
                  <a:srgbClr val="002060"/>
                </a:solidFill>
                <a:latin typeface="Calibri" panose="020F0502020204030204"/>
              </a:rPr>
              <a:t>Paper creation</a:t>
            </a:r>
          </a:p>
        </p:txBody>
      </p:sp>
      <p:sp>
        <p:nvSpPr>
          <p:cNvPr id="73" name="TextBox 72"/>
          <p:cNvSpPr txBox="1"/>
          <p:nvPr/>
        </p:nvSpPr>
        <p:spPr>
          <a:xfrm>
            <a:off x="420624" y="2130552"/>
            <a:ext cx="1207008" cy="384048"/>
          </a:xfrm>
          <a:prstGeom prst="rect">
            <a:avLst/>
          </a:prstGeom>
          <a:noFill/>
        </p:spPr>
        <p:txBody>
          <a:bodyPr wrap="square" lIns="45720" rIns="45720">
            <a:spAutoFit/>
          </a:bodyPr>
          <a:lstStyle/>
          <a:p>
            <a:pPr algn="ctr"/>
            <a:r>
              <a:rPr sz="1050" b="0">
                <a:solidFill>
                  <a:srgbClr val="202B3C"/>
                </a:solidFill>
                <a:latin typeface="Calibri" panose="020F0502020204030204"/>
              </a:rPr>
              <a:t>Mock / authorized
exam paper</a:t>
            </a:r>
          </a:p>
        </p:txBody>
      </p:sp>
      <p:sp>
        <p:nvSpPr>
          <p:cNvPr id="74" name="Right Arrow 73"/>
          <p:cNvSpPr/>
          <p:nvPr/>
        </p:nvSpPr>
        <p:spPr>
          <a:xfrm>
            <a:off x="1709928" y="1746504"/>
            <a:ext cx="82296" cy="256032"/>
          </a:xfrm>
          <a:prstGeom prst="rightArrow">
            <a:avLst/>
          </a:prstGeom>
          <a:solidFill>
            <a:srgbClr val="002060"/>
          </a:solidFill>
          <a:ln>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Rounded Rectangle 74"/>
          <p:cNvSpPr/>
          <p:nvPr/>
        </p:nvSpPr>
        <p:spPr>
          <a:xfrm>
            <a:off x="1801368" y="1234440"/>
            <a:ext cx="1353312" cy="1353312"/>
          </a:xfrm>
          <a:prstGeom prst="roundRect">
            <a:avLst/>
          </a:prstGeom>
          <a:solidFill>
            <a:srgbClr val="E9EEF8"/>
          </a:solidFill>
          <a:ln w="15240">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Oval 75"/>
          <p:cNvSpPr/>
          <p:nvPr/>
        </p:nvSpPr>
        <p:spPr>
          <a:xfrm>
            <a:off x="2276856" y="1344168"/>
            <a:ext cx="384048" cy="384048"/>
          </a:xfrm>
          <a:prstGeom prst="ellipse">
            <a:avLst/>
          </a:prstGeom>
          <a:solidFill>
            <a:srgbClr val="002060"/>
          </a:solidFill>
          <a:ln>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2276856" y="1371600"/>
            <a:ext cx="384048" cy="256032"/>
          </a:xfrm>
          <a:prstGeom prst="rect">
            <a:avLst/>
          </a:prstGeom>
          <a:noFill/>
        </p:spPr>
        <p:txBody>
          <a:bodyPr wrap="square" lIns="45720" rIns="45720">
            <a:spAutoFit/>
          </a:bodyPr>
          <a:lstStyle/>
          <a:p>
            <a:pPr algn="ctr"/>
            <a:r>
              <a:rPr sz="1100" b="1">
                <a:solidFill>
                  <a:srgbClr val="FFFFFF"/>
                </a:solidFill>
                <a:latin typeface="Calibri" panose="020F0502020204030204"/>
              </a:rPr>
              <a:t>2</a:t>
            </a:r>
          </a:p>
        </p:txBody>
      </p:sp>
      <p:sp>
        <p:nvSpPr>
          <p:cNvPr id="78" name="TextBox 77"/>
          <p:cNvSpPr txBox="1"/>
          <p:nvPr/>
        </p:nvSpPr>
        <p:spPr>
          <a:xfrm>
            <a:off x="1874520" y="1764792"/>
            <a:ext cx="1207008" cy="329184"/>
          </a:xfrm>
          <a:prstGeom prst="rect">
            <a:avLst/>
          </a:prstGeom>
          <a:noFill/>
        </p:spPr>
        <p:txBody>
          <a:bodyPr wrap="square" lIns="45720" rIns="45720">
            <a:spAutoFit/>
          </a:bodyPr>
          <a:lstStyle/>
          <a:p>
            <a:pPr algn="ctr"/>
            <a:r>
              <a:rPr sz="1300" b="1">
                <a:solidFill>
                  <a:srgbClr val="002060"/>
                </a:solidFill>
                <a:latin typeface="Calibri" panose="020F0502020204030204"/>
              </a:rPr>
              <a:t>Variant engine</a:t>
            </a:r>
          </a:p>
        </p:txBody>
      </p:sp>
      <p:sp>
        <p:nvSpPr>
          <p:cNvPr id="79" name="TextBox 78"/>
          <p:cNvSpPr txBox="1"/>
          <p:nvPr/>
        </p:nvSpPr>
        <p:spPr>
          <a:xfrm>
            <a:off x="1874520" y="2130552"/>
            <a:ext cx="1207008" cy="384048"/>
          </a:xfrm>
          <a:prstGeom prst="rect">
            <a:avLst/>
          </a:prstGeom>
          <a:noFill/>
        </p:spPr>
        <p:txBody>
          <a:bodyPr wrap="square" lIns="45720" rIns="45720">
            <a:spAutoFit/>
          </a:bodyPr>
          <a:lstStyle/>
          <a:p>
            <a:pPr algn="ctr"/>
            <a:r>
              <a:rPr sz="1050" b="0">
                <a:solidFill>
                  <a:srgbClr val="202B3C"/>
                </a:solidFill>
                <a:latin typeface="Calibri" panose="020F0502020204030204"/>
              </a:rPr>
              <a:t>Shuffle options +
centre fingerprint</a:t>
            </a:r>
          </a:p>
        </p:txBody>
      </p:sp>
      <p:sp>
        <p:nvSpPr>
          <p:cNvPr id="80" name="Right Arrow 79"/>
          <p:cNvSpPr/>
          <p:nvPr/>
        </p:nvSpPr>
        <p:spPr>
          <a:xfrm>
            <a:off x="3163824" y="1746504"/>
            <a:ext cx="82296" cy="256032"/>
          </a:xfrm>
          <a:prstGeom prst="rightArrow">
            <a:avLst/>
          </a:prstGeom>
          <a:solidFill>
            <a:srgbClr val="002060"/>
          </a:solidFill>
          <a:ln>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Rounded Rectangle 80"/>
          <p:cNvSpPr/>
          <p:nvPr/>
        </p:nvSpPr>
        <p:spPr>
          <a:xfrm>
            <a:off x="3255264" y="1234440"/>
            <a:ext cx="1353312" cy="1353312"/>
          </a:xfrm>
          <a:prstGeom prst="roundRect">
            <a:avLst/>
          </a:prstGeom>
          <a:solidFill>
            <a:srgbClr val="E9EEF8"/>
          </a:solidFill>
          <a:ln w="15240">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Oval 81"/>
          <p:cNvSpPr/>
          <p:nvPr/>
        </p:nvSpPr>
        <p:spPr>
          <a:xfrm>
            <a:off x="3730752" y="1344168"/>
            <a:ext cx="384048" cy="384048"/>
          </a:xfrm>
          <a:prstGeom prst="ellipse">
            <a:avLst/>
          </a:prstGeom>
          <a:solidFill>
            <a:srgbClr val="002060"/>
          </a:solidFill>
          <a:ln>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3730752" y="1371600"/>
            <a:ext cx="384048" cy="256032"/>
          </a:xfrm>
          <a:prstGeom prst="rect">
            <a:avLst/>
          </a:prstGeom>
          <a:noFill/>
        </p:spPr>
        <p:txBody>
          <a:bodyPr wrap="square" lIns="45720" rIns="45720">
            <a:spAutoFit/>
          </a:bodyPr>
          <a:lstStyle/>
          <a:p>
            <a:pPr algn="ctr"/>
            <a:r>
              <a:rPr sz="1100" b="1">
                <a:solidFill>
                  <a:srgbClr val="FFFFFF"/>
                </a:solidFill>
                <a:latin typeface="Calibri" panose="020F0502020204030204"/>
              </a:rPr>
              <a:t>3</a:t>
            </a:r>
          </a:p>
        </p:txBody>
      </p:sp>
      <p:sp>
        <p:nvSpPr>
          <p:cNvPr id="84" name="TextBox 83"/>
          <p:cNvSpPr txBox="1"/>
          <p:nvPr/>
        </p:nvSpPr>
        <p:spPr>
          <a:xfrm>
            <a:off x="3328416" y="1764792"/>
            <a:ext cx="1207008" cy="329184"/>
          </a:xfrm>
          <a:prstGeom prst="rect">
            <a:avLst/>
          </a:prstGeom>
          <a:noFill/>
        </p:spPr>
        <p:txBody>
          <a:bodyPr wrap="square" lIns="45720" rIns="45720">
            <a:spAutoFit/>
          </a:bodyPr>
          <a:lstStyle/>
          <a:p>
            <a:pPr algn="ctr"/>
            <a:r>
              <a:rPr sz="1300" b="1">
                <a:solidFill>
                  <a:srgbClr val="002060"/>
                </a:solidFill>
                <a:latin typeface="Calibri" panose="020F0502020204030204"/>
              </a:rPr>
              <a:t>Encryption</a:t>
            </a:r>
          </a:p>
        </p:txBody>
      </p:sp>
      <p:sp>
        <p:nvSpPr>
          <p:cNvPr id="85" name="TextBox 84"/>
          <p:cNvSpPr txBox="1"/>
          <p:nvPr/>
        </p:nvSpPr>
        <p:spPr>
          <a:xfrm>
            <a:off x="3328416" y="2130552"/>
            <a:ext cx="1207008" cy="384048"/>
          </a:xfrm>
          <a:prstGeom prst="rect">
            <a:avLst/>
          </a:prstGeom>
          <a:noFill/>
        </p:spPr>
        <p:txBody>
          <a:bodyPr wrap="square" lIns="45720" rIns="45720">
            <a:spAutoFit/>
          </a:bodyPr>
          <a:lstStyle/>
          <a:p>
            <a:pPr algn="ctr"/>
            <a:r>
              <a:rPr sz="1050" b="0">
                <a:solidFill>
                  <a:srgbClr val="202B3C"/>
                </a:solidFill>
                <a:latin typeface="Calibri" panose="020F0502020204030204"/>
              </a:rPr>
              <a:t>AES-256 encrypted
blob per centre</a:t>
            </a:r>
          </a:p>
        </p:txBody>
      </p:sp>
      <p:sp>
        <p:nvSpPr>
          <p:cNvPr id="86" name="Right Arrow 85"/>
          <p:cNvSpPr/>
          <p:nvPr/>
        </p:nvSpPr>
        <p:spPr>
          <a:xfrm>
            <a:off x="4617720" y="1746504"/>
            <a:ext cx="82296" cy="256032"/>
          </a:xfrm>
          <a:prstGeom prst="rightArrow">
            <a:avLst/>
          </a:prstGeom>
          <a:solidFill>
            <a:srgbClr val="002060"/>
          </a:solidFill>
          <a:ln>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Rounded Rectangle 86"/>
          <p:cNvSpPr/>
          <p:nvPr/>
        </p:nvSpPr>
        <p:spPr>
          <a:xfrm>
            <a:off x="4709160" y="1234440"/>
            <a:ext cx="1353312" cy="1353312"/>
          </a:xfrm>
          <a:prstGeom prst="roundRect">
            <a:avLst/>
          </a:prstGeom>
          <a:solidFill>
            <a:srgbClr val="E9EEF8"/>
          </a:solidFill>
          <a:ln w="15240">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Oval 87"/>
          <p:cNvSpPr/>
          <p:nvPr/>
        </p:nvSpPr>
        <p:spPr>
          <a:xfrm>
            <a:off x="5184648" y="1344168"/>
            <a:ext cx="384048" cy="384048"/>
          </a:xfrm>
          <a:prstGeom prst="ellipse">
            <a:avLst/>
          </a:prstGeom>
          <a:solidFill>
            <a:srgbClr val="002060"/>
          </a:solidFill>
          <a:ln>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5184648" y="1371600"/>
            <a:ext cx="384048" cy="256032"/>
          </a:xfrm>
          <a:prstGeom prst="rect">
            <a:avLst/>
          </a:prstGeom>
          <a:noFill/>
        </p:spPr>
        <p:txBody>
          <a:bodyPr wrap="square" lIns="45720" rIns="45720">
            <a:spAutoFit/>
          </a:bodyPr>
          <a:lstStyle/>
          <a:p>
            <a:pPr algn="ctr"/>
            <a:r>
              <a:rPr sz="1100" b="1">
                <a:solidFill>
                  <a:srgbClr val="FFFFFF"/>
                </a:solidFill>
                <a:latin typeface="Calibri" panose="020F0502020204030204"/>
              </a:rPr>
              <a:t>4</a:t>
            </a:r>
          </a:p>
        </p:txBody>
      </p:sp>
      <p:sp>
        <p:nvSpPr>
          <p:cNvPr id="90" name="TextBox 89"/>
          <p:cNvSpPr txBox="1"/>
          <p:nvPr/>
        </p:nvSpPr>
        <p:spPr>
          <a:xfrm>
            <a:off x="4782312" y="1764792"/>
            <a:ext cx="1207008" cy="329184"/>
          </a:xfrm>
          <a:prstGeom prst="rect">
            <a:avLst/>
          </a:prstGeom>
          <a:noFill/>
        </p:spPr>
        <p:txBody>
          <a:bodyPr wrap="square" lIns="45720" rIns="45720">
            <a:spAutoFit/>
          </a:bodyPr>
          <a:lstStyle/>
          <a:p>
            <a:pPr algn="ctr"/>
            <a:r>
              <a:rPr sz="1300" b="1">
                <a:solidFill>
                  <a:srgbClr val="002060"/>
                </a:solidFill>
                <a:latin typeface="Calibri" panose="020F0502020204030204"/>
              </a:rPr>
              <a:t>Blockchain</a:t>
            </a:r>
          </a:p>
        </p:txBody>
      </p:sp>
      <p:sp>
        <p:nvSpPr>
          <p:cNvPr id="91" name="TextBox 90"/>
          <p:cNvSpPr txBox="1"/>
          <p:nvPr/>
        </p:nvSpPr>
        <p:spPr>
          <a:xfrm>
            <a:off x="4782312" y="2130552"/>
            <a:ext cx="1207008" cy="384048"/>
          </a:xfrm>
          <a:prstGeom prst="rect">
            <a:avLst/>
          </a:prstGeom>
          <a:noFill/>
        </p:spPr>
        <p:txBody>
          <a:bodyPr wrap="square" lIns="45720" rIns="45720">
            <a:spAutoFit/>
          </a:bodyPr>
          <a:lstStyle/>
          <a:p>
            <a:pPr algn="ctr"/>
            <a:r>
              <a:rPr sz="1050" b="0">
                <a:solidFill>
                  <a:srgbClr val="202B3C"/>
                </a:solidFill>
                <a:latin typeface="Calibri" panose="020F0502020204030204"/>
              </a:rPr>
              <a:t>Hash + centre ID +
unlock time</a:t>
            </a:r>
          </a:p>
        </p:txBody>
      </p:sp>
      <p:sp>
        <p:nvSpPr>
          <p:cNvPr id="92" name="Right Arrow 91"/>
          <p:cNvSpPr/>
          <p:nvPr/>
        </p:nvSpPr>
        <p:spPr>
          <a:xfrm>
            <a:off x="6071616" y="1746504"/>
            <a:ext cx="82296" cy="256032"/>
          </a:xfrm>
          <a:prstGeom prst="rightArrow">
            <a:avLst/>
          </a:prstGeom>
          <a:solidFill>
            <a:srgbClr val="002060"/>
          </a:solidFill>
          <a:ln>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Rounded Rectangle 92"/>
          <p:cNvSpPr/>
          <p:nvPr/>
        </p:nvSpPr>
        <p:spPr>
          <a:xfrm>
            <a:off x="6163056" y="1234440"/>
            <a:ext cx="1353312" cy="1353312"/>
          </a:xfrm>
          <a:prstGeom prst="roundRect">
            <a:avLst/>
          </a:prstGeom>
          <a:solidFill>
            <a:srgbClr val="E9EEF8"/>
          </a:solidFill>
          <a:ln w="15240">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Oval 93"/>
          <p:cNvSpPr/>
          <p:nvPr/>
        </p:nvSpPr>
        <p:spPr>
          <a:xfrm>
            <a:off x="6638544" y="1344168"/>
            <a:ext cx="384048" cy="384048"/>
          </a:xfrm>
          <a:prstGeom prst="ellipse">
            <a:avLst/>
          </a:prstGeom>
          <a:solidFill>
            <a:srgbClr val="002060"/>
          </a:solidFill>
          <a:ln>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6638544" y="1371600"/>
            <a:ext cx="384048" cy="256032"/>
          </a:xfrm>
          <a:prstGeom prst="rect">
            <a:avLst/>
          </a:prstGeom>
          <a:noFill/>
        </p:spPr>
        <p:txBody>
          <a:bodyPr wrap="square" lIns="45720" rIns="45720">
            <a:spAutoFit/>
          </a:bodyPr>
          <a:lstStyle/>
          <a:p>
            <a:pPr algn="ctr"/>
            <a:r>
              <a:rPr sz="1100" b="1">
                <a:solidFill>
                  <a:srgbClr val="FFFFFF"/>
                </a:solidFill>
                <a:latin typeface="Calibri" panose="020F0502020204030204"/>
              </a:rPr>
              <a:t>5</a:t>
            </a:r>
          </a:p>
        </p:txBody>
      </p:sp>
      <p:sp>
        <p:nvSpPr>
          <p:cNvPr id="96" name="TextBox 95"/>
          <p:cNvSpPr txBox="1"/>
          <p:nvPr/>
        </p:nvSpPr>
        <p:spPr>
          <a:xfrm>
            <a:off x="6236208" y="1764792"/>
            <a:ext cx="1207008" cy="329184"/>
          </a:xfrm>
          <a:prstGeom prst="rect">
            <a:avLst/>
          </a:prstGeom>
          <a:noFill/>
        </p:spPr>
        <p:txBody>
          <a:bodyPr wrap="square" lIns="45720" rIns="45720">
            <a:spAutoFit/>
          </a:bodyPr>
          <a:lstStyle/>
          <a:p>
            <a:pPr algn="ctr"/>
            <a:r>
              <a:rPr sz="1300" b="1">
                <a:solidFill>
                  <a:srgbClr val="002060"/>
                </a:solidFill>
                <a:latin typeface="Calibri" panose="020F0502020204030204"/>
              </a:rPr>
              <a:t>Secure delivery</a:t>
            </a:r>
          </a:p>
        </p:txBody>
      </p:sp>
      <p:sp>
        <p:nvSpPr>
          <p:cNvPr id="97" name="TextBox 96"/>
          <p:cNvSpPr txBox="1"/>
          <p:nvPr/>
        </p:nvSpPr>
        <p:spPr>
          <a:xfrm>
            <a:off x="6236208" y="2130552"/>
            <a:ext cx="1207008" cy="384048"/>
          </a:xfrm>
          <a:prstGeom prst="rect">
            <a:avLst/>
          </a:prstGeom>
          <a:noFill/>
        </p:spPr>
        <p:txBody>
          <a:bodyPr wrap="square" lIns="45720" rIns="45720">
            <a:spAutoFit/>
          </a:bodyPr>
          <a:lstStyle/>
          <a:p>
            <a:pPr algn="ctr"/>
            <a:r>
              <a:rPr sz="1050" b="0">
                <a:solidFill>
                  <a:srgbClr val="202B3C"/>
                </a:solidFill>
                <a:latin typeface="Calibri" panose="020F0502020204030204"/>
              </a:rPr>
              <a:t>Encrypted blob →
centre system</a:t>
            </a:r>
          </a:p>
        </p:txBody>
      </p:sp>
      <p:sp>
        <p:nvSpPr>
          <p:cNvPr id="98" name="Right Arrow 97"/>
          <p:cNvSpPr/>
          <p:nvPr/>
        </p:nvSpPr>
        <p:spPr>
          <a:xfrm>
            <a:off x="7525512" y="1746504"/>
            <a:ext cx="82296" cy="256032"/>
          </a:xfrm>
          <a:prstGeom prst="rightArrow">
            <a:avLst/>
          </a:prstGeom>
          <a:solidFill>
            <a:srgbClr val="002060"/>
          </a:solidFill>
          <a:ln>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Rounded Rectangle 98"/>
          <p:cNvSpPr/>
          <p:nvPr/>
        </p:nvSpPr>
        <p:spPr>
          <a:xfrm>
            <a:off x="7616952" y="1234440"/>
            <a:ext cx="1353312" cy="1353312"/>
          </a:xfrm>
          <a:prstGeom prst="roundRect">
            <a:avLst/>
          </a:prstGeom>
          <a:solidFill>
            <a:srgbClr val="E9EEF8"/>
          </a:solidFill>
          <a:ln w="15240">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Oval 99"/>
          <p:cNvSpPr/>
          <p:nvPr/>
        </p:nvSpPr>
        <p:spPr>
          <a:xfrm>
            <a:off x="8092440" y="1344168"/>
            <a:ext cx="384048" cy="384048"/>
          </a:xfrm>
          <a:prstGeom prst="ellipse">
            <a:avLst/>
          </a:prstGeom>
          <a:solidFill>
            <a:srgbClr val="002060"/>
          </a:solidFill>
          <a:ln>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TextBox 100"/>
          <p:cNvSpPr txBox="1"/>
          <p:nvPr/>
        </p:nvSpPr>
        <p:spPr>
          <a:xfrm>
            <a:off x="8092440" y="1371600"/>
            <a:ext cx="384048" cy="256032"/>
          </a:xfrm>
          <a:prstGeom prst="rect">
            <a:avLst/>
          </a:prstGeom>
          <a:noFill/>
        </p:spPr>
        <p:txBody>
          <a:bodyPr wrap="square" lIns="45720" rIns="45720">
            <a:spAutoFit/>
          </a:bodyPr>
          <a:lstStyle/>
          <a:p>
            <a:pPr algn="ctr"/>
            <a:r>
              <a:rPr sz="1100" b="1">
                <a:solidFill>
                  <a:srgbClr val="FFFFFF"/>
                </a:solidFill>
                <a:latin typeface="Calibri" panose="020F0502020204030204"/>
              </a:rPr>
              <a:t>6</a:t>
            </a:r>
          </a:p>
        </p:txBody>
      </p:sp>
      <p:sp>
        <p:nvSpPr>
          <p:cNvPr id="102" name="TextBox 101"/>
          <p:cNvSpPr txBox="1"/>
          <p:nvPr/>
        </p:nvSpPr>
        <p:spPr>
          <a:xfrm>
            <a:off x="7690104" y="1764792"/>
            <a:ext cx="1207008" cy="329184"/>
          </a:xfrm>
          <a:prstGeom prst="rect">
            <a:avLst/>
          </a:prstGeom>
          <a:noFill/>
        </p:spPr>
        <p:txBody>
          <a:bodyPr wrap="square" lIns="45720" rIns="45720">
            <a:spAutoFit/>
          </a:bodyPr>
          <a:lstStyle/>
          <a:p>
            <a:pPr algn="ctr"/>
            <a:r>
              <a:rPr sz="1300" b="1">
                <a:solidFill>
                  <a:srgbClr val="002060"/>
                </a:solidFill>
                <a:latin typeface="Calibri" panose="020F0502020204030204"/>
              </a:rPr>
              <a:t>Timed release</a:t>
            </a:r>
          </a:p>
        </p:txBody>
      </p:sp>
      <p:sp>
        <p:nvSpPr>
          <p:cNvPr id="103" name="TextBox 102"/>
          <p:cNvSpPr txBox="1"/>
          <p:nvPr/>
        </p:nvSpPr>
        <p:spPr>
          <a:xfrm>
            <a:off x="7690104" y="2130552"/>
            <a:ext cx="1207008" cy="384048"/>
          </a:xfrm>
          <a:prstGeom prst="rect">
            <a:avLst/>
          </a:prstGeom>
          <a:noFill/>
        </p:spPr>
        <p:txBody>
          <a:bodyPr wrap="square" lIns="45720" rIns="45720">
            <a:spAutoFit/>
          </a:bodyPr>
          <a:lstStyle/>
          <a:p>
            <a:pPr algn="ctr"/>
            <a:r>
              <a:rPr sz="1050" b="0">
                <a:solidFill>
                  <a:srgbClr val="202B3C"/>
                </a:solidFill>
                <a:latin typeface="Calibri" panose="020F0502020204030204"/>
              </a:rPr>
              <a:t>Smart contract
permits key access</a:t>
            </a:r>
          </a:p>
        </p:txBody>
      </p:sp>
      <p:sp>
        <p:nvSpPr>
          <p:cNvPr id="104" name="Right Arrow 103"/>
          <p:cNvSpPr/>
          <p:nvPr/>
        </p:nvSpPr>
        <p:spPr>
          <a:xfrm>
            <a:off x="8979408" y="1746504"/>
            <a:ext cx="82296" cy="256032"/>
          </a:xfrm>
          <a:prstGeom prst="rightArrow">
            <a:avLst/>
          </a:prstGeom>
          <a:solidFill>
            <a:srgbClr val="002060"/>
          </a:solidFill>
          <a:ln>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Rounded Rectangle 104"/>
          <p:cNvSpPr/>
          <p:nvPr/>
        </p:nvSpPr>
        <p:spPr>
          <a:xfrm>
            <a:off x="9070848" y="1234440"/>
            <a:ext cx="1353312" cy="1353312"/>
          </a:xfrm>
          <a:prstGeom prst="roundRect">
            <a:avLst/>
          </a:prstGeom>
          <a:solidFill>
            <a:srgbClr val="E9EEF8"/>
          </a:solidFill>
          <a:ln w="15240">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Oval 105"/>
          <p:cNvSpPr/>
          <p:nvPr/>
        </p:nvSpPr>
        <p:spPr>
          <a:xfrm>
            <a:off x="9546336" y="1344168"/>
            <a:ext cx="384048" cy="384048"/>
          </a:xfrm>
          <a:prstGeom prst="ellipse">
            <a:avLst/>
          </a:prstGeom>
          <a:solidFill>
            <a:srgbClr val="002060"/>
          </a:solidFill>
          <a:ln>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TextBox 106"/>
          <p:cNvSpPr txBox="1"/>
          <p:nvPr/>
        </p:nvSpPr>
        <p:spPr>
          <a:xfrm>
            <a:off x="9546336" y="1371600"/>
            <a:ext cx="384048" cy="256032"/>
          </a:xfrm>
          <a:prstGeom prst="rect">
            <a:avLst/>
          </a:prstGeom>
          <a:noFill/>
        </p:spPr>
        <p:txBody>
          <a:bodyPr wrap="square" lIns="45720" rIns="45720">
            <a:spAutoFit/>
          </a:bodyPr>
          <a:lstStyle/>
          <a:p>
            <a:pPr algn="ctr"/>
            <a:r>
              <a:rPr sz="1100" b="1">
                <a:solidFill>
                  <a:srgbClr val="FFFFFF"/>
                </a:solidFill>
                <a:latin typeface="Calibri" panose="020F0502020204030204"/>
              </a:rPr>
              <a:t>7</a:t>
            </a:r>
          </a:p>
        </p:txBody>
      </p:sp>
      <p:sp>
        <p:nvSpPr>
          <p:cNvPr id="108" name="TextBox 107"/>
          <p:cNvSpPr txBox="1"/>
          <p:nvPr/>
        </p:nvSpPr>
        <p:spPr>
          <a:xfrm>
            <a:off x="9144000" y="1764792"/>
            <a:ext cx="1207008" cy="329184"/>
          </a:xfrm>
          <a:prstGeom prst="rect">
            <a:avLst/>
          </a:prstGeom>
          <a:noFill/>
        </p:spPr>
        <p:txBody>
          <a:bodyPr wrap="square" lIns="45720" rIns="45720">
            <a:spAutoFit/>
          </a:bodyPr>
          <a:lstStyle/>
          <a:p>
            <a:pPr algn="ctr"/>
            <a:r>
              <a:rPr sz="1300" b="1">
                <a:solidFill>
                  <a:srgbClr val="002060"/>
                </a:solidFill>
                <a:latin typeface="Calibri" panose="020F0502020204030204"/>
              </a:rPr>
              <a:t>Print</a:t>
            </a:r>
          </a:p>
        </p:txBody>
      </p:sp>
      <p:sp>
        <p:nvSpPr>
          <p:cNvPr id="109" name="TextBox 108"/>
          <p:cNvSpPr txBox="1"/>
          <p:nvPr/>
        </p:nvSpPr>
        <p:spPr>
          <a:xfrm>
            <a:off x="9144000" y="2130552"/>
            <a:ext cx="1207008" cy="384048"/>
          </a:xfrm>
          <a:prstGeom prst="rect">
            <a:avLst/>
          </a:prstGeom>
          <a:noFill/>
        </p:spPr>
        <p:txBody>
          <a:bodyPr wrap="square" lIns="45720" rIns="45720">
            <a:spAutoFit/>
          </a:bodyPr>
          <a:lstStyle/>
          <a:p>
            <a:pPr algn="ctr"/>
            <a:r>
              <a:rPr sz="1050" b="0">
                <a:solidFill>
                  <a:srgbClr val="202B3C"/>
                </a:solidFill>
                <a:latin typeface="Calibri" panose="020F0502020204030204"/>
              </a:rPr>
              <a:t>Decrypt locally
and print</a:t>
            </a:r>
          </a:p>
        </p:txBody>
      </p:sp>
      <p:sp>
        <p:nvSpPr>
          <p:cNvPr id="110" name="Right Arrow 109"/>
          <p:cNvSpPr/>
          <p:nvPr/>
        </p:nvSpPr>
        <p:spPr>
          <a:xfrm>
            <a:off x="10433304" y="1746504"/>
            <a:ext cx="82296" cy="256032"/>
          </a:xfrm>
          <a:prstGeom prst="rightArrow">
            <a:avLst/>
          </a:prstGeom>
          <a:solidFill>
            <a:srgbClr val="002060"/>
          </a:solidFill>
          <a:ln>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Rounded Rectangle 110"/>
          <p:cNvSpPr/>
          <p:nvPr/>
        </p:nvSpPr>
        <p:spPr>
          <a:xfrm>
            <a:off x="10524744" y="1234440"/>
            <a:ext cx="1353312" cy="1353312"/>
          </a:xfrm>
          <a:prstGeom prst="roundRect">
            <a:avLst/>
          </a:prstGeom>
          <a:solidFill>
            <a:srgbClr val="E7F3E8"/>
          </a:solidFill>
          <a:ln w="1524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Oval 111"/>
          <p:cNvSpPr/>
          <p:nvPr/>
        </p:nvSpPr>
        <p:spPr>
          <a:xfrm>
            <a:off x="11000232" y="1344168"/>
            <a:ext cx="384048" cy="384048"/>
          </a:xfrm>
          <a:prstGeom prst="ellipse">
            <a:avLst/>
          </a:prstGeom>
          <a:solidFill>
            <a:srgbClr val="2E7D32"/>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TextBox 112"/>
          <p:cNvSpPr txBox="1"/>
          <p:nvPr/>
        </p:nvSpPr>
        <p:spPr>
          <a:xfrm>
            <a:off x="11000232" y="1371600"/>
            <a:ext cx="384048" cy="256032"/>
          </a:xfrm>
          <a:prstGeom prst="rect">
            <a:avLst/>
          </a:prstGeom>
          <a:noFill/>
        </p:spPr>
        <p:txBody>
          <a:bodyPr wrap="square" lIns="45720" rIns="45720">
            <a:spAutoFit/>
          </a:bodyPr>
          <a:lstStyle/>
          <a:p>
            <a:pPr algn="ctr"/>
            <a:r>
              <a:rPr sz="1100" b="1">
                <a:solidFill>
                  <a:srgbClr val="FFFFFF"/>
                </a:solidFill>
                <a:latin typeface="Calibri" panose="020F0502020204030204"/>
              </a:rPr>
              <a:t>8</a:t>
            </a:r>
          </a:p>
        </p:txBody>
      </p:sp>
      <p:sp>
        <p:nvSpPr>
          <p:cNvPr id="114" name="TextBox 113"/>
          <p:cNvSpPr txBox="1"/>
          <p:nvPr/>
        </p:nvSpPr>
        <p:spPr>
          <a:xfrm>
            <a:off x="10597896" y="1764792"/>
            <a:ext cx="1207008" cy="329184"/>
          </a:xfrm>
          <a:prstGeom prst="rect">
            <a:avLst/>
          </a:prstGeom>
          <a:noFill/>
        </p:spPr>
        <p:txBody>
          <a:bodyPr wrap="square" lIns="45720" rIns="45720">
            <a:spAutoFit/>
          </a:bodyPr>
          <a:lstStyle/>
          <a:p>
            <a:pPr algn="ctr"/>
            <a:r>
              <a:rPr sz="1300" b="1">
                <a:solidFill>
                  <a:srgbClr val="2E7D32"/>
                </a:solidFill>
                <a:latin typeface="Calibri" panose="020F0502020204030204"/>
              </a:rPr>
              <a:t>Leak tracing</a:t>
            </a:r>
          </a:p>
        </p:txBody>
      </p:sp>
      <p:sp>
        <p:nvSpPr>
          <p:cNvPr id="115" name="TextBox 114"/>
          <p:cNvSpPr txBox="1"/>
          <p:nvPr/>
        </p:nvSpPr>
        <p:spPr>
          <a:xfrm>
            <a:off x="10597896" y="2130552"/>
            <a:ext cx="1207008" cy="384048"/>
          </a:xfrm>
          <a:prstGeom prst="rect">
            <a:avLst/>
          </a:prstGeom>
          <a:noFill/>
        </p:spPr>
        <p:txBody>
          <a:bodyPr wrap="square" lIns="45720" rIns="45720">
            <a:spAutoFit/>
          </a:bodyPr>
          <a:lstStyle/>
          <a:p>
            <a:pPr algn="ctr"/>
            <a:r>
              <a:rPr sz="1050" b="0">
                <a:solidFill>
                  <a:srgbClr val="202B3C"/>
                </a:solidFill>
                <a:latin typeface="Calibri" panose="020F0502020204030204"/>
              </a:rPr>
              <a:t>Scrape public sources
+ match fingerprint</a:t>
            </a:r>
          </a:p>
        </p:txBody>
      </p:sp>
      <p:sp>
        <p:nvSpPr>
          <p:cNvPr id="116" name="TextBox 115"/>
          <p:cNvSpPr txBox="1"/>
          <p:nvPr/>
        </p:nvSpPr>
        <p:spPr>
          <a:xfrm>
            <a:off x="502920" y="2971800"/>
            <a:ext cx="10972800" cy="320040"/>
          </a:xfrm>
          <a:prstGeom prst="rect">
            <a:avLst/>
          </a:prstGeom>
          <a:noFill/>
        </p:spPr>
        <p:txBody>
          <a:bodyPr wrap="square" lIns="45720" rIns="45720">
            <a:spAutoFit/>
          </a:bodyPr>
          <a:lstStyle/>
          <a:p>
            <a:pPr algn="ctr"/>
            <a:r>
              <a:rPr sz="1800" b="1">
                <a:solidFill>
                  <a:srgbClr val="002060"/>
                </a:solidFill>
                <a:latin typeface="Calibri" panose="020F0502020204030204"/>
              </a:rPr>
              <a:t>Security &amp; traceability layers</a:t>
            </a:r>
          </a:p>
        </p:txBody>
      </p:sp>
      <p:sp>
        <p:nvSpPr>
          <p:cNvPr id="117" name="Rounded Rectangle 116"/>
          <p:cNvSpPr/>
          <p:nvPr/>
        </p:nvSpPr>
        <p:spPr>
          <a:xfrm>
            <a:off x="502920" y="3429000"/>
            <a:ext cx="2029968" cy="960120"/>
          </a:xfrm>
          <a:prstGeom prst="roundRect">
            <a:avLst/>
          </a:prstGeom>
          <a:solidFill>
            <a:srgbClr val="FFFFFF"/>
          </a:solidFill>
          <a:ln w="15240">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TextBox 117"/>
          <p:cNvSpPr txBox="1"/>
          <p:nvPr/>
        </p:nvSpPr>
        <p:spPr>
          <a:xfrm>
            <a:off x="576072" y="3566160"/>
            <a:ext cx="1874519" cy="256032"/>
          </a:xfrm>
          <a:prstGeom prst="rect">
            <a:avLst/>
          </a:prstGeom>
          <a:noFill/>
        </p:spPr>
        <p:txBody>
          <a:bodyPr wrap="square" lIns="45720" rIns="45720">
            <a:spAutoFit/>
          </a:bodyPr>
          <a:lstStyle/>
          <a:p>
            <a:pPr algn="ctr"/>
            <a:r>
              <a:rPr sz="1300" b="1">
                <a:solidFill>
                  <a:srgbClr val="002060"/>
                </a:solidFill>
                <a:latin typeface="Calibri" panose="020F0502020204030204"/>
              </a:rPr>
              <a:t>Confidentiality</a:t>
            </a:r>
          </a:p>
        </p:txBody>
      </p:sp>
      <p:sp>
        <p:nvSpPr>
          <p:cNvPr id="119" name="TextBox 118"/>
          <p:cNvSpPr txBox="1"/>
          <p:nvPr/>
        </p:nvSpPr>
        <p:spPr>
          <a:xfrm>
            <a:off x="576072" y="3886200"/>
            <a:ext cx="1874519" cy="347472"/>
          </a:xfrm>
          <a:prstGeom prst="rect">
            <a:avLst/>
          </a:prstGeom>
          <a:noFill/>
        </p:spPr>
        <p:txBody>
          <a:bodyPr wrap="square" lIns="45720" rIns="45720">
            <a:spAutoFit/>
          </a:bodyPr>
          <a:lstStyle/>
          <a:p>
            <a:pPr algn="ctr"/>
            <a:r>
              <a:rPr sz="1050" b="0">
                <a:solidFill>
                  <a:srgbClr val="202B3C"/>
                </a:solidFill>
                <a:latin typeface="Calibri" panose="020F0502020204030204"/>
              </a:rPr>
              <a:t>AES-256 encryption</a:t>
            </a:r>
          </a:p>
        </p:txBody>
      </p:sp>
      <p:sp>
        <p:nvSpPr>
          <p:cNvPr id="120" name="Rounded Rectangle 119"/>
          <p:cNvSpPr/>
          <p:nvPr/>
        </p:nvSpPr>
        <p:spPr>
          <a:xfrm>
            <a:off x="2770632" y="3429000"/>
            <a:ext cx="2029968" cy="960120"/>
          </a:xfrm>
          <a:prstGeom prst="roundRect">
            <a:avLst/>
          </a:prstGeom>
          <a:solidFill>
            <a:srgbClr val="FFFFFF"/>
          </a:solidFill>
          <a:ln w="1524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TextBox 120"/>
          <p:cNvSpPr txBox="1"/>
          <p:nvPr/>
        </p:nvSpPr>
        <p:spPr>
          <a:xfrm>
            <a:off x="2843784" y="3566160"/>
            <a:ext cx="1874519" cy="256032"/>
          </a:xfrm>
          <a:prstGeom prst="rect">
            <a:avLst/>
          </a:prstGeom>
          <a:noFill/>
        </p:spPr>
        <p:txBody>
          <a:bodyPr wrap="square" lIns="45720" rIns="45720">
            <a:spAutoFit/>
          </a:bodyPr>
          <a:lstStyle/>
          <a:p>
            <a:pPr algn="ctr"/>
            <a:r>
              <a:rPr sz="1300" b="1">
                <a:solidFill>
                  <a:srgbClr val="2E7D32"/>
                </a:solidFill>
                <a:latin typeface="Calibri" panose="020F0502020204030204"/>
              </a:rPr>
              <a:t>Integrity</a:t>
            </a:r>
          </a:p>
        </p:txBody>
      </p:sp>
      <p:sp>
        <p:nvSpPr>
          <p:cNvPr id="122" name="TextBox 121"/>
          <p:cNvSpPr txBox="1"/>
          <p:nvPr/>
        </p:nvSpPr>
        <p:spPr>
          <a:xfrm>
            <a:off x="2843784" y="3886200"/>
            <a:ext cx="1874519" cy="347472"/>
          </a:xfrm>
          <a:prstGeom prst="rect">
            <a:avLst/>
          </a:prstGeom>
          <a:noFill/>
        </p:spPr>
        <p:txBody>
          <a:bodyPr wrap="square" lIns="45720" rIns="45720">
            <a:spAutoFit/>
          </a:bodyPr>
          <a:lstStyle/>
          <a:p>
            <a:pPr algn="ctr"/>
            <a:r>
              <a:rPr sz="1050" b="0">
                <a:solidFill>
                  <a:srgbClr val="202B3C"/>
                </a:solidFill>
                <a:latin typeface="Calibri" panose="020F0502020204030204"/>
              </a:rPr>
              <a:t>SHA-256 hashes</a:t>
            </a:r>
          </a:p>
        </p:txBody>
      </p:sp>
      <p:sp>
        <p:nvSpPr>
          <p:cNvPr id="123" name="Rounded Rectangle 122"/>
          <p:cNvSpPr/>
          <p:nvPr/>
        </p:nvSpPr>
        <p:spPr>
          <a:xfrm>
            <a:off x="5038344" y="3429000"/>
            <a:ext cx="2029968" cy="960120"/>
          </a:xfrm>
          <a:prstGeom prst="roundRect">
            <a:avLst/>
          </a:prstGeom>
          <a:solidFill>
            <a:srgbClr val="FFFFFF"/>
          </a:solidFill>
          <a:ln w="15240">
            <a:solidFill>
              <a:srgbClr val="B26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TextBox 123"/>
          <p:cNvSpPr txBox="1"/>
          <p:nvPr/>
        </p:nvSpPr>
        <p:spPr>
          <a:xfrm>
            <a:off x="5111496" y="3566160"/>
            <a:ext cx="1874519" cy="256032"/>
          </a:xfrm>
          <a:prstGeom prst="rect">
            <a:avLst/>
          </a:prstGeom>
          <a:noFill/>
        </p:spPr>
        <p:txBody>
          <a:bodyPr wrap="square" lIns="45720" rIns="45720">
            <a:spAutoFit/>
          </a:bodyPr>
          <a:lstStyle/>
          <a:p>
            <a:pPr algn="ctr"/>
            <a:r>
              <a:rPr sz="1300" b="1">
                <a:solidFill>
                  <a:srgbClr val="B26A00"/>
                </a:solidFill>
                <a:latin typeface="Calibri" panose="020F0502020204030204"/>
              </a:rPr>
              <a:t>Access control</a:t>
            </a:r>
          </a:p>
        </p:txBody>
      </p:sp>
      <p:sp>
        <p:nvSpPr>
          <p:cNvPr id="125" name="TextBox 124"/>
          <p:cNvSpPr txBox="1"/>
          <p:nvPr/>
        </p:nvSpPr>
        <p:spPr>
          <a:xfrm>
            <a:off x="5111496" y="3886200"/>
            <a:ext cx="1874519" cy="347472"/>
          </a:xfrm>
          <a:prstGeom prst="rect">
            <a:avLst/>
          </a:prstGeom>
          <a:noFill/>
        </p:spPr>
        <p:txBody>
          <a:bodyPr wrap="square" lIns="45720" rIns="45720">
            <a:spAutoFit/>
          </a:bodyPr>
          <a:lstStyle/>
          <a:p>
            <a:pPr algn="ctr"/>
            <a:r>
              <a:rPr sz="1050" b="0">
                <a:solidFill>
                  <a:srgbClr val="202B3C"/>
                </a:solidFill>
                <a:latin typeface="Calibri" panose="020F0502020204030204"/>
              </a:rPr>
              <a:t>Smart contract + centre identity</a:t>
            </a:r>
          </a:p>
        </p:txBody>
      </p:sp>
      <p:sp>
        <p:nvSpPr>
          <p:cNvPr id="126" name="Rounded Rectangle 125"/>
          <p:cNvSpPr/>
          <p:nvPr/>
        </p:nvSpPr>
        <p:spPr>
          <a:xfrm>
            <a:off x="7306055" y="3429000"/>
            <a:ext cx="2029968" cy="960120"/>
          </a:xfrm>
          <a:prstGeom prst="roundRect">
            <a:avLst/>
          </a:prstGeom>
          <a:solidFill>
            <a:srgbClr val="FFFFFF"/>
          </a:solidFill>
          <a:ln w="15240">
            <a:solidFill>
              <a:srgbClr val="B7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TextBox 126"/>
          <p:cNvSpPr txBox="1"/>
          <p:nvPr/>
        </p:nvSpPr>
        <p:spPr>
          <a:xfrm>
            <a:off x="7379207" y="3566160"/>
            <a:ext cx="1874519" cy="256032"/>
          </a:xfrm>
          <a:prstGeom prst="rect">
            <a:avLst/>
          </a:prstGeom>
          <a:noFill/>
        </p:spPr>
        <p:txBody>
          <a:bodyPr wrap="square" lIns="45720" rIns="45720">
            <a:spAutoFit/>
          </a:bodyPr>
          <a:lstStyle/>
          <a:p>
            <a:pPr algn="ctr"/>
            <a:r>
              <a:rPr sz="1300" b="1">
                <a:solidFill>
                  <a:srgbClr val="B71C1C"/>
                </a:solidFill>
                <a:latin typeface="Calibri" panose="020F0502020204030204"/>
              </a:rPr>
              <a:t>Timing</a:t>
            </a:r>
          </a:p>
        </p:txBody>
      </p:sp>
      <p:sp>
        <p:nvSpPr>
          <p:cNvPr id="128" name="TextBox 127"/>
          <p:cNvSpPr txBox="1"/>
          <p:nvPr/>
        </p:nvSpPr>
        <p:spPr>
          <a:xfrm>
            <a:off x="7379207" y="3886200"/>
            <a:ext cx="1874519" cy="347472"/>
          </a:xfrm>
          <a:prstGeom prst="rect">
            <a:avLst/>
          </a:prstGeom>
          <a:noFill/>
        </p:spPr>
        <p:txBody>
          <a:bodyPr wrap="square" lIns="45720" rIns="45720">
            <a:spAutoFit/>
          </a:bodyPr>
          <a:lstStyle/>
          <a:p>
            <a:pPr algn="ctr"/>
            <a:r>
              <a:rPr sz="1050" b="0">
                <a:solidFill>
                  <a:srgbClr val="202B3C"/>
                </a:solidFill>
                <a:latin typeface="Calibri" panose="020F0502020204030204"/>
              </a:rPr>
              <a:t>Blockchain timestamp / unlock condition</a:t>
            </a:r>
          </a:p>
        </p:txBody>
      </p:sp>
      <p:sp>
        <p:nvSpPr>
          <p:cNvPr id="129" name="Rounded Rectangle 128"/>
          <p:cNvSpPr/>
          <p:nvPr/>
        </p:nvSpPr>
        <p:spPr>
          <a:xfrm>
            <a:off x="9573768" y="3429000"/>
            <a:ext cx="2029968" cy="960120"/>
          </a:xfrm>
          <a:prstGeom prst="roundRect">
            <a:avLst/>
          </a:prstGeom>
          <a:solidFill>
            <a:srgbClr val="FFFFFF"/>
          </a:solidFill>
          <a:ln w="15240">
            <a:solidFill>
              <a:srgbClr val="142D7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TextBox 129"/>
          <p:cNvSpPr txBox="1"/>
          <p:nvPr/>
        </p:nvSpPr>
        <p:spPr>
          <a:xfrm>
            <a:off x="9646920" y="3566160"/>
            <a:ext cx="1874519" cy="256032"/>
          </a:xfrm>
          <a:prstGeom prst="rect">
            <a:avLst/>
          </a:prstGeom>
          <a:noFill/>
        </p:spPr>
        <p:txBody>
          <a:bodyPr wrap="square" lIns="45720" rIns="45720">
            <a:spAutoFit/>
          </a:bodyPr>
          <a:lstStyle/>
          <a:p>
            <a:pPr algn="ctr"/>
            <a:r>
              <a:rPr sz="1300" b="1">
                <a:solidFill>
                  <a:srgbClr val="142D7E"/>
                </a:solidFill>
                <a:latin typeface="Calibri" panose="020F0502020204030204"/>
              </a:rPr>
              <a:t>Attribution</a:t>
            </a:r>
          </a:p>
        </p:txBody>
      </p:sp>
      <p:sp>
        <p:nvSpPr>
          <p:cNvPr id="131" name="TextBox 130"/>
          <p:cNvSpPr txBox="1"/>
          <p:nvPr/>
        </p:nvSpPr>
        <p:spPr>
          <a:xfrm>
            <a:off x="9646920" y="3886200"/>
            <a:ext cx="1874519" cy="347472"/>
          </a:xfrm>
          <a:prstGeom prst="rect">
            <a:avLst/>
          </a:prstGeom>
          <a:noFill/>
        </p:spPr>
        <p:txBody>
          <a:bodyPr wrap="square" lIns="45720" rIns="45720">
            <a:spAutoFit/>
          </a:bodyPr>
          <a:lstStyle/>
          <a:p>
            <a:pPr algn="ctr"/>
            <a:r>
              <a:rPr sz="1050" b="0">
                <a:solidFill>
                  <a:srgbClr val="202B3C"/>
                </a:solidFill>
                <a:latin typeface="Calibri" panose="020F0502020204030204"/>
              </a:rPr>
              <a:t>Variant fingerprint + web matching</a:t>
            </a:r>
          </a:p>
        </p:txBody>
      </p:sp>
      <p:sp>
        <p:nvSpPr>
          <p:cNvPr id="132" name="TextBox 131"/>
          <p:cNvSpPr txBox="1"/>
          <p:nvPr/>
        </p:nvSpPr>
        <p:spPr>
          <a:xfrm>
            <a:off x="685800" y="4800600"/>
            <a:ext cx="10698480" cy="685800"/>
          </a:xfrm>
          <a:prstGeom prst="rect">
            <a:avLst/>
          </a:prstGeom>
          <a:noFill/>
        </p:spPr>
        <p:txBody>
          <a:bodyPr wrap="square" lIns="45720" rIns="45720">
            <a:spAutoFit/>
          </a:bodyPr>
          <a:lstStyle/>
          <a:p>
            <a:pPr algn="ctr"/>
            <a:r>
              <a:rPr sz="1500" b="1">
                <a:solidFill>
                  <a:srgbClr val="002060"/>
                </a:solidFill>
                <a:latin typeface="Calibri" panose="020F0502020204030204"/>
              </a:rPr>
              <a:t>Leak detection logic: scrape only permitted public sources / controlled test channels → extract candidate text → normalize → compare against variant fingerprints → flag likely variant/source → record investigation evidence.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PlaceHolder 1"/>
          <p:cNvSpPr>
            <a:spLocks noGrp="1"/>
          </p:cNvSpPr>
          <p:nvPr>
            <p:ph type="title"/>
          </p:nvPr>
        </p:nvSpPr>
        <p:spPr>
          <a:xfrm>
            <a:off x="838080" y="365040"/>
            <a:ext cx="10515600" cy="1325520"/>
          </a:xfrm>
          <a:prstGeom prst="rect">
            <a:avLst/>
          </a:prstGeom>
          <a:noFill/>
          <a:ln w="0">
            <a:noFill/>
          </a:ln>
        </p:spPr>
        <p:txBody>
          <a:bodyPr wrap="square" lIns="91440" tIns="45720" rIns="91440" bIns="45720" anchor="ctr">
            <a:noAutofit/>
          </a:bodyPr>
          <a:lstStyle/>
          <a:p>
            <a:pPr indent="0">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4200" b="1">
                <a:solidFill>
                  <a:srgbClr val="002060"/>
                </a:solidFill>
                <a:latin typeface="Calibri Light" panose="020F0302020204030204"/>
              </a:rPr>
              <a:t>Data / Database Description</a:t>
            </a:r>
            <a:endParaRPr lang="en-US" sz="4400" b="0" u="none" strike="noStrike">
              <a:solidFill>
                <a:srgbClr val="000000"/>
              </a:solidFill>
              <a:effectLst/>
              <a:uFillTx/>
              <a:latin typeface="Calibri Light" panose="020F0302020204030204"/>
            </a:endParaRPr>
          </a:p>
        </p:txBody>
      </p:sp>
      <p:sp>
        <p:nvSpPr>
          <p:cNvPr id="71" name="Date Placeholder 3"/>
          <p:cNvSpPr/>
          <p:nvPr/>
        </p:nvSpPr>
        <p:spPr>
          <a:xfrm>
            <a:off x="266760" y="6558120"/>
            <a:ext cx="2209680" cy="299880"/>
          </a:xfrm>
          <a:prstGeom prst="rect">
            <a:avLst/>
          </a:prstGeom>
          <a:noFill/>
          <a:ln w="0">
            <a:noFill/>
          </a:ln>
        </p:spPr>
        <p:style>
          <a:lnRef idx="0">
            <a:srgbClr val="FFFFFF"/>
          </a:lnRef>
          <a:fillRef idx="0">
            <a:srgbClr val="FFFFFF"/>
          </a:fillRef>
          <a:effectRef idx="0">
            <a:srgbClr val="FFFFFF"/>
          </a:effectRef>
          <a:fontRef idx="minor"/>
        </p:style>
        <p:txBody>
          <a:bodyPr wrap="square" lIns="90000" tIns="46800" rIns="90000" bIns="46800" anchor="ctr">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1400" b="0">
                <a:solidFill>
                  <a:srgbClr val="FFFFFF"/>
                </a:solidFill>
                <a:latin typeface="Georgia" panose="02040502050405020303"/>
              </a:rPr>
              <a:t>06/10/26</a:t>
            </a:r>
            <a:endParaRPr lang="en-US" sz="1200" b="0" u="none" strike="noStrike">
              <a:solidFill>
                <a:srgbClr val="000000"/>
              </a:solidFill>
              <a:effectLst/>
              <a:uFillTx/>
              <a:latin typeface="Calibri" panose="020F0502020204030204"/>
            </a:endParaRPr>
          </a:p>
        </p:txBody>
      </p:sp>
      <p:sp>
        <p:nvSpPr>
          <p:cNvPr id="72" name="Footer Placeholder 4"/>
          <p:cNvSpPr/>
          <p:nvPr/>
        </p:nvSpPr>
        <p:spPr>
          <a:xfrm>
            <a:off x="2859120" y="6492960"/>
            <a:ext cx="6597720" cy="365040"/>
          </a:xfrm>
          <a:prstGeom prst="rect">
            <a:avLst/>
          </a:prstGeom>
          <a:noFill/>
          <a:ln w="0">
            <a:noFill/>
          </a:ln>
        </p:spPr>
        <p:style>
          <a:lnRef idx="0">
            <a:srgbClr val="FFFFFF"/>
          </a:lnRef>
          <a:fillRef idx="0">
            <a:srgbClr val="FFFFFF"/>
          </a:fillRef>
          <a:effectRef idx="0">
            <a:srgbClr val="FFFFFF"/>
          </a:effectRef>
          <a:fontRef idx="minor"/>
        </p:style>
        <p:txBody>
          <a:bodyPr wrap="square" lIns="90000" tIns="46800" rIns="90000" bIns="46800" anchor="ctr">
            <a:norm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1400" b="0">
                <a:solidFill>
                  <a:srgbClr val="FFFFFF"/>
                </a:solidFill>
                <a:latin typeface="Georgia" panose="02040502050405020303"/>
              </a:rPr>
              <a:t>International Institute of Information Technology, Naya Raipur</a:t>
            </a:r>
            <a:endParaRPr lang="en-US" sz="1400" b="0" u="none" strike="noStrike">
              <a:solidFill>
                <a:srgbClr val="000000"/>
              </a:solidFill>
              <a:effectLst/>
              <a:uFillTx/>
              <a:latin typeface="Calibri" panose="020F0502020204030204"/>
            </a:endParaRPr>
          </a:p>
        </p:txBody>
      </p:sp>
      <p:sp>
        <p:nvSpPr>
          <p:cNvPr id="73" name="Slide Number Placeholder 5"/>
          <p:cNvSpPr/>
          <p:nvPr/>
        </p:nvSpPr>
        <p:spPr>
          <a:xfrm>
            <a:off x="9629640" y="6492960"/>
            <a:ext cx="1979640" cy="365040"/>
          </a:xfrm>
          <a:prstGeom prst="rect">
            <a:avLst/>
          </a:prstGeom>
          <a:noFill/>
          <a:ln w="0">
            <a:noFill/>
          </a:ln>
        </p:spPr>
        <p:style>
          <a:lnRef idx="0">
            <a:srgbClr val="FFFFFF"/>
          </a:lnRef>
          <a:fillRef idx="0">
            <a:srgbClr val="FFFFFF"/>
          </a:fillRef>
          <a:effectRef idx="0">
            <a:srgbClr val="FFFFFF"/>
          </a:effectRef>
          <a:fontRef idx="minor"/>
        </p:style>
        <p:txBody>
          <a:bodyPr wrap="square" lIns="90000" tIns="46800" rIns="90000" bIns="46800" anchor="ctr">
            <a:normAutofit/>
          </a:bodyPr>
          <a:lstStyle/>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1400" b="0">
                <a:solidFill>
                  <a:srgbClr val="FFFFFF"/>
                </a:solidFill>
                <a:latin typeface="Georgia" panose="02040502050405020303"/>
              </a:rPr>
              <a:t>10</a:t>
            </a:r>
            <a:endParaRPr lang="en-US" sz="1200" b="0" u="none" strike="noStrike">
              <a:solidFill>
                <a:srgbClr val="000000"/>
              </a:solidFill>
              <a:effectLst/>
              <a:uFillTx/>
              <a:latin typeface="Calibri" panose="020F0502020204030204"/>
            </a:endParaRPr>
          </a:p>
        </p:txBody>
      </p:sp>
      <p:graphicFrame>
        <p:nvGraphicFramePr>
          <p:cNvPr id="74" name="Table 73"/>
          <p:cNvGraphicFramePr>
            <a:graphicFrameLocks noGrp="1"/>
          </p:cNvGraphicFramePr>
          <p:nvPr/>
        </p:nvGraphicFramePr>
        <p:xfrm>
          <a:off x="594360" y="1874519"/>
          <a:ext cx="10698480" cy="388620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196596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gridCol w="3520440">
                  <a:extLst>
                    <a:ext uri="{9D8B030D-6E8A-4147-A177-3AD203B41FA5}">
                      <a16:colId xmlns:a16="http://schemas.microsoft.com/office/drawing/2014/main" val="20003"/>
                    </a:ext>
                  </a:extLst>
                </a:gridCol>
              </a:tblGrid>
              <a:tr h="647700">
                <a:tc>
                  <a:txBody>
                    <a:bodyPr/>
                    <a:lstStyle/>
                    <a:p>
                      <a:pPr algn="ctr">
                        <a:defRPr sz="1200" b="1">
                          <a:solidFill>
                            <a:srgbClr val="FFFFFF"/>
                          </a:solidFill>
                          <a:latin typeface="Calibri" panose="020F0502020204030204"/>
                        </a:defRPr>
                      </a:pPr>
                      <a:r>
                        <a:t>Data component</a:t>
                      </a:r>
                    </a:p>
                  </a:txBody>
                  <a:tcPr>
                    <a:solidFill>
                      <a:srgbClr val="002060"/>
                    </a:solidFill>
                  </a:tcPr>
                </a:tc>
                <a:tc>
                  <a:txBody>
                    <a:bodyPr/>
                    <a:lstStyle/>
                    <a:p>
                      <a:pPr algn="ctr">
                        <a:defRPr sz="1200" b="1">
                          <a:solidFill>
                            <a:srgbClr val="FFFFFF"/>
                          </a:solidFill>
                          <a:latin typeface="Calibri" panose="020F0502020204030204"/>
                        </a:defRPr>
                      </a:pPr>
                      <a:r>
                        <a:t>Instances (midterm plan)</a:t>
                      </a:r>
                    </a:p>
                  </a:txBody>
                  <a:tcPr>
                    <a:solidFill>
                      <a:srgbClr val="002060"/>
                    </a:solidFill>
                  </a:tcPr>
                </a:tc>
                <a:tc>
                  <a:txBody>
                    <a:bodyPr/>
                    <a:lstStyle/>
                    <a:p>
                      <a:pPr algn="ctr">
                        <a:defRPr sz="1200" b="1">
                          <a:solidFill>
                            <a:srgbClr val="FFFFFF"/>
                          </a:solidFill>
                          <a:latin typeface="Calibri" panose="020F0502020204030204"/>
                        </a:defRPr>
                      </a:pPr>
                      <a:r>
                        <a:t>Fields / content</a:t>
                      </a:r>
                    </a:p>
                  </a:txBody>
                  <a:tcPr>
                    <a:solidFill>
                      <a:srgbClr val="002060"/>
                    </a:solidFill>
                  </a:tcPr>
                </a:tc>
                <a:tc>
                  <a:txBody>
                    <a:bodyPr/>
                    <a:lstStyle/>
                    <a:p>
                      <a:pPr algn="ctr">
                        <a:defRPr sz="1200" b="1">
                          <a:solidFill>
                            <a:srgbClr val="FFFFFF"/>
                          </a:solidFill>
                          <a:latin typeface="Calibri" panose="020F0502020204030204"/>
                        </a:defRPr>
                      </a:pPr>
                      <a:r>
                        <a:t>Purpose</a:t>
                      </a:r>
                    </a:p>
                  </a:txBody>
                  <a:tcPr>
                    <a:solidFill>
                      <a:srgbClr val="002060"/>
                    </a:solidFill>
                  </a:tcPr>
                </a:tc>
                <a:extLst>
                  <a:ext uri="{0D108BD9-81ED-4DB2-BD59-A6C34878D82A}">
                    <a16:rowId xmlns:a16="http://schemas.microsoft.com/office/drawing/2014/main" val="10000"/>
                  </a:ext>
                </a:extLst>
              </a:tr>
              <a:tr h="647700">
                <a:tc>
                  <a:txBody>
                    <a:bodyPr/>
                    <a:lstStyle/>
                    <a:p>
                      <a:pPr>
                        <a:defRPr sz="1100">
                          <a:solidFill>
                            <a:srgbClr val="202B3C"/>
                          </a:solidFill>
                          <a:latin typeface="Calibri" panose="020F0502020204030204"/>
                        </a:defRPr>
                      </a:pPr>
                      <a:r>
                        <a:t>Mock examination paper</a:t>
                      </a:r>
                    </a:p>
                  </a:txBody>
                  <a:tcPr>
                    <a:solidFill>
                      <a:srgbClr val="FFFFFF"/>
                    </a:solidFill>
                  </a:tcPr>
                </a:tc>
                <a:tc>
                  <a:txBody>
                    <a:bodyPr/>
                    <a:lstStyle/>
                    <a:p>
                      <a:pPr>
                        <a:defRPr sz="1100">
                          <a:solidFill>
                            <a:srgbClr val="202B3C"/>
                          </a:solidFill>
                          <a:latin typeface="Calibri" panose="020F0502020204030204"/>
                        </a:defRPr>
                      </a:pPr>
                      <a:r>
                        <a:t>1 base paper</a:t>
                      </a:r>
                    </a:p>
                  </a:txBody>
                  <a:tcPr>
                    <a:solidFill>
                      <a:srgbClr val="FFFFFF"/>
                    </a:solidFill>
                  </a:tcPr>
                </a:tc>
                <a:tc>
                  <a:txBody>
                    <a:bodyPr/>
                    <a:lstStyle/>
                    <a:p>
                      <a:pPr>
                        <a:defRPr sz="1100">
                          <a:solidFill>
                            <a:srgbClr val="202B3C"/>
                          </a:solidFill>
                          <a:latin typeface="Calibri" panose="020F0502020204030204"/>
                        </a:defRPr>
                      </a:pPr>
                      <a:r>
                        <a:t>Question ID, options, answer key</a:t>
                      </a:r>
                    </a:p>
                  </a:txBody>
                  <a:tcPr>
                    <a:solidFill>
                      <a:srgbClr val="FFFFFF"/>
                    </a:solidFill>
                  </a:tcPr>
                </a:tc>
                <a:tc>
                  <a:txBody>
                    <a:bodyPr/>
                    <a:lstStyle/>
                    <a:p>
                      <a:pPr>
                        <a:defRPr sz="1100">
                          <a:solidFill>
                            <a:srgbClr val="202B3C"/>
                          </a:solidFill>
                          <a:latin typeface="Calibri" panose="020F0502020204030204"/>
                        </a:defRPr>
                      </a:pPr>
                      <a:r>
                        <a:t>Source for generating controlled variants</a:t>
                      </a:r>
                    </a:p>
                  </a:txBody>
                  <a:tcPr>
                    <a:solidFill>
                      <a:srgbClr val="FFFFFF"/>
                    </a:solidFill>
                  </a:tcPr>
                </a:tc>
                <a:extLst>
                  <a:ext uri="{0D108BD9-81ED-4DB2-BD59-A6C34878D82A}">
                    <a16:rowId xmlns:a16="http://schemas.microsoft.com/office/drawing/2014/main" val="10001"/>
                  </a:ext>
                </a:extLst>
              </a:tr>
              <a:tr h="647700">
                <a:tc>
                  <a:txBody>
                    <a:bodyPr/>
                    <a:lstStyle/>
                    <a:p>
                      <a:pPr>
                        <a:defRPr sz="1100">
                          <a:solidFill>
                            <a:srgbClr val="202B3C"/>
                          </a:solidFill>
                          <a:latin typeface="Calibri" panose="020F0502020204030204"/>
                        </a:defRPr>
                      </a:pPr>
                      <a:r>
                        <a:t>Centre-specific variants</a:t>
                      </a:r>
                    </a:p>
                  </a:txBody>
                  <a:tcPr>
                    <a:solidFill>
                      <a:srgbClr val="E9EEF8"/>
                    </a:solidFill>
                  </a:tcPr>
                </a:tc>
                <a:tc>
                  <a:txBody>
                    <a:bodyPr/>
                    <a:lstStyle/>
                    <a:p>
                      <a:pPr>
                        <a:defRPr sz="1100">
                          <a:solidFill>
                            <a:srgbClr val="202B3C"/>
                          </a:solidFill>
                          <a:latin typeface="Calibri" panose="020F0502020204030204"/>
                        </a:defRPr>
                      </a:pPr>
                      <a:r>
                        <a:t>4 variants (V1–V4)</a:t>
                      </a:r>
                    </a:p>
                  </a:txBody>
                  <a:tcPr>
                    <a:solidFill>
                      <a:srgbClr val="E9EEF8"/>
                    </a:solidFill>
                  </a:tcPr>
                </a:tc>
                <a:tc>
                  <a:txBody>
                    <a:bodyPr/>
                    <a:lstStyle/>
                    <a:p>
                      <a:pPr>
                        <a:defRPr sz="1100">
                          <a:solidFill>
                            <a:srgbClr val="202B3C"/>
                          </a:solidFill>
                          <a:latin typeface="Calibri" panose="020F0502020204030204"/>
                        </a:defRPr>
                      </a:pPr>
                      <a:r>
                        <a:t>variant_id, centre_id, watermark/fingerprint</a:t>
                      </a:r>
                    </a:p>
                  </a:txBody>
                  <a:tcPr>
                    <a:solidFill>
                      <a:srgbClr val="E9EEF8"/>
                    </a:solidFill>
                  </a:tcPr>
                </a:tc>
                <a:tc>
                  <a:txBody>
                    <a:bodyPr/>
                    <a:lstStyle/>
                    <a:p>
                      <a:pPr>
                        <a:defRPr sz="1100">
                          <a:solidFill>
                            <a:srgbClr val="202B3C"/>
                          </a:solidFill>
                          <a:latin typeface="Calibri" panose="020F0502020204030204"/>
                        </a:defRPr>
                      </a:pPr>
                      <a:r>
                        <a:t>Traceability experiment</a:t>
                      </a:r>
                    </a:p>
                  </a:txBody>
                  <a:tcPr>
                    <a:solidFill>
                      <a:srgbClr val="E9EEF8"/>
                    </a:solidFill>
                  </a:tcPr>
                </a:tc>
                <a:extLst>
                  <a:ext uri="{0D108BD9-81ED-4DB2-BD59-A6C34878D82A}">
                    <a16:rowId xmlns:a16="http://schemas.microsoft.com/office/drawing/2014/main" val="10002"/>
                  </a:ext>
                </a:extLst>
              </a:tr>
              <a:tr h="647700">
                <a:tc>
                  <a:txBody>
                    <a:bodyPr/>
                    <a:lstStyle/>
                    <a:p>
                      <a:pPr>
                        <a:defRPr sz="1100">
                          <a:solidFill>
                            <a:srgbClr val="202B3C"/>
                          </a:solidFill>
                          <a:latin typeface="Calibri" panose="020F0502020204030204"/>
                        </a:defRPr>
                      </a:pPr>
                      <a:r>
                        <a:t>Blockchain metadata</a:t>
                      </a:r>
                    </a:p>
                  </a:txBody>
                  <a:tcPr>
                    <a:solidFill>
                      <a:srgbClr val="FFFFFF"/>
                    </a:solidFill>
                  </a:tcPr>
                </a:tc>
                <a:tc>
                  <a:txBody>
                    <a:bodyPr/>
                    <a:lstStyle/>
                    <a:p>
                      <a:pPr>
                        <a:defRPr sz="1100">
                          <a:solidFill>
                            <a:srgbClr val="202B3C"/>
                          </a:solidFill>
                          <a:latin typeface="Calibri" panose="020F0502020204030204"/>
                        </a:defRPr>
                      </a:pPr>
                      <a:r>
                        <a:t>1 record / variant</a:t>
                      </a:r>
                    </a:p>
                  </a:txBody>
                  <a:tcPr>
                    <a:solidFill>
                      <a:srgbClr val="FFFFFF"/>
                    </a:solidFill>
                  </a:tcPr>
                </a:tc>
                <a:tc>
                  <a:txBody>
                    <a:bodyPr/>
                    <a:lstStyle/>
                    <a:p>
                      <a:pPr>
                        <a:defRPr sz="1100">
                          <a:solidFill>
                            <a:srgbClr val="202B3C"/>
                          </a:solidFill>
                          <a:latin typeface="Calibri" panose="020F0502020204030204"/>
                        </a:defRPr>
                      </a:pPr>
                      <a:r>
                        <a:t>hash, centre ID, examStart, status, tx ID</a:t>
                      </a:r>
                    </a:p>
                  </a:txBody>
                  <a:tcPr>
                    <a:solidFill>
                      <a:srgbClr val="FFFFFF"/>
                    </a:solidFill>
                  </a:tcPr>
                </a:tc>
                <a:tc>
                  <a:txBody>
                    <a:bodyPr/>
                    <a:lstStyle/>
                    <a:p>
                      <a:pPr>
                        <a:defRPr sz="1100">
                          <a:solidFill>
                            <a:srgbClr val="202B3C"/>
                          </a:solidFill>
                          <a:latin typeface="Calibri" panose="020F0502020204030204"/>
                        </a:defRPr>
                      </a:pPr>
                      <a:r>
                        <a:t>Integrity + audit trail</a:t>
                      </a:r>
                    </a:p>
                  </a:txBody>
                  <a:tcPr>
                    <a:solidFill>
                      <a:srgbClr val="FFFFFF"/>
                    </a:solidFill>
                  </a:tcPr>
                </a:tc>
                <a:extLst>
                  <a:ext uri="{0D108BD9-81ED-4DB2-BD59-A6C34878D82A}">
                    <a16:rowId xmlns:a16="http://schemas.microsoft.com/office/drawing/2014/main" val="10003"/>
                  </a:ext>
                </a:extLst>
              </a:tr>
              <a:tr h="647700">
                <a:tc>
                  <a:txBody>
                    <a:bodyPr/>
                    <a:lstStyle/>
                    <a:p>
                      <a:pPr>
                        <a:defRPr sz="1100">
                          <a:solidFill>
                            <a:srgbClr val="202B3C"/>
                          </a:solidFill>
                          <a:latin typeface="Calibri" panose="020F0502020204030204"/>
                        </a:defRPr>
                      </a:pPr>
                      <a:r>
                        <a:t>Leak corpus</a:t>
                      </a:r>
                    </a:p>
                  </a:txBody>
                  <a:tcPr>
                    <a:solidFill>
                      <a:srgbClr val="E9EEF8"/>
                    </a:solidFill>
                  </a:tcPr>
                </a:tc>
                <a:tc>
                  <a:txBody>
                    <a:bodyPr/>
                    <a:lstStyle/>
                    <a:p>
                      <a:pPr>
                        <a:defRPr sz="1100">
                          <a:solidFill>
                            <a:srgbClr val="202B3C"/>
                          </a:solidFill>
                          <a:latin typeface="Calibri" panose="020F0502020204030204"/>
                        </a:defRPr>
                      </a:pPr>
                      <a:r>
                        <a:t>Controlled posts + public sources</a:t>
                      </a:r>
                    </a:p>
                  </a:txBody>
                  <a:tcPr>
                    <a:solidFill>
                      <a:srgbClr val="E9EEF8"/>
                    </a:solidFill>
                  </a:tcPr>
                </a:tc>
                <a:tc>
                  <a:txBody>
                    <a:bodyPr/>
                    <a:lstStyle/>
                    <a:p>
                      <a:pPr>
                        <a:defRPr sz="1100">
                          <a:solidFill>
                            <a:srgbClr val="202B3C"/>
                          </a:solidFill>
                          <a:latin typeface="Calibri" panose="020F0502020204030204"/>
                        </a:defRPr>
                      </a:pPr>
                      <a:r>
                        <a:t>URL/source, timestamp, extracted text, matched variant</a:t>
                      </a:r>
                    </a:p>
                  </a:txBody>
                  <a:tcPr>
                    <a:solidFill>
                      <a:srgbClr val="E9EEF8"/>
                    </a:solidFill>
                  </a:tcPr>
                </a:tc>
                <a:tc>
                  <a:txBody>
                    <a:bodyPr/>
                    <a:lstStyle/>
                    <a:p>
                      <a:pPr>
                        <a:defRPr sz="1100">
                          <a:solidFill>
                            <a:srgbClr val="202B3C"/>
                          </a:solidFill>
                          <a:latin typeface="Calibri" panose="020F0502020204030204"/>
                        </a:defRPr>
                      </a:pPr>
                      <a:r>
                        <a:t>Leak detection and attribution</a:t>
                      </a:r>
                    </a:p>
                  </a:txBody>
                  <a:tcPr>
                    <a:solidFill>
                      <a:srgbClr val="E9EEF8"/>
                    </a:solidFill>
                  </a:tcPr>
                </a:tc>
                <a:extLst>
                  <a:ext uri="{0D108BD9-81ED-4DB2-BD59-A6C34878D82A}">
                    <a16:rowId xmlns:a16="http://schemas.microsoft.com/office/drawing/2014/main" val="10004"/>
                  </a:ext>
                </a:extLst>
              </a:tr>
              <a:tr h="647700">
                <a:tc>
                  <a:txBody>
                    <a:bodyPr/>
                    <a:lstStyle/>
                    <a:p>
                      <a:pPr>
                        <a:defRPr sz="1100">
                          <a:solidFill>
                            <a:srgbClr val="202B3C"/>
                          </a:solidFill>
                          <a:latin typeface="Calibri" panose="020F0502020204030204"/>
                        </a:defRPr>
                      </a:pPr>
                      <a:r>
                        <a:t>Encrypted blobs</a:t>
                      </a:r>
                    </a:p>
                  </a:txBody>
                  <a:tcPr>
                    <a:solidFill>
                      <a:srgbClr val="FFFFFF"/>
                    </a:solidFill>
                  </a:tcPr>
                </a:tc>
                <a:tc>
                  <a:txBody>
                    <a:bodyPr/>
                    <a:lstStyle/>
                    <a:p>
                      <a:pPr>
                        <a:defRPr sz="1100">
                          <a:solidFill>
                            <a:srgbClr val="202B3C"/>
                          </a:solidFill>
                          <a:latin typeface="Calibri" panose="020F0502020204030204"/>
                        </a:defRPr>
                      </a:pPr>
                      <a:r>
                        <a:t>1 / variant</a:t>
                      </a:r>
                    </a:p>
                  </a:txBody>
                  <a:tcPr>
                    <a:solidFill>
                      <a:srgbClr val="FFFFFF"/>
                    </a:solidFill>
                  </a:tcPr>
                </a:tc>
                <a:tc>
                  <a:txBody>
                    <a:bodyPr/>
                    <a:lstStyle/>
                    <a:p>
                      <a:pPr>
                        <a:defRPr sz="1100">
                          <a:solidFill>
                            <a:srgbClr val="202B3C"/>
                          </a:solidFill>
                          <a:latin typeface="Calibri" panose="020F0502020204030204"/>
                        </a:defRPr>
                      </a:pPr>
                      <a:r>
                        <a:t>ciphertext, IV/nonce, encryption metadata</a:t>
                      </a:r>
                    </a:p>
                  </a:txBody>
                  <a:tcPr>
                    <a:solidFill>
                      <a:srgbClr val="FFFFFF"/>
                    </a:solidFill>
                  </a:tcPr>
                </a:tc>
                <a:tc>
                  <a:txBody>
                    <a:bodyPr/>
                    <a:lstStyle/>
                    <a:p>
                      <a:pPr>
                        <a:defRPr sz="1100">
                          <a:solidFill>
                            <a:srgbClr val="202B3C"/>
                          </a:solidFill>
                          <a:latin typeface="Calibri" panose="020F0502020204030204"/>
                        </a:defRPr>
                      </a:pPr>
                      <a:r>
                        <a:t>Confidential transmission and timed release</a:t>
                      </a:r>
                    </a:p>
                  </a:txBody>
                  <a:tcPr>
                    <a:solidFill>
                      <a:srgbClr val="FFFFFF"/>
                    </a:solidFill>
                  </a:tcPr>
                </a:tc>
                <a:extLst>
                  <a:ext uri="{0D108BD9-81ED-4DB2-BD59-A6C34878D82A}">
                    <a16:rowId xmlns:a16="http://schemas.microsoft.com/office/drawing/2014/main" val="10005"/>
                  </a:ext>
                </a:extLst>
              </a:tr>
            </a:tbl>
          </a:graphicData>
        </a:graphic>
      </p:graphicFrame>
      <p:sp>
        <p:nvSpPr>
          <p:cNvPr id="75" name="TextBox 74"/>
          <p:cNvSpPr txBox="1"/>
          <p:nvPr/>
        </p:nvSpPr>
        <p:spPr>
          <a:xfrm>
            <a:off x="685800" y="1481328"/>
            <a:ext cx="10698480" cy="320040"/>
          </a:xfrm>
          <a:prstGeom prst="rect">
            <a:avLst/>
          </a:prstGeom>
          <a:noFill/>
        </p:spPr>
        <p:txBody>
          <a:bodyPr wrap="square" lIns="45720" rIns="45720">
            <a:spAutoFit/>
          </a:bodyPr>
          <a:lstStyle/>
          <a:p>
            <a:pPr algn="ctr"/>
            <a:r>
              <a:rPr sz="1400" b="0">
                <a:solidFill>
                  <a:srgbClr val="5E6878"/>
                </a:solidFill>
                <a:latin typeface="Calibri" panose="020F0502020204030204"/>
              </a:rPr>
              <a:t>The project does not depend on a conventional ML training dataset; its data is an auditable collection of papers, variants, metadata and observed online content.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PlaceHolder 1"/>
          <p:cNvSpPr>
            <a:spLocks noGrp="1"/>
          </p:cNvSpPr>
          <p:nvPr>
            <p:ph type="title"/>
          </p:nvPr>
        </p:nvSpPr>
        <p:spPr>
          <a:xfrm>
            <a:off x="838080" y="158760"/>
            <a:ext cx="10515600" cy="944640"/>
          </a:xfrm>
          <a:prstGeom prst="rect">
            <a:avLst/>
          </a:prstGeom>
          <a:noFill/>
          <a:ln w="0">
            <a:noFill/>
          </a:ln>
        </p:spPr>
        <p:txBody>
          <a:bodyPr wrap="square" lIns="91440" tIns="45720" rIns="91440" bIns="45720" anchor="ctr">
            <a:noAutofit/>
          </a:bodyPr>
          <a:lstStyle/>
          <a:p>
            <a:pPr indent="0">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3800" b="1">
                <a:solidFill>
                  <a:srgbClr val="002060"/>
                </a:solidFill>
                <a:latin typeface="Calibri Light" panose="020F0302020204030204"/>
              </a:rPr>
              <a:t>Experimental Results &amp; Discussion</a:t>
            </a:r>
            <a:endParaRPr lang="en-US" sz="4400" b="0" u="none" strike="noStrike">
              <a:solidFill>
                <a:srgbClr val="000000"/>
              </a:solidFill>
              <a:effectLst/>
              <a:uFillTx/>
              <a:latin typeface="Calibri Light" panose="020F0302020204030204"/>
            </a:endParaRPr>
          </a:p>
        </p:txBody>
      </p:sp>
      <p:sp>
        <p:nvSpPr>
          <p:cNvPr id="77" name="Date Placeholder 3"/>
          <p:cNvSpPr/>
          <p:nvPr/>
        </p:nvSpPr>
        <p:spPr>
          <a:xfrm>
            <a:off x="266760" y="6558120"/>
            <a:ext cx="2209680" cy="299880"/>
          </a:xfrm>
          <a:prstGeom prst="rect">
            <a:avLst/>
          </a:prstGeom>
          <a:noFill/>
          <a:ln w="0">
            <a:noFill/>
          </a:ln>
        </p:spPr>
        <p:style>
          <a:lnRef idx="0">
            <a:srgbClr val="FFFFFF"/>
          </a:lnRef>
          <a:fillRef idx="0">
            <a:srgbClr val="FFFFFF"/>
          </a:fillRef>
          <a:effectRef idx="0">
            <a:srgbClr val="FFFFFF"/>
          </a:effectRef>
          <a:fontRef idx="minor"/>
        </p:style>
        <p:txBody>
          <a:bodyPr wrap="square" lIns="90000" tIns="46800" rIns="90000" bIns="46800" anchor="ctr">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1400" b="0">
                <a:solidFill>
                  <a:srgbClr val="FFFFFF"/>
                </a:solidFill>
                <a:latin typeface="Georgia" panose="02040502050405020303"/>
              </a:rPr>
              <a:t>06/10/26</a:t>
            </a:r>
            <a:endParaRPr lang="en-US" sz="1200" b="0" u="none" strike="noStrike">
              <a:solidFill>
                <a:srgbClr val="000000"/>
              </a:solidFill>
              <a:effectLst/>
              <a:uFillTx/>
              <a:latin typeface="Calibri" panose="020F0502020204030204"/>
            </a:endParaRPr>
          </a:p>
        </p:txBody>
      </p:sp>
      <p:sp>
        <p:nvSpPr>
          <p:cNvPr id="78" name="Footer Placeholder 4"/>
          <p:cNvSpPr/>
          <p:nvPr/>
        </p:nvSpPr>
        <p:spPr>
          <a:xfrm>
            <a:off x="2859120" y="6492960"/>
            <a:ext cx="6597720" cy="365040"/>
          </a:xfrm>
          <a:prstGeom prst="rect">
            <a:avLst/>
          </a:prstGeom>
          <a:noFill/>
          <a:ln w="0">
            <a:noFill/>
          </a:ln>
        </p:spPr>
        <p:style>
          <a:lnRef idx="0">
            <a:srgbClr val="FFFFFF"/>
          </a:lnRef>
          <a:fillRef idx="0">
            <a:srgbClr val="FFFFFF"/>
          </a:fillRef>
          <a:effectRef idx="0">
            <a:srgbClr val="FFFFFF"/>
          </a:effectRef>
          <a:fontRef idx="minor"/>
        </p:style>
        <p:txBody>
          <a:bodyPr wrap="square" lIns="90000" tIns="46800" rIns="90000" bIns="46800" anchor="ctr">
            <a:norm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1400" b="0">
                <a:solidFill>
                  <a:srgbClr val="FFFFFF"/>
                </a:solidFill>
                <a:latin typeface="Georgia" panose="02040502050405020303"/>
              </a:rPr>
              <a:t>International Institute of Information Technology, Naya Raipur</a:t>
            </a:r>
            <a:endParaRPr lang="en-US" sz="1400" b="0" u="none" strike="noStrike">
              <a:solidFill>
                <a:srgbClr val="000000"/>
              </a:solidFill>
              <a:effectLst/>
              <a:uFillTx/>
              <a:latin typeface="Calibri" panose="020F0502020204030204"/>
            </a:endParaRPr>
          </a:p>
        </p:txBody>
      </p:sp>
      <p:sp>
        <p:nvSpPr>
          <p:cNvPr id="79" name="Slide Number Placeholder 5"/>
          <p:cNvSpPr/>
          <p:nvPr/>
        </p:nvSpPr>
        <p:spPr>
          <a:xfrm>
            <a:off x="9629640" y="6492960"/>
            <a:ext cx="1979640" cy="365040"/>
          </a:xfrm>
          <a:prstGeom prst="rect">
            <a:avLst/>
          </a:prstGeom>
          <a:noFill/>
          <a:ln w="0">
            <a:noFill/>
          </a:ln>
        </p:spPr>
        <p:style>
          <a:lnRef idx="0">
            <a:srgbClr val="FFFFFF"/>
          </a:lnRef>
          <a:fillRef idx="0">
            <a:srgbClr val="FFFFFF"/>
          </a:fillRef>
          <a:effectRef idx="0">
            <a:srgbClr val="FFFFFF"/>
          </a:effectRef>
          <a:fontRef idx="minor"/>
        </p:style>
        <p:txBody>
          <a:bodyPr wrap="square" lIns="90000" tIns="46800" rIns="90000" bIns="46800" anchor="ctr">
            <a:normAutofit/>
          </a:bodyPr>
          <a:lstStyle/>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1400" b="0">
                <a:solidFill>
                  <a:srgbClr val="FFFFFF"/>
                </a:solidFill>
                <a:latin typeface="Georgia" panose="02040502050405020303"/>
              </a:rPr>
              <a:t>11</a:t>
            </a:r>
            <a:endParaRPr lang="en-US" sz="1200" b="0" u="none" strike="noStrike">
              <a:solidFill>
                <a:srgbClr val="000000"/>
              </a:solidFill>
              <a:effectLst/>
              <a:uFillTx/>
              <a:latin typeface="Calibri" panose="020F0502020204030204"/>
            </a:endParaRPr>
          </a:p>
        </p:txBody>
      </p:sp>
      <p:sp>
        <p:nvSpPr>
          <p:cNvPr id="80" name="TextBox 79"/>
          <p:cNvSpPr txBox="1"/>
          <p:nvPr/>
        </p:nvSpPr>
        <p:spPr>
          <a:xfrm>
            <a:off x="640080" y="1417320"/>
            <a:ext cx="10881360" cy="384048"/>
          </a:xfrm>
          <a:prstGeom prst="rect">
            <a:avLst/>
          </a:prstGeom>
          <a:noFill/>
        </p:spPr>
        <p:txBody>
          <a:bodyPr wrap="square" lIns="45720" rIns="45720">
            <a:spAutoFit/>
          </a:bodyPr>
          <a:lstStyle/>
          <a:p>
            <a:pPr algn="ctr"/>
            <a:r>
              <a:rPr sz="1600" b="1">
                <a:solidFill>
                  <a:srgbClr val="B26A00"/>
                </a:solidFill>
                <a:latin typeface="Calibri" panose="020F0502020204030204"/>
              </a:rPr>
              <a:t>Midterm status: architecture and evaluation protocol defined; final benchmark values will be reported after implementation.</a:t>
            </a:r>
          </a:p>
        </p:txBody>
      </p:sp>
      <p:sp>
        <p:nvSpPr>
          <p:cNvPr id="81" name="Rounded Rectangle 80"/>
          <p:cNvSpPr/>
          <p:nvPr/>
        </p:nvSpPr>
        <p:spPr>
          <a:xfrm>
            <a:off x="594360" y="1965960"/>
            <a:ext cx="3337560" cy="1325880"/>
          </a:xfrm>
          <a:prstGeom prst="roundRect">
            <a:avLst/>
          </a:prstGeom>
          <a:solidFill>
            <a:srgbClr val="FFFFFF"/>
          </a:solidFill>
          <a:ln w="15240">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704088" y="2075688"/>
            <a:ext cx="3108960" cy="274320"/>
          </a:xfrm>
          <a:prstGeom prst="rect">
            <a:avLst/>
          </a:prstGeom>
          <a:noFill/>
        </p:spPr>
        <p:txBody>
          <a:bodyPr wrap="square" lIns="45720" rIns="45720">
            <a:spAutoFit/>
          </a:bodyPr>
          <a:lstStyle/>
          <a:p>
            <a:pPr algn="ctr"/>
            <a:r>
              <a:rPr sz="1600" b="1">
                <a:solidFill>
                  <a:srgbClr val="002060"/>
                </a:solidFill>
                <a:latin typeface="Calibri" panose="020F0502020204030204"/>
              </a:rPr>
              <a:t>Confidentiality</a:t>
            </a:r>
          </a:p>
        </p:txBody>
      </p:sp>
      <p:sp>
        <p:nvSpPr>
          <p:cNvPr id="83" name="TextBox 82"/>
          <p:cNvSpPr txBox="1"/>
          <p:nvPr/>
        </p:nvSpPr>
        <p:spPr>
          <a:xfrm>
            <a:off x="704088" y="2404872"/>
            <a:ext cx="3108960" cy="292608"/>
          </a:xfrm>
          <a:prstGeom prst="rect">
            <a:avLst/>
          </a:prstGeom>
          <a:noFill/>
        </p:spPr>
        <p:txBody>
          <a:bodyPr wrap="square" lIns="45720" rIns="45720">
            <a:spAutoFit/>
          </a:bodyPr>
          <a:lstStyle/>
          <a:p>
            <a:pPr algn="ctr"/>
            <a:r>
              <a:rPr sz="1200" b="1">
                <a:solidFill>
                  <a:srgbClr val="202B3C"/>
                </a:solidFill>
                <a:latin typeface="Calibri" panose="020F0502020204030204"/>
              </a:rPr>
              <a:t>AES-256 encrypted blobs</a:t>
            </a:r>
          </a:p>
        </p:txBody>
      </p:sp>
      <p:sp>
        <p:nvSpPr>
          <p:cNvPr id="84" name="TextBox 83"/>
          <p:cNvSpPr txBox="1"/>
          <p:nvPr/>
        </p:nvSpPr>
        <p:spPr>
          <a:xfrm>
            <a:off x="704088" y="2743200"/>
            <a:ext cx="3108960" cy="438912"/>
          </a:xfrm>
          <a:prstGeom prst="rect">
            <a:avLst/>
          </a:prstGeom>
          <a:noFill/>
        </p:spPr>
        <p:txBody>
          <a:bodyPr wrap="square" lIns="45720" rIns="45720">
            <a:spAutoFit/>
          </a:bodyPr>
          <a:lstStyle/>
          <a:p>
            <a:pPr algn="ctr"/>
            <a:r>
              <a:rPr sz="1050" b="0">
                <a:solidFill>
                  <a:srgbClr val="5E6878"/>
                </a:solidFill>
                <a:latin typeface="Calibri" panose="020F0502020204030204"/>
              </a:rPr>
              <a:t>Verify plaintext is unavailable before authorized release</a:t>
            </a:r>
          </a:p>
        </p:txBody>
      </p:sp>
      <p:sp>
        <p:nvSpPr>
          <p:cNvPr id="85" name="Rounded Rectangle 84"/>
          <p:cNvSpPr/>
          <p:nvPr/>
        </p:nvSpPr>
        <p:spPr>
          <a:xfrm>
            <a:off x="4389120" y="1965960"/>
            <a:ext cx="3337560" cy="1325880"/>
          </a:xfrm>
          <a:prstGeom prst="roundRect">
            <a:avLst/>
          </a:prstGeom>
          <a:solidFill>
            <a:srgbClr val="FFFFFF"/>
          </a:solidFill>
          <a:ln w="1524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4498848" y="2075688"/>
            <a:ext cx="3108960" cy="274320"/>
          </a:xfrm>
          <a:prstGeom prst="rect">
            <a:avLst/>
          </a:prstGeom>
          <a:noFill/>
        </p:spPr>
        <p:txBody>
          <a:bodyPr wrap="square" lIns="45720" rIns="45720">
            <a:spAutoFit/>
          </a:bodyPr>
          <a:lstStyle/>
          <a:p>
            <a:pPr algn="ctr"/>
            <a:r>
              <a:rPr sz="1600" b="1">
                <a:solidFill>
                  <a:srgbClr val="2E7D32"/>
                </a:solidFill>
                <a:latin typeface="Calibri" panose="020F0502020204030204"/>
              </a:rPr>
              <a:t>Integrity</a:t>
            </a:r>
          </a:p>
        </p:txBody>
      </p:sp>
      <p:sp>
        <p:nvSpPr>
          <p:cNvPr id="87" name="TextBox 86"/>
          <p:cNvSpPr txBox="1"/>
          <p:nvPr/>
        </p:nvSpPr>
        <p:spPr>
          <a:xfrm>
            <a:off x="4498848" y="2404872"/>
            <a:ext cx="3108960" cy="292608"/>
          </a:xfrm>
          <a:prstGeom prst="rect">
            <a:avLst/>
          </a:prstGeom>
          <a:noFill/>
        </p:spPr>
        <p:txBody>
          <a:bodyPr wrap="square" lIns="45720" rIns="45720">
            <a:spAutoFit/>
          </a:bodyPr>
          <a:lstStyle/>
          <a:p>
            <a:pPr algn="ctr"/>
            <a:r>
              <a:rPr sz="1200" b="1">
                <a:solidFill>
                  <a:srgbClr val="202B3C"/>
                </a:solidFill>
                <a:latin typeface="Calibri" panose="020F0502020204030204"/>
              </a:rPr>
              <a:t>SHA-256 paper fingerprints</a:t>
            </a:r>
          </a:p>
        </p:txBody>
      </p:sp>
      <p:sp>
        <p:nvSpPr>
          <p:cNvPr id="88" name="TextBox 87"/>
          <p:cNvSpPr txBox="1"/>
          <p:nvPr/>
        </p:nvSpPr>
        <p:spPr>
          <a:xfrm>
            <a:off x="4498848" y="2743200"/>
            <a:ext cx="3108960" cy="438912"/>
          </a:xfrm>
          <a:prstGeom prst="rect">
            <a:avLst/>
          </a:prstGeom>
          <a:noFill/>
        </p:spPr>
        <p:txBody>
          <a:bodyPr wrap="square" lIns="45720" rIns="45720">
            <a:spAutoFit/>
          </a:bodyPr>
          <a:lstStyle/>
          <a:p>
            <a:pPr algn="ctr"/>
            <a:r>
              <a:rPr sz="1050" b="0">
                <a:solidFill>
                  <a:srgbClr val="5E6878"/>
                </a:solidFill>
                <a:latin typeface="Calibri" panose="020F0502020204030204"/>
              </a:rPr>
              <a:t>Hash comparison before/after transmission</a:t>
            </a:r>
          </a:p>
        </p:txBody>
      </p:sp>
      <p:sp>
        <p:nvSpPr>
          <p:cNvPr id="89" name="Rounded Rectangle 88"/>
          <p:cNvSpPr/>
          <p:nvPr/>
        </p:nvSpPr>
        <p:spPr>
          <a:xfrm>
            <a:off x="8183880" y="1965960"/>
            <a:ext cx="3337560" cy="1325880"/>
          </a:xfrm>
          <a:prstGeom prst="roundRect">
            <a:avLst/>
          </a:prstGeom>
          <a:solidFill>
            <a:srgbClr val="FFFFFF"/>
          </a:solidFill>
          <a:ln w="15240">
            <a:solidFill>
              <a:srgbClr val="B7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p:cNvSpPr txBox="1"/>
          <p:nvPr/>
        </p:nvSpPr>
        <p:spPr>
          <a:xfrm>
            <a:off x="8293608" y="2075688"/>
            <a:ext cx="3108960" cy="274320"/>
          </a:xfrm>
          <a:prstGeom prst="rect">
            <a:avLst/>
          </a:prstGeom>
          <a:noFill/>
        </p:spPr>
        <p:txBody>
          <a:bodyPr wrap="square" lIns="45720" rIns="45720">
            <a:spAutoFit/>
          </a:bodyPr>
          <a:lstStyle/>
          <a:p>
            <a:pPr algn="ctr"/>
            <a:r>
              <a:rPr sz="1600" b="1">
                <a:solidFill>
                  <a:srgbClr val="B71C1C"/>
                </a:solidFill>
                <a:latin typeface="Calibri" panose="020F0502020204030204"/>
              </a:rPr>
              <a:t>Time-lock</a:t>
            </a:r>
          </a:p>
        </p:txBody>
      </p:sp>
      <p:sp>
        <p:nvSpPr>
          <p:cNvPr id="91" name="TextBox 90"/>
          <p:cNvSpPr txBox="1"/>
          <p:nvPr/>
        </p:nvSpPr>
        <p:spPr>
          <a:xfrm>
            <a:off x="8293608" y="2404872"/>
            <a:ext cx="3108960" cy="292608"/>
          </a:xfrm>
          <a:prstGeom prst="rect">
            <a:avLst/>
          </a:prstGeom>
          <a:noFill/>
        </p:spPr>
        <p:txBody>
          <a:bodyPr wrap="square" lIns="45720" rIns="45720">
            <a:spAutoFit/>
          </a:bodyPr>
          <a:lstStyle/>
          <a:p>
            <a:pPr algn="ctr"/>
            <a:r>
              <a:rPr sz="1200" b="1">
                <a:solidFill>
                  <a:srgbClr val="202B3C"/>
                </a:solidFill>
                <a:latin typeface="Calibri" panose="020F0502020204030204"/>
              </a:rPr>
              <a:t>Smart-contract timestamp</a:t>
            </a:r>
          </a:p>
        </p:txBody>
      </p:sp>
      <p:sp>
        <p:nvSpPr>
          <p:cNvPr id="92" name="TextBox 91"/>
          <p:cNvSpPr txBox="1"/>
          <p:nvPr/>
        </p:nvSpPr>
        <p:spPr>
          <a:xfrm>
            <a:off x="8293608" y="2743200"/>
            <a:ext cx="3108960" cy="438912"/>
          </a:xfrm>
          <a:prstGeom prst="rect">
            <a:avLst/>
          </a:prstGeom>
          <a:noFill/>
        </p:spPr>
        <p:txBody>
          <a:bodyPr wrap="square" lIns="45720" rIns="45720">
            <a:spAutoFit/>
          </a:bodyPr>
          <a:lstStyle/>
          <a:p>
            <a:pPr algn="ctr"/>
            <a:r>
              <a:rPr sz="1050" b="0">
                <a:solidFill>
                  <a:srgbClr val="5E6878"/>
                </a:solidFill>
                <a:latin typeface="Calibri" panose="020F0502020204030204"/>
              </a:rPr>
              <a:t>Measure early-access rejection + on-time release</a:t>
            </a:r>
          </a:p>
        </p:txBody>
      </p:sp>
      <p:sp>
        <p:nvSpPr>
          <p:cNvPr id="93" name="Rounded Rectangle 92"/>
          <p:cNvSpPr/>
          <p:nvPr/>
        </p:nvSpPr>
        <p:spPr>
          <a:xfrm>
            <a:off x="594360" y="3657600"/>
            <a:ext cx="3337560" cy="1325880"/>
          </a:xfrm>
          <a:prstGeom prst="roundRect">
            <a:avLst/>
          </a:prstGeom>
          <a:solidFill>
            <a:srgbClr val="FFFFFF"/>
          </a:solidFill>
          <a:ln w="15240">
            <a:solidFill>
              <a:srgbClr val="142D7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TextBox 93"/>
          <p:cNvSpPr txBox="1"/>
          <p:nvPr/>
        </p:nvSpPr>
        <p:spPr>
          <a:xfrm>
            <a:off x="704088" y="3767328"/>
            <a:ext cx="3108960" cy="274320"/>
          </a:xfrm>
          <a:prstGeom prst="rect">
            <a:avLst/>
          </a:prstGeom>
          <a:noFill/>
        </p:spPr>
        <p:txBody>
          <a:bodyPr wrap="square" lIns="45720" rIns="45720">
            <a:spAutoFit/>
          </a:bodyPr>
          <a:lstStyle/>
          <a:p>
            <a:pPr algn="ctr"/>
            <a:r>
              <a:rPr sz="1600" b="1">
                <a:solidFill>
                  <a:srgbClr val="142D7E"/>
                </a:solidFill>
                <a:latin typeface="Calibri" panose="020F0502020204030204"/>
              </a:rPr>
              <a:t>Traceability</a:t>
            </a:r>
          </a:p>
        </p:txBody>
      </p:sp>
      <p:sp>
        <p:nvSpPr>
          <p:cNvPr id="95" name="TextBox 94"/>
          <p:cNvSpPr txBox="1"/>
          <p:nvPr/>
        </p:nvSpPr>
        <p:spPr>
          <a:xfrm>
            <a:off x="704088" y="4096512"/>
            <a:ext cx="3108960" cy="292608"/>
          </a:xfrm>
          <a:prstGeom prst="rect">
            <a:avLst/>
          </a:prstGeom>
          <a:noFill/>
        </p:spPr>
        <p:txBody>
          <a:bodyPr wrap="square" lIns="45720" rIns="45720">
            <a:spAutoFit/>
          </a:bodyPr>
          <a:lstStyle/>
          <a:p>
            <a:pPr algn="ctr"/>
            <a:r>
              <a:rPr sz="1200" b="1">
                <a:solidFill>
                  <a:srgbClr val="202B3C"/>
                </a:solidFill>
                <a:latin typeface="Calibri" panose="020F0502020204030204"/>
              </a:rPr>
              <a:t>Variant fingerprinting</a:t>
            </a:r>
          </a:p>
        </p:txBody>
      </p:sp>
      <p:sp>
        <p:nvSpPr>
          <p:cNvPr id="96" name="TextBox 95"/>
          <p:cNvSpPr txBox="1"/>
          <p:nvPr/>
        </p:nvSpPr>
        <p:spPr>
          <a:xfrm>
            <a:off x="704088" y="4434840"/>
            <a:ext cx="3108960" cy="438912"/>
          </a:xfrm>
          <a:prstGeom prst="rect">
            <a:avLst/>
          </a:prstGeom>
          <a:noFill/>
        </p:spPr>
        <p:txBody>
          <a:bodyPr wrap="square" lIns="45720" rIns="45720">
            <a:spAutoFit/>
          </a:bodyPr>
          <a:lstStyle/>
          <a:p>
            <a:pPr algn="ctr"/>
            <a:r>
              <a:rPr sz="1050" b="0">
                <a:solidFill>
                  <a:srgbClr val="5E6878"/>
                </a:solidFill>
                <a:latin typeface="Calibri" panose="020F0502020204030204"/>
              </a:rPr>
              <a:t>Measure correct identification of leaked variant</a:t>
            </a:r>
          </a:p>
        </p:txBody>
      </p:sp>
      <p:sp>
        <p:nvSpPr>
          <p:cNvPr id="97" name="Rounded Rectangle 96"/>
          <p:cNvSpPr/>
          <p:nvPr/>
        </p:nvSpPr>
        <p:spPr>
          <a:xfrm>
            <a:off x="4389120" y="3657600"/>
            <a:ext cx="3337560" cy="1325880"/>
          </a:xfrm>
          <a:prstGeom prst="roundRect">
            <a:avLst/>
          </a:prstGeom>
          <a:solidFill>
            <a:srgbClr val="FFFFFF"/>
          </a:solidFill>
          <a:ln w="15240">
            <a:solidFill>
              <a:srgbClr val="B26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TextBox 97"/>
          <p:cNvSpPr txBox="1"/>
          <p:nvPr/>
        </p:nvSpPr>
        <p:spPr>
          <a:xfrm>
            <a:off x="4498848" y="3767328"/>
            <a:ext cx="3108960" cy="274320"/>
          </a:xfrm>
          <a:prstGeom prst="rect">
            <a:avLst/>
          </a:prstGeom>
          <a:noFill/>
        </p:spPr>
        <p:txBody>
          <a:bodyPr wrap="square" lIns="45720" rIns="45720">
            <a:spAutoFit/>
          </a:bodyPr>
          <a:lstStyle/>
          <a:p>
            <a:pPr algn="ctr"/>
            <a:r>
              <a:rPr sz="1600" b="1">
                <a:solidFill>
                  <a:srgbClr val="B26A00"/>
                </a:solidFill>
                <a:latin typeface="Calibri" panose="020F0502020204030204"/>
              </a:rPr>
              <a:t>Web detection</a:t>
            </a:r>
          </a:p>
        </p:txBody>
      </p:sp>
      <p:sp>
        <p:nvSpPr>
          <p:cNvPr id="99" name="TextBox 98"/>
          <p:cNvSpPr txBox="1"/>
          <p:nvPr/>
        </p:nvSpPr>
        <p:spPr>
          <a:xfrm>
            <a:off x="4498848" y="4096512"/>
            <a:ext cx="3108960" cy="292608"/>
          </a:xfrm>
          <a:prstGeom prst="rect">
            <a:avLst/>
          </a:prstGeom>
          <a:noFill/>
        </p:spPr>
        <p:txBody>
          <a:bodyPr wrap="square" lIns="45720" rIns="45720">
            <a:spAutoFit/>
          </a:bodyPr>
          <a:lstStyle/>
          <a:p>
            <a:pPr algn="ctr"/>
            <a:r>
              <a:rPr sz="1200" b="1">
                <a:solidFill>
                  <a:srgbClr val="202B3C"/>
                </a:solidFill>
                <a:latin typeface="Calibri" panose="020F0502020204030204"/>
              </a:rPr>
              <a:t>Public-source scraper</a:t>
            </a:r>
          </a:p>
        </p:txBody>
      </p:sp>
      <p:sp>
        <p:nvSpPr>
          <p:cNvPr id="100" name="TextBox 99"/>
          <p:cNvSpPr txBox="1"/>
          <p:nvPr/>
        </p:nvSpPr>
        <p:spPr>
          <a:xfrm>
            <a:off x="4498848" y="4434840"/>
            <a:ext cx="3108960" cy="438912"/>
          </a:xfrm>
          <a:prstGeom prst="rect">
            <a:avLst/>
          </a:prstGeom>
          <a:noFill/>
        </p:spPr>
        <p:txBody>
          <a:bodyPr wrap="square" lIns="45720" rIns="45720">
            <a:spAutoFit/>
          </a:bodyPr>
          <a:lstStyle/>
          <a:p>
            <a:pPr algn="ctr"/>
            <a:r>
              <a:rPr sz="1050" b="0">
                <a:solidFill>
                  <a:srgbClr val="5E6878"/>
                </a:solidFill>
                <a:latin typeface="Calibri" panose="020F0502020204030204"/>
              </a:rPr>
              <a:t>Precision / recall of leak detection on seeded tests</a:t>
            </a:r>
          </a:p>
        </p:txBody>
      </p:sp>
      <p:sp>
        <p:nvSpPr>
          <p:cNvPr id="101" name="Rounded Rectangle 100"/>
          <p:cNvSpPr/>
          <p:nvPr/>
        </p:nvSpPr>
        <p:spPr>
          <a:xfrm>
            <a:off x="8183880" y="3657600"/>
            <a:ext cx="3337560" cy="1325880"/>
          </a:xfrm>
          <a:prstGeom prst="roundRect">
            <a:avLst/>
          </a:prstGeom>
          <a:solidFill>
            <a:srgbClr val="FFFFFF"/>
          </a:solidFill>
          <a:ln w="15240">
            <a:solidFill>
              <a:srgbClr val="5E68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TextBox 101"/>
          <p:cNvSpPr txBox="1"/>
          <p:nvPr/>
        </p:nvSpPr>
        <p:spPr>
          <a:xfrm>
            <a:off x="8293608" y="3767328"/>
            <a:ext cx="3108960" cy="274320"/>
          </a:xfrm>
          <a:prstGeom prst="rect">
            <a:avLst/>
          </a:prstGeom>
          <a:noFill/>
        </p:spPr>
        <p:txBody>
          <a:bodyPr wrap="square" lIns="45720" rIns="45720">
            <a:spAutoFit/>
          </a:bodyPr>
          <a:lstStyle/>
          <a:p>
            <a:pPr algn="ctr"/>
            <a:r>
              <a:rPr sz="1600" b="1">
                <a:solidFill>
                  <a:srgbClr val="5E6878"/>
                </a:solidFill>
                <a:latin typeface="Calibri" panose="020F0502020204030204"/>
              </a:rPr>
              <a:t>Overhead</a:t>
            </a:r>
          </a:p>
        </p:txBody>
      </p:sp>
      <p:sp>
        <p:nvSpPr>
          <p:cNvPr id="103" name="TextBox 102"/>
          <p:cNvSpPr txBox="1"/>
          <p:nvPr/>
        </p:nvSpPr>
        <p:spPr>
          <a:xfrm>
            <a:off x="8293608" y="4096512"/>
            <a:ext cx="3108960" cy="292608"/>
          </a:xfrm>
          <a:prstGeom prst="rect">
            <a:avLst/>
          </a:prstGeom>
          <a:noFill/>
        </p:spPr>
        <p:txBody>
          <a:bodyPr wrap="square" lIns="45720" rIns="45720">
            <a:spAutoFit/>
          </a:bodyPr>
          <a:lstStyle/>
          <a:p>
            <a:pPr algn="ctr"/>
            <a:r>
              <a:rPr sz="1200" b="1">
                <a:solidFill>
                  <a:srgbClr val="202B3C"/>
                </a:solidFill>
                <a:latin typeface="Calibri" panose="020F0502020204030204"/>
              </a:rPr>
              <a:t>Blockchain + scraping latency</a:t>
            </a:r>
          </a:p>
        </p:txBody>
      </p:sp>
      <p:sp>
        <p:nvSpPr>
          <p:cNvPr id="104" name="TextBox 103"/>
          <p:cNvSpPr txBox="1"/>
          <p:nvPr/>
        </p:nvSpPr>
        <p:spPr>
          <a:xfrm>
            <a:off x="8293608" y="4434840"/>
            <a:ext cx="3108960" cy="438912"/>
          </a:xfrm>
          <a:prstGeom prst="rect">
            <a:avLst/>
          </a:prstGeom>
          <a:noFill/>
        </p:spPr>
        <p:txBody>
          <a:bodyPr wrap="square" lIns="45720" rIns="45720">
            <a:spAutoFit/>
          </a:bodyPr>
          <a:lstStyle/>
          <a:p>
            <a:pPr algn="ctr"/>
            <a:r>
              <a:rPr sz="1050" b="0">
                <a:solidFill>
                  <a:srgbClr val="5E6878"/>
                </a:solidFill>
                <a:latin typeface="Calibri" panose="020F0502020204030204"/>
              </a:rPr>
              <a:t>Record encryption, transaction and detection time</a:t>
            </a:r>
          </a:p>
        </p:txBody>
      </p:sp>
      <p:sp>
        <p:nvSpPr>
          <p:cNvPr id="105" name="TextBox 104"/>
          <p:cNvSpPr txBox="1"/>
          <p:nvPr/>
        </p:nvSpPr>
        <p:spPr>
          <a:xfrm>
            <a:off x="731520" y="5577840"/>
            <a:ext cx="10515600" cy="502920"/>
          </a:xfrm>
          <a:prstGeom prst="rect">
            <a:avLst/>
          </a:prstGeom>
          <a:noFill/>
        </p:spPr>
        <p:txBody>
          <a:bodyPr wrap="square" lIns="45720" rIns="45720">
            <a:spAutoFit/>
          </a:bodyPr>
          <a:lstStyle/>
          <a:p>
            <a:pPr algn="ctr"/>
            <a:r>
              <a:rPr sz="1400" b="1">
                <a:solidFill>
                  <a:srgbClr val="002060"/>
                </a:solidFill>
                <a:latin typeface="Calibri" panose="020F0502020204030204"/>
              </a:rPr>
              <a:t>Planned benchmark: compare the proposed workflow against a conventional single-paper / centralized distribution baseline on security properties, release control and leak attribution.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Text Box 79"/>
          <p:cNvSpPr txBox="1"/>
          <p:nvPr/>
        </p:nvSpPr>
        <p:spPr>
          <a:xfrm>
            <a:off x="838080" y="1582200"/>
            <a:ext cx="10515600" cy="4054680"/>
          </a:xfrm>
          <a:prstGeom prst="rect">
            <a:avLst/>
          </a:prstGeom>
          <a:noFill/>
          <a:ln w="0">
            <a:noFill/>
          </a:ln>
        </p:spPr>
        <p:txBody>
          <a:bodyPr anchor="t">
            <a:normAutofit/>
          </a:bodyPr>
          <a:lstStyle/>
          <a:p>
            <a:endParaRPr/>
          </a:p>
        </p:txBody>
      </p:sp>
      <p:sp>
        <p:nvSpPr>
          <p:cNvPr id="81" name="PlaceHolder 1"/>
          <p:cNvSpPr>
            <a:spLocks noGrp="1"/>
          </p:cNvSpPr>
          <p:nvPr>
            <p:ph type="title"/>
          </p:nvPr>
        </p:nvSpPr>
        <p:spPr>
          <a:xfrm>
            <a:off x="838080" y="365040"/>
            <a:ext cx="10515600" cy="1325520"/>
          </a:xfrm>
          <a:prstGeom prst="rect">
            <a:avLst/>
          </a:prstGeom>
          <a:noFill/>
          <a:ln w="0">
            <a:noFill/>
          </a:ln>
        </p:spPr>
        <p:txBody>
          <a:bodyPr wrap="square" lIns="91440" tIns="45720" rIns="91440" bIns="45720" anchor="ctr">
            <a:noAutofit/>
          </a:bodyPr>
          <a:lstStyle/>
          <a:p>
            <a:pPr indent="0">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4000" b="1">
                <a:solidFill>
                  <a:srgbClr val="002060"/>
                </a:solidFill>
                <a:latin typeface="Calibri Light" panose="020F0302020204030204"/>
              </a:rPr>
              <a:t>Conclusion and Future Directions</a:t>
            </a:r>
            <a:endParaRPr lang="en-US" sz="4400" b="0" u="none" strike="noStrike">
              <a:solidFill>
                <a:srgbClr val="000000"/>
              </a:solidFill>
              <a:effectLst/>
              <a:uFillTx/>
              <a:latin typeface="Calibri Light" panose="020F0302020204030204"/>
            </a:endParaRPr>
          </a:p>
        </p:txBody>
      </p:sp>
      <p:sp>
        <p:nvSpPr>
          <p:cNvPr id="82" name="Date Placeholder 3"/>
          <p:cNvSpPr/>
          <p:nvPr/>
        </p:nvSpPr>
        <p:spPr>
          <a:xfrm>
            <a:off x="266760" y="6558120"/>
            <a:ext cx="2209680" cy="299880"/>
          </a:xfrm>
          <a:prstGeom prst="rect">
            <a:avLst/>
          </a:prstGeom>
          <a:noFill/>
          <a:ln w="0">
            <a:noFill/>
          </a:ln>
        </p:spPr>
        <p:style>
          <a:lnRef idx="0">
            <a:srgbClr val="FFFFFF"/>
          </a:lnRef>
          <a:fillRef idx="0">
            <a:srgbClr val="FFFFFF"/>
          </a:fillRef>
          <a:effectRef idx="0">
            <a:srgbClr val="FFFFFF"/>
          </a:effectRef>
          <a:fontRef idx="minor"/>
        </p:style>
        <p:txBody>
          <a:bodyPr wrap="square" lIns="90000" tIns="46800" rIns="90000" bIns="46800" anchor="ctr">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1400" b="0">
                <a:solidFill>
                  <a:srgbClr val="FFFFFF"/>
                </a:solidFill>
                <a:latin typeface="Georgia" panose="02040502050405020303"/>
              </a:rPr>
              <a:t>06/10/26</a:t>
            </a:r>
            <a:endParaRPr lang="en-US" sz="1200" b="0" u="none" strike="noStrike">
              <a:solidFill>
                <a:srgbClr val="000000"/>
              </a:solidFill>
              <a:effectLst/>
              <a:uFillTx/>
              <a:latin typeface="Calibri" panose="020F0502020204030204"/>
            </a:endParaRPr>
          </a:p>
        </p:txBody>
      </p:sp>
      <p:sp>
        <p:nvSpPr>
          <p:cNvPr id="83" name="Footer Placeholder 4"/>
          <p:cNvSpPr/>
          <p:nvPr/>
        </p:nvSpPr>
        <p:spPr>
          <a:xfrm>
            <a:off x="2859120" y="6492960"/>
            <a:ext cx="6597720" cy="365040"/>
          </a:xfrm>
          <a:prstGeom prst="rect">
            <a:avLst/>
          </a:prstGeom>
          <a:noFill/>
          <a:ln w="0">
            <a:noFill/>
          </a:ln>
        </p:spPr>
        <p:style>
          <a:lnRef idx="0">
            <a:srgbClr val="FFFFFF"/>
          </a:lnRef>
          <a:fillRef idx="0">
            <a:srgbClr val="FFFFFF"/>
          </a:fillRef>
          <a:effectRef idx="0">
            <a:srgbClr val="FFFFFF"/>
          </a:effectRef>
          <a:fontRef idx="minor"/>
        </p:style>
        <p:txBody>
          <a:bodyPr wrap="square" lIns="90000" tIns="46800" rIns="90000" bIns="46800" anchor="ctr">
            <a:norm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1400" b="0">
                <a:solidFill>
                  <a:srgbClr val="FFFFFF"/>
                </a:solidFill>
                <a:latin typeface="Georgia" panose="02040502050405020303"/>
              </a:rPr>
              <a:t>International Institute of Information Technology, Naya Raipur</a:t>
            </a:r>
            <a:endParaRPr lang="en-US" sz="1400" b="0" u="none" strike="noStrike">
              <a:solidFill>
                <a:srgbClr val="000000"/>
              </a:solidFill>
              <a:effectLst/>
              <a:uFillTx/>
              <a:latin typeface="Calibri" panose="020F0502020204030204"/>
            </a:endParaRPr>
          </a:p>
        </p:txBody>
      </p:sp>
      <p:sp>
        <p:nvSpPr>
          <p:cNvPr id="84" name="Slide Number Placeholder 5"/>
          <p:cNvSpPr/>
          <p:nvPr/>
        </p:nvSpPr>
        <p:spPr>
          <a:xfrm>
            <a:off x="9629640" y="6492960"/>
            <a:ext cx="1979640" cy="365040"/>
          </a:xfrm>
          <a:prstGeom prst="rect">
            <a:avLst/>
          </a:prstGeom>
          <a:noFill/>
          <a:ln w="0">
            <a:noFill/>
          </a:ln>
        </p:spPr>
        <p:style>
          <a:lnRef idx="0">
            <a:srgbClr val="FFFFFF"/>
          </a:lnRef>
          <a:fillRef idx="0">
            <a:srgbClr val="FFFFFF"/>
          </a:fillRef>
          <a:effectRef idx="0">
            <a:srgbClr val="FFFFFF"/>
          </a:effectRef>
          <a:fontRef idx="minor"/>
        </p:style>
        <p:txBody>
          <a:bodyPr wrap="square" lIns="90000" tIns="46800" rIns="90000" bIns="46800" anchor="ctr">
            <a:normAutofit/>
          </a:bodyPr>
          <a:lstStyle/>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1400" b="0">
                <a:solidFill>
                  <a:srgbClr val="FFFFFF"/>
                </a:solidFill>
                <a:latin typeface="Georgia" panose="02040502050405020303"/>
              </a:rPr>
              <a:t>12</a:t>
            </a:r>
            <a:endParaRPr lang="en-US" sz="1200" b="0" u="none" strike="noStrike">
              <a:solidFill>
                <a:srgbClr val="000000"/>
              </a:solidFill>
              <a:effectLst/>
              <a:uFillTx/>
              <a:latin typeface="Calibri" panose="020F0502020204030204"/>
            </a:endParaRPr>
          </a:p>
        </p:txBody>
      </p:sp>
      <p:sp>
        <p:nvSpPr>
          <p:cNvPr id="85" name="TextBox 84"/>
          <p:cNvSpPr txBox="1"/>
          <p:nvPr/>
        </p:nvSpPr>
        <p:spPr>
          <a:xfrm>
            <a:off x="914400" y="1645920"/>
            <a:ext cx="10241280" cy="4480560"/>
          </a:xfrm>
          <a:prstGeom prst="rect">
            <a:avLst/>
          </a:prstGeom>
          <a:noFill/>
        </p:spPr>
        <p:txBody>
          <a:bodyPr wrap="square" lIns="45720" tIns="18288" rIns="45720" bIns="18288">
            <a:spAutoFit/>
          </a:bodyPr>
          <a:lstStyle/>
          <a:p>
            <a:pPr>
              <a:lnSpc>
                <a:spcPct val="105000"/>
              </a:lnSpc>
              <a:spcAft>
                <a:spcPts val="700"/>
              </a:spcAft>
              <a:defRPr sz="1900">
                <a:solidFill>
                  <a:srgbClr val="202B3C"/>
                </a:solidFill>
                <a:latin typeface="Calibri" panose="020F0502020204030204"/>
              </a:defRPr>
            </a:pPr>
            <a:r>
              <a:t>The proposed architecture reduces physical custody points by moving to encrypted digital board → centre delivery.</a:t>
            </a:r>
          </a:p>
          <a:p>
            <a:pPr>
              <a:lnSpc>
                <a:spcPct val="105000"/>
              </a:lnSpc>
              <a:spcAft>
                <a:spcPts val="700"/>
              </a:spcAft>
              <a:defRPr sz="1900">
                <a:solidFill>
                  <a:srgbClr val="202B3C"/>
                </a:solidFill>
                <a:latin typeface="Calibri" panose="020F0502020204030204"/>
              </a:defRPr>
            </a:pPr>
            <a:r>
              <a:t>Blockchain provides an immutable record of paper hashes, centre assignments and release events.</a:t>
            </a:r>
          </a:p>
          <a:p>
            <a:pPr>
              <a:lnSpc>
                <a:spcPct val="105000"/>
              </a:lnSpc>
              <a:spcAft>
                <a:spcPts val="700"/>
              </a:spcAft>
              <a:defRPr sz="1900">
                <a:solidFill>
                  <a:srgbClr val="202B3C"/>
                </a:solidFill>
                <a:latin typeface="Calibri" panose="020F0502020204030204"/>
              </a:defRPr>
            </a:pPr>
            <a:r>
              <a:t>Time-locked access addresses the pre-exam confidentiality window.</a:t>
            </a:r>
          </a:p>
          <a:p>
            <a:pPr>
              <a:lnSpc>
                <a:spcPct val="105000"/>
              </a:lnSpc>
              <a:spcAft>
                <a:spcPts val="700"/>
              </a:spcAft>
              <a:defRPr sz="1900">
                <a:solidFill>
                  <a:srgbClr val="202B3C"/>
                </a:solidFill>
                <a:latin typeface="Calibri" panose="020F0502020204030204"/>
              </a:defRPr>
            </a:pPr>
            <a:r>
              <a:t>Centre-specific variants provide a practical mechanism for leak attribution.</a:t>
            </a:r>
          </a:p>
          <a:p>
            <a:pPr>
              <a:lnSpc>
                <a:spcPct val="105000"/>
              </a:lnSpc>
              <a:spcAft>
                <a:spcPts val="700"/>
              </a:spcAft>
              <a:defRPr sz="1900">
                <a:solidFill>
                  <a:srgbClr val="202B3C"/>
                </a:solidFill>
                <a:latin typeface="Calibri" panose="020F0502020204030204"/>
              </a:defRPr>
            </a:pPr>
            <a:r>
              <a:t>Future work will integrate the complete smart contract, encryption/decryption portal, public-web scraper, matching engine and end-to-end evaluation.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Text Box 84"/>
          <p:cNvSpPr txBox="1"/>
          <p:nvPr/>
        </p:nvSpPr>
        <p:spPr>
          <a:xfrm>
            <a:off x="503280" y="1825200"/>
            <a:ext cx="10850400" cy="4351320"/>
          </a:xfrm>
          <a:prstGeom prst="rect">
            <a:avLst/>
          </a:prstGeom>
          <a:noFill/>
          <a:ln w="0">
            <a:noFill/>
          </a:ln>
        </p:spPr>
        <p:txBody>
          <a:bodyPr anchor="t">
            <a:normAutofit/>
          </a:bodyPr>
          <a:lstStyle/>
          <a:p>
            <a:endParaRPr/>
          </a:p>
        </p:txBody>
      </p:sp>
      <p:sp>
        <p:nvSpPr>
          <p:cNvPr id="86" name="PlaceHolder 1"/>
          <p:cNvSpPr>
            <a:spLocks noGrp="1"/>
          </p:cNvSpPr>
          <p:nvPr>
            <p:ph type="title"/>
          </p:nvPr>
        </p:nvSpPr>
        <p:spPr>
          <a:xfrm>
            <a:off x="503280" y="365040"/>
            <a:ext cx="10850400" cy="1325520"/>
          </a:xfrm>
          <a:prstGeom prst="rect">
            <a:avLst/>
          </a:prstGeom>
          <a:noFill/>
          <a:ln w="0">
            <a:noFill/>
          </a:ln>
        </p:spPr>
        <p:txBody>
          <a:bodyPr wrap="square" lIns="91440" tIns="45720" rIns="91440" bIns="45720" anchor="ctr">
            <a:noAutofit/>
          </a:bodyPr>
          <a:lstStyle/>
          <a:p>
            <a:pPr indent="0">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3700" b="1">
                <a:solidFill>
                  <a:srgbClr val="002060"/>
                </a:solidFill>
                <a:latin typeface="Calibri Light" panose="020F0302020204030204"/>
              </a:rPr>
              <a:t>Plan of Action for Remaining Project Work</a:t>
            </a:r>
            <a:endParaRPr lang="en-US" sz="4400" b="0" u="none" strike="noStrike">
              <a:solidFill>
                <a:srgbClr val="000000"/>
              </a:solidFill>
              <a:effectLst/>
              <a:uFillTx/>
              <a:latin typeface="Calibri Light" panose="020F0302020204030204"/>
            </a:endParaRPr>
          </a:p>
        </p:txBody>
      </p:sp>
      <p:sp>
        <p:nvSpPr>
          <p:cNvPr id="87" name="Date Placeholder 3"/>
          <p:cNvSpPr/>
          <p:nvPr/>
        </p:nvSpPr>
        <p:spPr>
          <a:xfrm>
            <a:off x="266760" y="6558120"/>
            <a:ext cx="2209680" cy="299880"/>
          </a:xfrm>
          <a:prstGeom prst="rect">
            <a:avLst/>
          </a:prstGeom>
          <a:noFill/>
          <a:ln w="0">
            <a:noFill/>
          </a:ln>
        </p:spPr>
        <p:style>
          <a:lnRef idx="0">
            <a:srgbClr val="FFFFFF"/>
          </a:lnRef>
          <a:fillRef idx="0">
            <a:srgbClr val="FFFFFF"/>
          </a:fillRef>
          <a:effectRef idx="0">
            <a:srgbClr val="FFFFFF"/>
          </a:effectRef>
          <a:fontRef idx="minor"/>
        </p:style>
        <p:txBody>
          <a:bodyPr wrap="square" lIns="90000" tIns="46800" rIns="90000" bIns="46800" anchor="ctr">
            <a:noAutofit/>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1400" b="0">
                <a:solidFill>
                  <a:srgbClr val="FFFFFF"/>
                </a:solidFill>
                <a:latin typeface="Georgia" panose="02040502050405020303"/>
              </a:rPr>
              <a:t>06/10/26</a:t>
            </a:r>
            <a:endParaRPr lang="en-US" sz="1200" b="0" u="none" strike="noStrike">
              <a:solidFill>
                <a:srgbClr val="000000"/>
              </a:solidFill>
              <a:effectLst/>
              <a:uFillTx/>
              <a:latin typeface="Calibri" panose="020F0502020204030204"/>
            </a:endParaRPr>
          </a:p>
        </p:txBody>
      </p:sp>
      <p:sp>
        <p:nvSpPr>
          <p:cNvPr id="88" name="Footer Placeholder 4"/>
          <p:cNvSpPr/>
          <p:nvPr/>
        </p:nvSpPr>
        <p:spPr>
          <a:xfrm>
            <a:off x="2859120" y="6492960"/>
            <a:ext cx="6597720" cy="365040"/>
          </a:xfrm>
          <a:prstGeom prst="rect">
            <a:avLst/>
          </a:prstGeom>
          <a:noFill/>
          <a:ln w="0">
            <a:noFill/>
          </a:ln>
        </p:spPr>
        <p:style>
          <a:lnRef idx="0">
            <a:srgbClr val="FFFFFF"/>
          </a:lnRef>
          <a:fillRef idx="0">
            <a:srgbClr val="FFFFFF"/>
          </a:fillRef>
          <a:effectRef idx="0">
            <a:srgbClr val="FFFFFF"/>
          </a:effectRef>
          <a:fontRef idx="minor"/>
        </p:style>
        <p:txBody>
          <a:bodyPr wrap="square" lIns="90000" tIns="46800" rIns="90000" bIns="46800" anchor="ctr">
            <a:norm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1400" b="0">
                <a:solidFill>
                  <a:srgbClr val="FFFFFF"/>
                </a:solidFill>
                <a:latin typeface="Georgia" panose="02040502050405020303"/>
              </a:rPr>
              <a:t>International Institute of Information Technology, Naya Raipur</a:t>
            </a:r>
            <a:endParaRPr lang="en-US" sz="1400" b="0" u="none" strike="noStrike">
              <a:solidFill>
                <a:srgbClr val="000000"/>
              </a:solidFill>
              <a:effectLst/>
              <a:uFillTx/>
              <a:latin typeface="Calibri" panose="020F0502020204030204"/>
            </a:endParaRPr>
          </a:p>
        </p:txBody>
      </p:sp>
      <p:sp>
        <p:nvSpPr>
          <p:cNvPr id="89" name="Slide Number Placeholder 5"/>
          <p:cNvSpPr/>
          <p:nvPr/>
        </p:nvSpPr>
        <p:spPr>
          <a:xfrm>
            <a:off x="9629640" y="6492960"/>
            <a:ext cx="1979640" cy="365040"/>
          </a:xfrm>
          <a:prstGeom prst="rect">
            <a:avLst/>
          </a:prstGeom>
          <a:noFill/>
          <a:ln w="0">
            <a:noFill/>
          </a:ln>
        </p:spPr>
        <p:style>
          <a:lnRef idx="0">
            <a:srgbClr val="FFFFFF"/>
          </a:lnRef>
          <a:fillRef idx="0">
            <a:srgbClr val="FFFFFF"/>
          </a:fillRef>
          <a:effectRef idx="0">
            <a:srgbClr val="FFFFFF"/>
          </a:effectRef>
          <a:fontRef idx="minor"/>
        </p:style>
        <p:txBody>
          <a:bodyPr wrap="square" lIns="90000" tIns="46800" rIns="90000" bIns="46800" anchor="ctr">
            <a:normAutofit/>
          </a:bodyPr>
          <a:lstStyle/>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1400" b="0">
                <a:solidFill>
                  <a:srgbClr val="FFFFFF"/>
                </a:solidFill>
                <a:latin typeface="Georgia" panose="02040502050405020303"/>
              </a:rPr>
              <a:t>13</a:t>
            </a:r>
            <a:endParaRPr lang="en-US" sz="1200" b="0" u="none" strike="noStrike">
              <a:solidFill>
                <a:srgbClr val="000000"/>
              </a:solidFill>
              <a:effectLst/>
              <a:uFillTx/>
              <a:latin typeface="Calibri" panose="020F0502020204030204"/>
            </a:endParaRPr>
          </a:p>
        </p:txBody>
      </p:sp>
      <p:sp>
        <p:nvSpPr>
          <p:cNvPr id="90" name="Rounded Rectangle 89"/>
          <p:cNvSpPr/>
          <p:nvPr/>
        </p:nvSpPr>
        <p:spPr>
          <a:xfrm>
            <a:off x="731520" y="1554480"/>
            <a:ext cx="1325880" cy="512064"/>
          </a:xfrm>
          <a:prstGeom prst="roundRect">
            <a:avLst/>
          </a:prstGeom>
          <a:solidFill>
            <a:srgbClr val="2E7D32"/>
          </a:solidFill>
          <a:ln w="1524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p:cNvSpPr txBox="1"/>
          <p:nvPr/>
        </p:nvSpPr>
        <p:spPr>
          <a:xfrm>
            <a:off x="749808" y="1664207"/>
            <a:ext cx="1280160" cy="228600"/>
          </a:xfrm>
          <a:prstGeom prst="rect">
            <a:avLst/>
          </a:prstGeom>
          <a:noFill/>
        </p:spPr>
        <p:txBody>
          <a:bodyPr wrap="square" lIns="45720" rIns="45720">
            <a:spAutoFit/>
          </a:bodyPr>
          <a:lstStyle/>
          <a:p>
            <a:pPr algn="ctr"/>
            <a:r>
              <a:rPr sz="1100" b="1">
                <a:solidFill>
                  <a:srgbClr val="FFFFFF"/>
                </a:solidFill>
                <a:latin typeface="Calibri" panose="020F0502020204030204"/>
              </a:rPr>
              <a:t>Phase 1</a:t>
            </a:r>
          </a:p>
        </p:txBody>
      </p:sp>
      <p:sp>
        <p:nvSpPr>
          <p:cNvPr id="92" name="TextBox 91"/>
          <p:cNvSpPr txBox="1"/>
          <p:nvPr/>
        </p:nvSpPr>
        <p:spPr>
          <a:xfrm>
            <a:off x="2286000" y="1572768"/>
            <a:ext cx="2743200" cy="256032"/>
          </a:xfrm>
          <a:prstGeom prst="rect">
            <a:avLst/>
          </a:prstGeom>
          <a:noFill/>
        </p:spPr>
        <p:txBody>
          <a:bodyPr wrap="square" lIns="45720" rIns="45720">
            <a:spAutoFit/>
          </a:bodyPr>
          <a:lstStyle/>
          <a:p>
            <a:r>
              <a:rPr sz="1400" b="1">
                <a:solidFill>
                  <a:srgbClr val="2E7D32"/>
                </a:solidFill>
                <a:latin typeface="Calibri" panose="020F0502020204030204"/>
              </a:rPr>
              <a:t>Paper variants + watermarking</a:t>
            </a:r>
          </a:p>
        </p:txBody>
      </p:sp>
      <p:sp>
        <p:nvSpPr>
          <p:cNvPr id="93" name="TextBox 92"/>
          <p:cNvSpPr txBox="1"/>
          <p:nvPr/>
        </p:nvSpPr>
        <p:spPr>
          <a:xfrm>
            <a:off x="4800600" y="1572768"/>
            <a:ext cx="6309360" cy="384048"/>
          </a:xfrm>
          <a:prstGeom prst="rect">
            <a:avLst/>
          </a:prstGeom>
          <a:noFill/>
        </p:spPr>
        <p:txBody>
          <a:bodyPr wrap="square" lIns="45720" rIns="45720">
            <a:spAutoFit/>
          </a:bodyPr>
          <a:lstStyle/>
          <a:p>
            <a:r>
              <a:rPr sz="1200" b="0">
                <a:solidFill>
                  <a:srgbClr val="202B3C"/>
                </a:solidFill>
                <a:latin typeface="Calibri" panose="020F0502020204030204"/>
              </a:rPr>
              <a:t>Generate 4 controlled variants and verify fingerprints.</a:t>
            </a:r>
          </a:p>
        </p:txBody>
      </p:sp>
      <p:sp>
        <p:nvSpPr>
          <p:cNvPr id="94" name="Rounded Rectangle 93"/>
          <p:cNvSpPr/>
          <p:nvPr/>
        </p:nvSpPr>
        <p:spPr>
          <a:xfrm>
            <a:off x="731520" y="2286000"/>
            <a:ext cx="1325880" cy="512064"/>
          </a:xfrm>
          <a:prstGeom prst="roundRect">
            <a:avLst/>
          </a:prstGeom>
          <a:solidFill>
            <a:srgbClr val="002060"/>
          </a:solidFill>
          <a:ln w="15240">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749808" y="2395728"/>
            <a:ext cx="1280160" cy="228600"/>
          </a:xfrm>
          <a:prstGeom prst="rect">
            <a:avLst/>
          </a:prstGeom>
          <a:noFill/>
        </p:spPr>
        <p:txBody>
          <a:bodyPr wrap="square" lIns="45720" rIns="45720">
            <a:spAutoFit/>
          </a:bodyPr>
          <a:lstStyle/>
          <a:p>
            <a:pPr algn="ctr"/>
            <a:r>
              <a:rPr sz="1100" b="1">
                <a:solidFill>
                  <a:srgbClr val="FFFFFF"/>
                </a:solidFill>
                <a:latin typeface="Calibri" panose="020F0502020204030204"/>
              </a:rPr>
              <a:t>Phase 2</a:t>
            </a:r>
          </a:p>
        </p:txBody>
      </p:sp>
      <p:sp>
        <p:nvSpPr>
          <p:cNvPr id="96" name="TextBox 95"/>
          <p:cNvSpPr txBox="1"/>
          <p:nvPr/>
        </p:nvSpPr>
        <p:spPr>
          <a:xfrm>
            <a:off x="2286000" y="2304288"/>
            <a:ext cx="2743200" cy="256032"/>
          </a:xfrm>
          <a:prstGeom prst="rect">
            <a:avLst/>
          </a:prstGeom>
          <a:noFill/>
        </p:spPr>
        <p:txBody>
          <a:bodyPr wrap="square" lIns="45720" rIns="45720">
            <a:spAutoFit/>
          </a:bodyPr>
          <a:lstStyle/>
          <a:p>
            <a:r>
              <a:rPr sz="1400" b="1">
                <a:solidFill>
                  <a:srgbClr val="002060"/>
                </a:solidFill>
                <a:latin typeface="Calibri" panose="020F0502020204030204"/>
              </a:rPr>
              <a:t>Encryption + smart contract</a:t>
            </a:r>
          </a:p>
        </p:txBody>
      </p:sp>
      <p:sp>
        <p:nvSpPr>
          <p:cNvPr id="97" name="TextBox 96"/>
          <p:cNvSpPr txBox="1"/>
          <p:nvPr/>
        </p:nvSpPr>
        <p:spPr>
          <a:xfrm>
            <a:off x="4800600" y="2304288"/>
            <a:ext cx="6309360" cy="384048"/>
          </a:xfrm>
          <a:prstGeom prst="rect">
            <a:avLst/>
          </a:prstGeom>
          <a:noFill/>
        </p:spPr>
        <p:txBody>
          <a:bodyPr wrap="square" lIns="45720" rIns="45720">
            <a:spAutoFit/>
          </a:bodyPr>
          <a:lstStyle/>
          <a:p>
            <a:r>
              <a:rPr sz="1200" b="0">
                <a:solidFill>
                  <a:srgbClr val="202B3C"/>
                </a:solidFill>
                <a:latin typeface="Calibri" panose="020F0502020204030204"/>
              </a:rPr>
              <a:t>AES encryption, SHA-256 logging, centre mapping and time-lock.</a:t>
            </a:r>
          </a:p>
        </p:txBody>
      </p:sp>
      <p:sp>
        <p:nvSpPr>
          <p:cNvPr id="98" name="Rounded Rectangle 97"/>
          <p:cNvSpPr/>
          <p:nvPr/>
        </p:nvSpPr>
        <p:spPr>
          <a:xfrm>
            <a:off x="731520" y="3017520"/>
            <a:ext cx="1325880" cy="512064"/>
          </a:xfrm>
          <a:prstGeom prst="roundRect">
            <a:avLst/>
          </a:prstGeom>
          <a:solidFill>
            <a:srgbClr val="B26A00"/>
          </a:solidFill>
          <a:ln w="15240">
            <a:solidFill>
              <a:srgbClr val="B26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TextBox 98"/>
          <p:cNvSpPr txBox="1"/>
          <p:nvPr/>
        </p:nvSpPr>
        <p:spPr>
          <a:xfrm>
            <a:off x="749808" y="3127248"/>
            <a:ext cx="1280160" cy="228600"/>
          </a:xfrm>
          <a:prstGeom prst="rect">
            <a:avLst/>
          </a:prstGeom>
          <a:noFill/>
        </p:spPr>
        <p:txBody>
          <a:bodyPr wrap="square" lIns="45720" rIns="45720">
            <a:spAutoFit/>
          </a:bodyPr>
          <a:lstStyle/>
          <a:p>
            <a:pPr algn="ctr"/>
            <a:r>
              <a:rPr sz="1100" b="1">
                <a:solidFill>
                  <a:srgbClr val="FFFFFF"/>
                </a:solidFill>
                <a:latin typeface="Calibri" panose="020F0502020204030204"/>
              </a:rPr>
              <a:t>Phase 3</a:t>
            </a:r>
          </a:p>
        </p:txBody>
      </p:sp>
      <p:sp>
        <p:nvSpPr>
          <p:cNvPr id="100" name="TextBox 99"/>
          <p:cNvSpPr txBox="1"/>
          <p:nvPr/>
        </p:nvSpPr>
        <p:spPr>
          <a:xfrm>
            <a:off x="2286000" y="3035808"/>
            <a:ext cx="2743200" cy="256032"/>
          </a:xfrm>
          <a:prstGeom prst="rect">
            <a:avLst/>
          </a:prstGeom>
          <a:noFill/>
        </p:spPr>
        <p:txBody>
          <a:bodyPr wrap="square" lIns="45720" rIns="45720">
            <a:spAutoFit/>
          </a:bodyPr>
          <a:lstStyle/>
          <a:p>
            <a:r>
              <a:rPr sz="1400" b="1">
                <a:solidFill>
                  <a:srgbClr val="B26A00"/>
                </a:solidFill>
                <a:latin typeface="Calibri" panose="020F0502020204030204"/>
              </a:rPr>
              <a:t>Centre portal</a:t>
            </a:r>
          </a:p>
        </p:txBody>
      </p:sp>
      <p:sp>
        <p:nvSpPr>
          <p:cNvPr id="101" name="TextBox 100"/>
          <p:cNvSpPr txBox="1"/>
          <p:nvPr/>
        </p:nvSpPr>
        <p:spPr>
          <a:xfrm>
            <a:off x="4800600" y="3035808"/>
            <a:ext cx="6309360" cy="384048"/>
          </a:xfrm>
          <a:prstGeom prst="rect">
            <a:avLst/>
          </a:prstGeom>
          <a:noFill/>
        </p:spPr>
        <p:txBody>
          <a:bodyPr wrap="square" lIns="45720" rIns="45720">
            <a:spAutoFit/>
          </a:bodyPr>
          <a:lstStyle/>
          <a:p>
            <a:r>
              <a:rPr sz="1200" b="0">
                <a:solidFill>
                  <a:srgbClr val="202B3C"/>
                </a:solidFill>
                <a:latin typeface="Calibri" panose="020F0502020204030204"/>
              </a:rPr>
              <a:t>Encrypted blob retrieval, key-release check, decryption and print workflow.</a:t>
            </a:r>
          </a:p>
        </p:txBody>
      </p:sp>
      <p:sp>
        <p:nvSpPr>
          <p:cNvPr id="102" name="Rounded Rectangle 101"/>
          <p:cNvSpPr/>
          <p:nvPr/>
        </p:nvSpPr>
        <p:spPr>
          <a:xfrm>
            <a:off x="731520" y="3749040"/>
            <a:ext cx="1325880" cy="512064"/>
          </a:xfrm>
          <a:prstGeom prst="roundRect">
            <a:avLst/>
          </a:prstGeom>
          <a:solidFill>
            <a:srgbClr val="142D7E"/>
          </a:solidFill>
          <a:ln w="15240">
            <a:solidFill>
              <a:srgbClr val="142D7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TextBox 102"/>
          <p:cNvSpPr txBox="1"/>
          <p:nvPr/>
        </p:nvSpPr>
        <p:spPr>
          <a:xfrm>
            <a:off x="749808" y="3858768"/>
            <a:ext cx="1280160" cy="228600"/>
          </a:xfrm>
          <a:prstGeom prst="rect">
            <a:avLst/>
          </a:prstGeom>
          <a:noFill/>
        </p:spPr>
        <p:txBody>
          <a:bodyPr wrap="square" lIns="45720" rIns="45720">
            <a:spAutoFit/>
          </a:bodyPr>
          <a:lstStyle/>
          <a:p>
            <a:pPr algn="ctr"/>
            <a:r>
              <a:rPr sz="1100" b="1">
                <a:solidFill>
                  <a:srgbClr val="FFFFFF"/>
                </a:solidFill>
                <a:latin typeface="Calibri" panose="020F0502020204030204"/>
              </a:rPr>
              <a:t>Phase 4</a:t>
            </a:r>
          </a:p>
        </p:txBody>
      </p:sp>
      <p:sp>
        <p:nvSpPr>
          <p:cNvPr id="104" name="TextBox 103"/>
          <p:cNvSpPr txBox="1"/>
          <p:nvPr/>
        </p:nvSpPr>
        <p:spPr>
          <a:xfrm>
            <a:off x="2286000" y="3767328"/>
            <a:ext cx="2743200" cy="256032"/>
          </a:xfrm>
          <a:prstGeom prst="rect">
            <a:avLst/>
          </a:prstGeom>
          <a:noFill/>
        </p:spPr>
        <p:txBody>
          <a:bodyPr wrap="square" lIns="45720" rIns="45720">
            <a:spAutoFit/>
          </a:bodyPr>
          <a:lstStyle/>
          <a:p>
            <a:r>
              <a:rPr sz="1400" b="1">
                <a:solidFill>
                  <a:srgbClr val="142D7E"/>
                </a:solidFill>
                <a:latin typeface="Calibri" panose="020F0502020204030204"/>
              </a:rPr>
              <a:t>Web scraping + matching</a:t>
            </a:r>
          </a:p>
        </p:txBody>
      </p:sp>
      <p:sp>
        <p:nvSpPr>
          <p:cNvPr id="105" name="TextBox 104"/>
          <p:cNvSpPr txBox="1"/>
          <p:nvPr/>
        </p:nvSpPr>
        <p:spPr>
          <a:xfrm>
            <a:off x="4800600" y="3767328"/>
            <a:ext cx="6309360" cy="384048"/>
          </a:xfrm>
          <a:prstGeom prst="rect">
            <a:avLst/>
          </a:prstGeom>
          <a:noFill/>
        </p:spPr>
        <p:txBody>
          <a:bodyPr wrap="square" lIns="45720" rIns="45720">
            <a:spAutoFit/>
          </a:bodyPr>
          <a:lstStyle/>
          <a:p>
            <a:r>
              <a:rPr sz="1200" b="0">
                <a:solidFill>
                  <a:srgbClr val="202B3C"/>
                </a:solidFill>
                <a:latin typeface="Calibri" panose="020F0502020204030204"/>
              </a:rPr>
              <a:t>Public/controlled sources, text extraction, normalization and variant matching.</a:t>
            </a:r>
          </a:p>
        </p:txBody>
      </p:sp>
      <p:sp>
        <p:nvSpPr>
          <p:cNvPr id="106" name="Rounded Rectangle 105"/>
          <p:cNvSpPr/>
          <p:nvPr/>
        </p:nvSpPr>
        <p:spPr>
          <a:xfrm>
            <a:off x="731520" y="4480560"/>
            <a:ext cx="1325880" cy="512064"/>
          </a:xfrm>
          <a:prstGeom prst="roundRect">
            <a:avLst/>
          </a:prstGeom>
          <a:solidFill>
            <a:srgbClr val="B71C1C"/>
          </a:solidFill>
          <a:ln w="15240">
            <a:solidFill>
              <a:srgbClr val="B7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TextBox 106"/>
          <p:cNvSpPr txBox="1"/>
          <p:nvPr/>
        </p:nvSpPr>
        <p:spPr>
          <a:xfrm>
            <a:off x="749808" y="4590288"/>
            <a:ext cx="1280160" cy="228600"/>
          </a:xfrm>
          <a:prstGeom prst="rect">
            <a:avLst/>
          </a:prstGeom>
          <a:noFill/>
        </p:spPr>
        <p:txBody>
          <a:bodyPr wrap="square" lIns="45720" rIns="45720">
            <a:spAutoFit/>
          </a:bodyPr>
          <a:lstStyle/>
          <a:p>
            <a:pPr algn="ctr"/>
            <a:r>
              <a:rPr sz="1100" b="1">
                <a:solidFill>
                  <a:srgbClr val="FFFFFF"/>
                </a:solidFill>
                <a:latin typeface="Calibri" panose="020F0502020204030204"/>
              </a:rPr>
              <a:t>Phase 5</a:t>
            </a:r>
          </a:p>
        </p:txBody>
      </p:sp>
      <p:sp>
        <p:nvSpPr>
          <p:cNvPr id="108" name="TextBox 107"/>
          <p:cNvSpPr txBox="1"/>
          <p:nvPr/>
        </p:nvSpPr>
        <p:spPr>
          <a:xfrm>
            <a:off x="2286000" y="4498848"/>
            <a:ext cx="2743200" cy="256032"/>
          </a:xfrm>
          <a:prstGeom prst="rect">
            <a:avLst/>
          </a:prstGeom>
          <a:noFill/>
        </p:spPr>
        <p:txBody>
          <a:bodyPr wrap="square" lIns="45720" rIns="45720">
            <a:spAutoFit/>
          </a:bodyPr>
          <a:lstStyle/>
          <a:p>
            <a:r>
              <a:rPr sz="1400" b="1">
                <a:solidFill>
                  <a:srgbClr val="B71C1C"/>
                </a:solidFill>
                <a:latin typeface="Calibri" panose="020F0502020204030204"/>
              </a:rPr>
              <a:t>Testing + evaluation</a:t>
            </a:r>
          </a:p>
        </p:txBody>
      </p:sp>
      <p:sp>
        <p:nvSpPr>
          <p:cNvPr id="109" name="TextBox 108"/>
          <p:cNvSpPr txBox="1"/>
          <p:nvPr/>
        </p:nvSpPr>
        <p:spPr>
          <a:xfrm>
            <a:off x="4800600" y="4498848"/>
            <a:ext cx="6309360" cy="384048"/>
          </a:xfrm>
          <a:prstGeom prst="rect">
            <a:avLst/>
          </a:prstGeom>
          <a:noFill/>
        </p:spPr>
        <p:txBody>
          <a:bodyPr wrap="square" lIns="45720" rIns="45720">
            <a:spAutoFit/>
          </a:bodyPr>
          <a:lstStyle/>
          <a:p>
            <a:r>
              <a:rPr sz="1200" b="0">
                <a:solidFill>
                  <a:srgbClr val="202B3C"/>
                </a:solidFill>
                <a:latin typeface="Calibri" panose="020F0502020204030204"/>
              </a:rPr>
              <a:t>Seed leaks, measure detection/attribution, security tests and latency.</a:t>
            </a:r>
          </a:p>
        </p:txBody>
      </p:sp>
      <p:sp>
        <p:nvSpPr>
          <p:cNvPr id="110" name="Rounded Rectangle 109"/>
          <p:cNvSpPr/>
          <p:nvPr/>
        </p:nvSpPr>
        <p:spPr>
          <a:xfrm>
            <a:off x="731520" y="5212080"/>
            <a:ext cx="1325880" cy="512064"/>
          </a:xfrm>
          <a:prstGeom prst="roundRect">
            <a:avLst/>
          </a:prstGeom>
          <a:solidFill>
            <a:srgbClr val="5E6878"/>
          </a:solidFill>
          <a:ln w="15240">
            <a:solidFill>
              <a:srgbClr val="5E68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TextBox 110"/>
          <p:cNvSpPr txBox="1"/>
          <p:nvPr/>
        </p:nvSpPr>
        <p:spPr>
          <a:xfrm>
            <a:off x="749808" y="5321808"/>
            <a:ext cx="1280160" cy="228600"/>
          </a:xfrm>
          <a:prstGeom prst="rect">
            <a:avLst/>
          </a:prstGeom>
          <a:noFill/>
        </p:spPr>
        <p:txBody>
          <a:bodyPr wrap="square" lIns="45720" rIns="45720">
            <a:spAutoFit/>
          </a:bodyPr>
          <a:lstStyle/>
          <a:p>
            <a:pPr algn="ctr"/>
            <a:r>
              <a:rPr sz="1100" b="1">
                <a:solidFill>
                  <a:srgbClr val="FFFFFF"/>
                </a:solidFill>
                <a:latin typeface="Calibri" panose="020F0502020204030204"/>
              </a:rPr>
              <a:t>Phase 6</a:t>
            </a:r>
          </a:p>
        </p:txBody>
      </p:sp>
      <p:sp>
        <p:nvSpPr>
          <p:cNvPr id="112" name="TextBox 111"/>
          <p:cNvSpPr txBox="1"/>
          <p:nvPr/>
        </p:nvSpPr>
        <p:spPr>
          <a:xfrm>
            <a:off x="2286000" y="5230368"/>
            <a:ext cx="2743200" cy="256032"/>
          </a:xfrm>
          <a:prstGeom prst="rect">
            <a:avLst/>
          </a:prstGeom>
          <a:noFill/>
        </p:spPr>
        <p:txBody>
          <a:bodyPr wrap="square" lIns="45720" rIns="45720">
            <a:spAutoFit/>
          </a:bodyPr>
          <a:lstStyle/>
          <a:p>
            <a:r>
              <a:rPr sz="1400" b="1">
                <a:solidFill>
                  <a:srgbClr val="5E6878"/>
                </a:solidFill>
                <a:latin typeface="Calibri" panose="020F0502020204030204"/>
              </a:rPr>
              <a:t>Final demo + report</a:t>
            </a:r>
          </a:p>
        </p:txBody>
      </p:sp>
      <p:sp>
        <p:nvSpPr>
          <p:cNvPr id="113" name="TextBox 112"/>
          <p:cNvSpPr txBox="1"/>
          <p:nvPr/>
        </p:nvSpPr>
        <p:spPr>
          <a:xfrm>
            <a:off x="4800600" y="5230368"/>
            <a:ext cx="6309360" cy="384048"/>
          </a:xfrm>
          <a:prstGeom prst="rect">
            <a:avLst/>
          </a:prstGeom>
          <a:noFill/>
        </p:spPr>
        <p:txBody>
          <a:bodyPr wrap="square" lIns="45720" rIns="45720">
            <a:spAutoFit/>
          </a:bodyPr>
          <a:lstStyle/>
          <a:p>
            <a:r>
              <a:rPr sz="1200" b="0">
                <a:solidFill>
                  <a:srgbClr val="202B3C"/>
                </a:solidFill>
                <a:latin typeface="Calibri" panose="020F0502020204030204"/>
              </a:rPr>
              <a:t>End-to-end demonstration, results, limitations and documentation.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PlaceHolder 1"/>
          <p:cNvSpPr>
            <a:spLocks noGrp="1"/>
          </p:cNvSpPr>
          <p:nvPr>
            <p:ph type="title"/>
          </p:nvPr>
        </p:nvSpPr>
        <p:spPr>
          <a:xfrm>
            <a:off x="932040" y="1536840"/>
            <a:ext cx="10515600" cy="1325520"/>
          </a:xfrm>
          <a:prstGeom prst="rect">
            <a:avLst/>
          </a:prstGeom>
          <a:noFill/>
          <a:ln w="0">
            <a:noFill/>
          </a:ln>
        </p:spPr>
        <p:txBody>
          <a:bodyPr wrap="square" lIns="91440" tIns="45720" rIns="91440" bIns="45720" anchor="ctr">
            <a:noAutofit/>
          </a:bodyPr>
          <a:lstStyle/>
          <a:p>
            <a:pPr indent="0" algn="ctr">
              <a:lnSpc>
                <a:spcPct val="90000"/>
              </a:lnSpc>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4400" b="1">
                <a:solidFill>
                  <a:srgbClr val="002060"/>
                </a:solidFill>
                <a:latin typeface="Georgia" panose="02040502050405020303"/>
              </a:rPr>
              <a:t>Thank You</a:t>
            </a:r>
            <a:endParaRPr lang="en-US" sz="4400" b="0" u="none" strike="noStrike">
              <a:solidFill>
                <a:srgbClr val="000000"/>
              </a:solidFill>
              <a:effectLst/>
              <a:uFillTx/>
              <a:latin typeface="Calibri Light" panose="020F0302020204030204"/>
            </a:endParaRPr>
          </a:p>
        </p:txBody>
      </p:sp>
      <p:pic>
        <p:nvPicPr>
          <p:cNvPr id="92" name="Picture 5"/>
          <p:cNvPicPr/>
          <p:nvPr/>
        </p:nvPicPr>
        <p:blipFill>
          <a:blip r:embed="rId2"/>
          <a:stretch>
            <a:fillRect/>
          </a:stretch>
        </p:blipFill>
        <p:spPr>
          <a:xfrm>
            <a:off x="216000" y="5002200"/>
            <a:ext cx="1244520" cy="1244520"/>
          </a:xfrm>
          <a:prstGeom prst="rect">
            <a:avLst/>
          </a:prstGeom>
          <a:noFill/>
          <a:ln w="0">
            <a:noFill/>
          </a:ln>
        </p:spPr>
      </p:pic>
      <p:sp>
        <p:nvSpPr>
          <p:cNvPr id="93" name="TextBox 6"/>
          <p:cNvSpPr/>
          <p:nvPr/>
        </p:nvSpPr>
        <p:spPr>
          <a:xfrm>
            <a:off x="1652760" y="5162400"/>
            <a:ext cx="5559120" cy="916920"/>
          </a:xfrm>
          <a:prstGeom prst="rect">
            <a:avLst/>
          </a:prstGeom>
          <a:noFill/>
          <a:ln w="0">
            <a:noFill/>
          </a:ln>
        </p:spPr>
        <p:style>
          <a:lnRef idx="0">
            <a:srgbClr val="FFFFFF"/>
          </a:lnRef>
          <a:fillRef idx="0">
            <a:srgbClr val="FFFFFF"/>
          </a:fillRef>
          <a:effectRef idx="0">
            <a:srgbClr val="FFFFFF"/>
          </a:effectRef>
          <a:fontRef idx="minor"/>
        </p:style>
        <p:txBody>
          <a:bodyPr lIns="90000" tIns="46800" rIns="90000" bIns="46800" anchor="t">
            <a:spAutoFit/>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IN" sz="1800" b="1" u="none" strike="noStrike">
                <a:solidFill>
                  <a:srgbClr val="23298A"/>
                </a:solidFill>
                <a:effectLst/>
                <a:uFillTx/>
                <a:latin typeface="Georgia" panose="02040502050405020303"/>
              </a:rPr>
              <a:t>Dr. Shyama Prasad Mukherjee International Institute of Information Technology, Naya Raipur </a:t>
            </a:r>
            <a:endParaRPr lang="en-US" sz="1800" b="0" u="none" strike="noStrike">
              <a:solidFill>
                <a:srgbClr val="000000"/>
              </a:solidFill>
              <a:effectLst/>
              <a:uFillTx/>
              <a:latin typeface="Calibri" panose="020F0502020204030204"/>
            </a:endParaRPr>
          </a:p>
        </p:txBody>
      </p:sp>
      <p:sp>
        <p:nvSpPr>
          <p:cNvPr id="94" name="Date Placeholder 7"/>
          <p:cNvSpPr/>
          <p:nvPr/>
        </p:nvSpPr>
        <p:spPr>
          <a:xfrm>
            <a:off x="266760" y="6518160"/>
            <a:ext cx="2209680" cy="300240"/>
          </a:xfrm>
          <a:prstGeom prst="rect">
            <a:avLst/>
          </a:prstGeom>
          <a:noFill/>
          <a:ln w="0">
            <a:noFill/>
          </a:ln>
        </p:spPr>
        <p:style>
          <a:lnRef idx="0">
            <a:srgbClr val="FFFFFF"/>
          </a:lnRef>
          <a:fillRef idx="0">
            <a:srgbClr val="FFFFFF"/>
          </a:fillRef>
          <a:effectRef idx="0">
            <a:srgbClr val="FFFFFF"/>
          </a:effectRef>
          <a:fontRef idx="minor"/>
        </p:style>
        <p:txBody>
          <a:bodyPr wrap="square" lIns="90000" tIns="46800" rIns="90000" bIns="46800" anchor="ctr">
            <a:normAutofit lnSpcReduction="10000"/>
          </a:bodyPr>
          <a:lstStyle/>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1400" b="0">
                <a:solidFill>
                  <a:srgbClr val="FFFFFF"/>
                </a:solidFill>
                <a:latin typeface="Georgia" panose="02040502050405020303"/>
              </a:rPr>
              <a:t>06/10/26</a:t>
            </a:r>
            <a:endParaRPr lang="en-US" sz="1200" b="0" u="none" strike="noStrike">
              <a:solidFill>
                <a:srgbClr val="000000"/>
              </a:solidFill>
              <a:effectLst/>
              <a:uFillTx/>
              <a:latin typeface="Calibri" panose="020F0502020204030204"/>
            </a:endParaRPr>
          </a:p>
        </p:txBody>
      </p:sp>
      <p:sp>
        <p:nvSpPr>
          <p:cNvPr id="95" name="Slide Number Placeholder 8"/>
          <p:cNvSpPr/>
          <p:nvPr/>
        </p:nvSpPr>
        <p:spPr>
          <a:xfrm>
            <a:off x="9607680" y="6453360"/>
            <a:ext cx="1979640" cy="365040"/>
          </a:xfrm>
          <a:prstGeom prst="rect">
            <a:avLst/>
          </a:prstGeom>
          <a:noFill/>
          <a:ln w="0">
            <a:noFill/>
          </a:ln>
        </p:spPr>
        <p:style>
          <a:lnRef idx="0">
            <a:srgbClr val="FFFFFF"/>
          </a:lnRef>
          <a:fillRef idx="0">
            <a:srgbClr val="FFFFFF"/>
          </a:fillRef>
          <a:effectRef idx="0">
            <a:srgbClr val="FFFFFF"/>
          </a:effectRef>
          <a:fontRef idx="minor"/>
        </p:style>
        <p:txBody>
          <a:bodyPr wrap="square" lIns="90000" tIns="46800" rIns="90000" bIns="46800" anchor="ctr">
            <a:normAutofit/>
          </a:bodyPr>
          <a:lstStyle/>
          <a:p>
            <a:pPr algn="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1400" b="0">
                <a:solidFill>
                  <a:srgbClr val="FFFFFF"/>
                </a:solidFill>
                <a:latin typeface="Georgia" panose="02040502050405020303"/>
              </a:rPr>
              <a:t>14</a:t>
            </a:r>
            <a:endParaRPr lang="en-US" sz="1200" b="0" u="none" strike="noStrike">
              <a:solidFill>
                <a:srgbClr val="000000"/>
              </a:solidFill>
              <a:effectLst/>
              <a:uFillTx/>
              <a:latin typeface="Calibri" panose="020F0502020204030204"/>
            </a:endParaRPr>
          </a:p>
        </p:txBody>
      </p:sp>
      <p:sp>
        <p:nvSpPr>
          <p:cNvPr id="96" name="Footer Placeholder 12"/>
          <p:cNvSpPr/>
          <p:nvPr/>
        </p:nvSpPr>
        <p:spPr>
          <a:xfrm>
            <a:off x="2859120" y="6492960"/>
            <a:ext cx="6597720" cy="365040"/>
          </a:xfrm>
          <a:prstGeom prst="rect">
            <a:avLst/>
          </a:prstGeom>
          <a:noFill/>
          <a:ln w="0">
            <a:noFill/>
          </a:ln>
        </p:spPr>
        <p:style>
          <a:lnRef idx="0">
            <a:srgbClr val="FFFFFF"/>
          </a:lnRef>
          <a:fillRef idx="0">
            <a:srgbClr val="FFFFFF"/>
          </a:fillRef>
          <a:effectRef idx="0">
            <a:srgbClr val="FFFFFF"/>
          </a:effectRef>
          <a:fontRef idx="minor"/>
        </p:style>
        <p:txBody>
          <a:bodyPr wrap="square" lIns="90000" tIns="46800" rIns="90000" bIns="46800" anchor="ctr">
            <a:normAutofit/>
          </a:bodyPr>
          <a:lstStyle/>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sz="1400" b="0">
                <a:solidFill>
                  <a:srgbClr val="FFFFFF"/>
                </a:solidFill>
                <a:latin typeface="Georgia" panose="02040502050405020303"/>
              </a:rPr>
              <a:t>International Institute of Information Technology, Naya Raipur</a:t>
            </a:r>
            <a:endParaRPr lang="en-US" sz="1400" b="0" u="none" strike="noStrike">
              <a:solidFill>
                <a:srgbClr val="000000"/>
              </a:solidFill>
              <a:effectLst/>
              <a:uFillTx/>
              <a:latin typeface="Calibri" panose="020F0502020204030204"/>
            </a:endParaRPr>
          </a:p>
        </p:txBody>
      </p:sp>
      <p:sp>
        <p:nvSpPr>
          <p:cNvPr id="97" name="TextBox 96"/>
          <p:cNvSpPr txBox="1"/>
          <p:nvPr/>
        </p:nvSpPr>
        <p:spPr>
          <a:xfrm>
            <a:off x="2834640" y="2880360"/>
            <a:ext cx="6492240" cy="502920"/>
          </a:xfrm>
          <a:prstGeom prst="rect">
            <a:avLst/>
          </a:prstGeom>
          <a:noFill/>
        </p:spPr>
        <p:txBody>
          <a:bodyPr wrap="square" lIns="45720" rIns="45720">
            <a:spAutoFit/>
          </a:bodyPr>
          <a:lstStyle/>
          <a:p>
            <a:pPr algn="ctr"/>
            <a:r>
              <a:rPr sz="2200" b="1">
                <a:solidFill>
                  <a:srgbClr val="002060"/>
                </a:solidFill>
                <a:latin typeface="Georgia" panose="02040502050405020303"/>
              </a:rPr>
              <a:t>Questions &amp; Discussion</a:t>
            </a:r>
          </a:p>
        </p:txBody>
      </p:sp>
    </p:spTree>
  </p:cSld>
  <p:clrMapOvr>
    <a:masterClrMapping/>
  </p:clrMapOvr>
</p:sld>
</file>

<file path=ppt/theme/theme1.xml><?xml version="1.0" encoding="utf-8"?>
<a:theme xmlns:a="http://schemas.openxmlformats.org/drawingml/2006/main"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TotalTime>
  <Words>1410</Words>
  <Application>Microsoft Office PowerPoint</Application>
  <PresentationFormat>Custom</PresentationFormat>
  <Paragraphs>237</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Calibri Light</vt:lpstr>
      <vt:lpstr>Georgia</vt:lpstr>
      <vt:lpstr>Times New Roman</vt:lpstr>
      <vt:lpstr>Office</vt:lpstr>
      <vt:lpstr>Multi-Agent AI Research Assistant for Scientific Paper Analysis </vt:lpstr>
      <vt:lpstr>Content</vt:lpstr>
      <vt:lpstr>Introduction</vt:lpstr>
      <vt:lpstr>Motivation: Issues and Challenges</vt:lpstr>
      <vt:lpstr>Literature Review</vt:lpstr>
      <vt:lpstr>Problem Definition / Problem Statement</vt:lpstr>
      <vt:lpstr>Research Gap</vt:lpstr>
      <vt:lpstr>Objectives of the Project</vt:lpstr>
      <vt:lpstr>Proposed Framework / Methodology</vt:lpstr>
      <vt:lpstr>Data / Database Description</vt:lpstr>
      <vt:lpstr>Experimental Results &amp; Discussion</vt:lpstr>
      <vt:lpstr>Conclusion and Future Directions</vt:lpstr>
      <vt:lpstr>Plan of Action for Remaining Project Work</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Blockchain-Based Secure Examination
Paper Distribution &amp; Leak Detection</dc:title>
  <dc:creator>Soham ‌Kamble</dc:creator>
  <cp:lastModifiedBy>Soham ‌Kamble</cp:lastModifiedBy>
  <cp:revision>2</cp:revision>
  <dcterms:created xsi:type="dcterms:W3CDTF">2026-10-05T20:44:50Z</dcterms:created>
  <dcterms:modified xsi:type="dcterms:W3CDTF">2026-10-06T10:44:39Z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A567FD948CD34F2589ED9C7714C5FF9F_12</vt:lpwstr>
  </property>
</Properties>
</file>