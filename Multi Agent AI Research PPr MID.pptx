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3588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9"/>
          <p:cNvSpPr/>
          <p:nvPr/>
        </p:nvSpPr>
        <p:spPr>
          <a:xfrm>
            <a:off x="0" y="6465960"/>
            <a:ext cx="12192120" cy="404640"/>
          </a:xfrm>
          <a:prstGeom prst="rect">
            <a:avLst/>
          </a:prstGeom>
          <a:solidFill>
            <a:srgbClr val="0C2577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68400" tIns="34200" rIns="68400" bIns="34200" anchor="t">
            <a:noAutofit/>
          </a:bodyPr>
          <a:lstStyle/>
          <a:p>
            <a:pPr>
              <a:lnSpc>
                <a:spcPct val="95000"/>
              </a:lnSpc>
              <a:tabLst>
                <a:tab pos="0" algn="l"/>
                <a:tab pos="683895" algn="l"/>
                <a:tab pos="1367790" algn="l"/>
                <a:tab pos="2052320" algn="l"/>
                <a:tab pos="2736215" algn="l"/>
                <a:tab pos="3420745" algn="l"/>
                <a:tab pos="4105275" algn="l"/>
                <a:tab pos="4789170" algn="l"/>
                <a:tab pos="5473700" algn="l"/>
                <a:tab pos="6157595" algn="l"/>
                <a:tab pos="6842125" algn="l"/>
                <a:tab pos="7526020" algn="l"/>
                <a:tab pos="8209915" algn="l"/>
                <a:tab pos="8894445" algn="l"/>
                <a:tab pos="9578340" algn="l"/>
                <a:tab pos="10262870" algn="l"/>
                <a:tab pos="10946765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 hasCustomPrompt="1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 panose="020F0302020204030204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 hasCustomPrompt="1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Second Outline Level</a:t>
            </a: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Third Outline Level</a:t>
            </a:r>
          </a:p>
          <a:p>
            <a:pPr marL="1600200" lvl="3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Fourth Outline Level</a:t>
            </a:r>
          </a:p>
          <a:p>
            <a:pPr marL="2057400" lvl="4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Fifth Outline Level</a:t>
            </a:r>
          </a:p>
          <a:p>
            <a:pPr marL="2057400" lvl="5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Sixth Outline Level</a:t>
            </a:r>
          </a:p>
          <a:p>
            <a:pPr marL="2057400" lvl="6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Seventh Outline Level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266760" y="6518160"/>
            <a:ext cx="2209680" cy="300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594E4A1-7C8B-4C56-99E2-65D35DA95E2A}" type="datetime">
              <a:rPr lang="en-IN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rPr>
              <a:t>06-10-2026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2"/>
          </p:nvPr>
        </p:nvSpPr>
        <p:spPr>
          <a:xfrm>
            <a:off x="9607320" y="6453360"/>
            <a:ext cx="197964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5054C32-ADCE-47BC-845B-407047EC9AAE}" type="slidenum"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623600" y="230040"/>
            <a:ext cx="1460520" cy="146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5"/>
          <p:cNvSpPr>
            <a:spLocks noGrp="1"/>
          </p:cNvSpPr>
          <p:nvPr>
            <p:ph type="ftr" idx="3"/>
          </p:nvPr>
        </p:nvSpPr>
        <p:spPr>
          <a:xfrm>
            <a:off x="285876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19"/>
          <p:cNvSpPr/>
          <p:nvPr/>
        </p:nvSpPr>
        <p:spPr>
          <a:xfrm>
            <a:off x="0" y="6465960"/>
            <a:ext cx="12192120" cy="404640"/>
          </a:xfrm>
          <a:prstGeom prst="rect">
            <a:avLst/>
          </a:prstGeom>
          <a:solidFill>
            <a:srgbClr val="0C2577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68400" tIns="34200" rIns="68400" bIns="34200" anchor="t">
            <a:noAutofit/>
          </a:bodyPr>
          <a:lstStyle/>
          <a:p>
            <a:pPr>
              <a:lnSpc>
                <a:spcPct val="95000"/>
              </a:lnSpc>
              <a:tabLst>
                <a:tab pos="0" algn="l"/>
                <a:tab pos="683895" algn="l"/>
                <a:tab pos="1367790" algn="l"/>
                <a:tab pos="2052320" algn="l"/>
                <a:tab pos="2736215" algn="l"/>
                <a:tab pos="3420745" algn="l"/>
                <a:tab pos="4105275" algn="l"/>
                <a:tab pos="4789170" algn="l"/>
                <a:tab pos="5473700" algn="l"/>
                <a:tab pos="6157595" algn="l"/>
                <a:tab pos="6842125" algn="l"/>
                <a:tab pos="7526020" algn="l"/>
                <a:tab pos="8209915" algn="l"/>
                <a:tab pos="8894445" algn="l"/>
                <a:tab pos="9578340" algn="l"/>
                <a:tab pos="10262870" algn="l"/>
                <a:tab pos="10946765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8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623600" y="230040"/>
            <a:ext cx="1460520" cy="146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Tijdelijke aanduiding voor tekst 5"/>
          <p:cNvSpPr/>
          <p:nvPr/>
        </p:nvSpPr>
        <p:spPr>
          <a:xfrm>
            <a:off x="0" y="0"/>
            <a:ext cx="12192120" cy="3510000"/>
          </a:xfrm>
          <a:prstGeom prst="rect">
            <a:avLst/>
          </a:prstGeom>
          <a:solidFill>
            <a:srgbClr val="0C2577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tabLst>
                <a:tab pos="0" algn="l"/>
                <a:tab pos="683895" algn="l"/>
                <a:tab pos="1367790" algn="l"/>
                <a:tab pos="2052320" algn="l"/>
                <a:tab pos="2736215" algn="l"/>
                <a:tab pos="3420745" algn="l"/>
                <a:tab pos="4105275" algn="l"/>
                <a:tab pos="4789170" algn="l"/>
                <a:tab pos="5473700" algn="l"/>
                <a:tab pos="6157595" algn="l"/>
                <a:tab pos="6842125" algn="l"/>
                <a:tab pos="7526020" algn="l"/>
                <a:tab pos="8209915" algn="l"/>
                <a:tab pos="8894445" algn="l"/>
                <a:tab pos="9578340" algn="l"/>
                <a:tab pos="10262870" algn="l"/>
                <a:tab pos="10946765" algn="l"/>
              </a:tabLst>
            </a:pPr>
            <a:r>
              <a:rPr lang="en-US" sz="100" b="0" u="none" strike="noStrike">
                <a:solidFill>
                  <a:srgbClr val="0C2577"/>
                </a:solidFill>
                <a:effectLst/>
                <a:uFillTx/>
                <a:latin typeface="Georgia" panose="02040502050405020303"/>
              </a:rPr>
              <a:t>..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0" name="Picture 11"/>
          <p:cNvPicPr/>
          <p:nvPr/>
        </p:nvPicPr>
        <p:blipFill>
          <a:blip r:embed="rId2"/>
          <a:stretch>
            <a:fillRect/>
          </a:stretch>
        </p:blipFill>
        <p:spPr>
          <a:xfrm>
            <a:off x="150840" y="4853160"/>
            <a:ext cx="1244520" cy="124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Box 12"/>
          <p:cNvSpPr/>
          <p:nvPr/>
        </p:nvSpPr>
        <p:spPr>
          <a:xfrm>
            <a:off x="1619280" y="5013360"/>
            <a:ext cx="5559480" cy="916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800" b="1" u="none" strike="noStrike">
                <a:solidFill>
                  <a:srgbClr val="23298A"/>
                </a:solidFill>
                <a:effectLst/>
                <a:uFillTx/>
                <a:latin typeface="Georgia" panose="02040502050405020303"/>
              </a:rPr>
              <a:t>Dr. Shyama Prasad Mukherjee International Institute of Information Technology, Naya Raipur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" name="Subtitle 2"/>
          <p:cNvSpPr/>
          <p:nvPr/>
        </p:nvSpPr>
        <p:spPr>
          <a:xfrm>
            <a:off x="8373960" y="3787920"/>
            <a:ext cx="3171960" cy="426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rPr>
              <a:t>Date: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 hasCustomPrompt="1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 panose="020F0302020204030204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 hasCustomPrompt="1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Second Outline Level</a:t>
            </a: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Third Outline Level</a:t>
            </a:r>
          </a:p>
          <a:p>
            <a:pPr marL="1600200" lvl="3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Fourth Outline Level</a:t>
            </a:r>
          </a:p>
          <a:p>
            <a:pPr marL="2057400" lvl="4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Fifth Outline Level</a:t>
            </a:r>
          </a:p>
          <a:p>
            <a:pPr marL="2057400" lvl="5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Sixth Outline Level</a:t>
            </a:r>
          </a:p>
          <a:p>
            <a:pPr marL="2057400" lvl="6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4"/>
          </p:nvPr>
        </p:nvSpPr>
        <p:spPr>
          <a:xfrm>
            <a:off x="285876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9"/>
          <p:cNvSpPr/>
          <p:nvPr/>
        </p:nvSpPr>
        <p:spPr>
          <a:xfrm>
            <a:off x="0" y="6465960"/>
            <a:ext cx="12192120" cy="404640"/>
          </a:xfrm>
          <a:prstGeom prst="rect">
            <a:avLst/>
          </a:prstGeom>
          <a:solidFill>
            <a:srgbClr val="0C2577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68400" tIns="34200" rIns="68400" bIns="34200" anchor="t">
            <a:noAutofit/>
          </a:bodyPr>
          <a:lstStyle/>
          <a:p>
            <a:pPr>
              <a:lnSpc>
                <a:spcPct val="95000"/>
              </a:lnSpc>
              <a:tabLst>
                <a:tab pos="0" algn="l"/>
                <a:tab pos="683895" algn="l"/>
                <a:tab pos="1367790" algn="l"/>
                <a:tab pos="2052320" algn="l"/>
                <a:tab pos="2736215" algn="l"/>
                <a:tab pos="3420745" algn="l"/>
                <a:tab pos="4105275" algn="l"/>
                <a:tab pos="4789170" algn="l"/>
                <a:tab pos="5473700" algn="l"/>
                <a:tab pos="6157595" algn="l"/>
                <a:tab pos="6842125" algn="l"/>
                <a:tab pos="7526020" algn="l"/>
                <a:tab pos="8209915" algn="l"/>
                <a:tab pos="8894445" algn="l"/>
                <a:tab pos="9578340" algn="l"/>
                <a:tab pos="10262870" algn="l"/>
                <a:tab pos="10946765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7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623600" y="230040"/>
            <a:ext cx="1460520" cy="146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 hasCustomPrompt="1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 panose="020F0302020204030204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 hasCustomPrompt="1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Second Outline Level</a:t>
            </a: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Third Outline Level</a:t>
            </a:r>
          </a:p>
          <a:p>
            <a:pPr marL="1600200" lvl="3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Fourth Outline Level</a:t>
            </a:r>
          </a:p>
          <a:p>
            <a:pPr marL="2057400" lvl="4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Fifth Outline Level</a:t>
            </a:r>
          </a:p>
          <a:p>
            <a:pPr marL="2057400" lvl="5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Sixth Outline Level</a:t>
            </a:r>
          </a:p>
          <a:p>
            <a:pPr marL="2057400" lvl="6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dt" idx="5"/>
          </p:nvPr>
        </p:nvSpPr>
        <p:spPr>
          <a:xfrm>
            <a:off x="266760" y="6557760"/>
            <a:ext cx="2209680" cy="2998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4F216A4-6655-46D5-9F82-FCA52CB71742}" type="datetime">
              <a:rPr lang="en-IN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rPr>
              <a:t>06-10-2026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6"/>
          </p:nvPr>
        </p:nvSpPr>
        <p:spPr>
          <a:xfrm>
            <a:off x="285876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7"/>
          </p:nvPr>
        </p:nvSpPr>
        <p:spPr>
          <a:xfrm>
            <a:off x="962928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B439BF7-1A74-4B37-9303-A4B8CBE91CEB}" type="slidenum"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3511296"/>
            <a:ext cx="12188952" cy="1014984"/>
          </a:xfrm>
          <a:prstGeom prst="rect">
            <a:avLst/>
          </a:prstGeom>
          <a:solidFill>
            <a:srgbClr val="8A9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1440720" y="1843243"/>
            <a:ext cx="9144000" cy="16351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AI Research Assistant</a:t>
            </a:r>
            <a:br>
              <a:rPr lang="en-US" sz="4800" dirty="0"/>
            </a:b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Scientific Paper Analysis</a:t>
            </a:r>
            <a:br>
              <a:rPr lang="en-US" sz="4800" dirty="0"/>
            </a:b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ubTitle"/>
          </p:nvPr>
        </p:nvSpPr>
        <p:spPr>
          <a:xfrm>
            <a:off x="4284730" y="3733675"/>
            <a:ext cx="4730750" cy="606425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None/>
              <a:tabLst>
                <a:tab pos="0" algn="l"/>
                <a:tab pos="683895" algn="l"/>
                <a:tab pos="1367790" algn="l"/>
                <a:tab pos="2052320" algn="l"/>
                <a:tab pos="2736215" algn="l"/>
                <a:tab pos="3420745" algn="l"/>
                <a:tab pos="4105275" algn="l"/>
                <a:tab pos="4789170" algn="l"/>
                <a:tab pos="5473700" algn="l"/>
                <a:tab pos="6157595" algn="l"/>
                <a:tab pos="6842125" algn="l"/>
                <a:tab pos="7526020" algn="l"/>
                <a:tab pos="8209915" algn="l"/>
                <a:tab pos="8894445" algn="l"/>
                <a:tab pos="9578340" algn="l"/>
                <a:tab pos="10262870" algn="l"/>
                <a:tab pos="10946765" algn="l"/>
              </a:tabLst>
            </a:pPr>
            <a:r>
              <a:rPr sz="2100" b="0" dirty="0">
                <a:solidFill>
                  <a:srgbClr val="002060"/>
                </a:solidFill>
                <a:latin typeface="Georgia" panose="02040502050405020303"/>
              </a:rPr>
              <a:t>Supervisor: </a:t>
            </a:r>
            <a:r>
              <a:rPr lang="en-IN" altLang="" sz="2100" b="0" dirty="0">
                <a:solidFill>
                  <a:srgbClr val="002060"/>
                </a:solidFill>
                <a:latin typeface="Georgia" panose="02040502050405020303"/>
              </a:rPr>
              <a:t>Dr. O.P. Vyas </a:t>
            </a:r>
            <a:r>
              <a:rPr sz="2100" b="0" dirty="0">
                <a:solidFill>
                  <a:srgbClr val="002060"/>
                </a:solidFill>
                <a:latin typeface="Georgia" panose="02040502050405020303"/>
              </a:rPr>
              <a:t>________________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6" name="TextBox 8"/>
          <p:cNvSpPr/>
          <p:nvPr/>
        </p:nvSpPr>
        <p:spPr>
          <a:xfrm>
            <a:off x="8451720" y="3784680"/>
            <a:ext cx="310680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FFFFFF"/>
                </a:solidFill>
                <a:latin typeface="Georgia" panose="02040502050405020303"/>
              </a:rPr>
              <a:t>Date: 06/10/2026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" name="Footer Placeholder 9"/>
          <p:cNvSpPr/>
          <p:nvPr/>
        </p:nvSpPr>
        <p:spPr>
          <a:xfrm>
            <a:off x="3009960" y="6492960"/>
            <a:ext cx="60055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rPr>
              <a:t>International Institute of Information Technology, Naya Raipur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" name="Subtitle 4"/>
          <p:cNvSpPr/>
          <p:nvPr/>
        </p:nvSpPr>
        <p:spPr>
          <a:xfrm>
            <a:off x="127000" y="3615055"/>
            <a:ext cx="4458970" cy="6064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t">
            <a:noAutofit/>
          </a:bodyPr>
          <a:lstStyle/>
          <a:p>
            <a:pPr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tabLst>
                <a:tab pos="0" algn="l"/>
                <a:tab pos="683895" algn="l"/>
                <a:tab pos="1367790" algn="l"/>
                <a:tab pos="2052320" algn="l"/>
                <a:tab pos="2736215" algn="l"/>
                <a:tab pos="3420745" algn="l"/>
                <a:tab pos="4105275" algn="l"/>
                <a:tab pos="4789170" algn="l"/>
                <a:tab pos="5473700" algn="l"/>
                <a:tab pos="6157595" algn="l"/>
                <a:tab pos="6842125" algn="l"/>
                <a:tab pos="7526020" algn="l"/>
                <a:tab pos="8209915" algn="l"/>
                <a:tab pos="8894445" algn="l"/>
                <a:tab pos="9578340" algn="l"/>
                <a:tab pos="10262870" algn="l"/>
                <a:tab pos="10946765" algn="l"/>
              </a:tabLst>
            </a:pPr>
            <a:r>
              <a:rPr sz="1500" b="0" dirty="0">
                <a:solidFill>
                  <a:schemeClr val="bg1"/>
                </a:solidFill>
                <a:latin typeface="Georgia" panose="02040502050405020303" charset="0"/>
                <a:cs typeface="Georgia" panose="02040502050405020303" charset="0"/>
              </a:rPr>
              <a:t>Group Member: </a:t>
            </a:r>
            <a:r>
              <a:rPr lang="en-IN" sz="1500" dirty="0">
                <a:solidFill>
                  <a:schemeClr val="bg1"/>
                </a:solidFill>
                <a:latin typeface="Georgia" panose="02040502050405020303" charset="0"/>
                <a:cs typeface="Georgia" panose="02040502050405020303" charset="0"/>
              </a:rPr>
              <a:t>Soham Kamble </a:t>
            </a:r>
            <a:r>
              <a:rPr lang="en-IN" sz="1500" b="0" dirty="0">
                <a:solidFill>
                  <a:schemeClr val="bg1"/>
                </a:solidFill>
                <a:latin typeface="Georgia" panose="02040502050405020303" charset="0"/>
                <a:cs typeface="Georgia" panose="02040502050405020303" charset="0"/>
              </a:rPr>
              <a:t>(231020246), </a:t>
            </a:r>
            <a:r>
              <a:rPr lang="en-IN" sz="1500" dirty="0">
                <a:solidFill>
                  <a:schemeClr val="bg1"/>
                </a:solidFill>
                <a:latin typeface="Georgia" panose="02040502050405020303" charset="0"/>
                <a:cs typeface="Georgia" panose="02040502050405020303" charset="0"/>
              </a:rPr>
              <a:t>Utkarsh Rai </a:t>
            </a:r>
            <a:r>
              <a:rPr lang="en-IN" altLang="en-US" sz="1500" b="0" u="none" strike="noStrike" dirty="0">
                <a:solidFill>
                  <a:schemeClr val="bg1"/>
                </a:solidFill>
                <a:effectLst/>
                <a:uFillTx/>
                <a:latin typeface="Georgia" panose="02040502050405020303" charset="0"/>
                <a:cs typeface="Georgia" panose="02040502050405020303" charset="0"/>
              </a:rPr>
              <a:t>(231020256)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838080" y="1530000"/>
            <a:ext cx="10515600" cy="464652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Introduction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Motivation &amp; Challenges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Literature Review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Problem Definition &amp; Research Gap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Objectives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Proposed Framework / Methodology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Data &amp; Experimental Plan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Conclusion &amp; Future Directions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Plan of Action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0447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200" b="0">
                <a:solidFill>
                  <a:srgbClr val="002060"/>
                </a:solidFill>
                <a:latin typeface="Calibri Light" panose="020F0302020204030204"/>
              </a:rPr>
              <a:t>Content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31" name="Date Placeholder 3"/>
          <p:cNvSpPr/>
          <p:nvPr/>
        </p:nvSpPr>
        <p:spPr>
          <a:xfrm>
            <a:off x="266760" y="6558120"/>
            <a:ext cx="22096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" name="Footer Placeholder 4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" name="Slide Number Placeholder 5"/>
          <p:cNvSpPr/>
          <p:nvPr/>
        </p:nvSpPr>
        <p:spPr>
          <a:xfrm>
            <a:off x="962964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61760" cy="1325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1" dirty="0">
                <a:solidFill>
                  <a:srgbClr val="002060"/>
                </a:solidFill>
                <a:latin typeface="Calibri Light" panose="020F0302020204030204"/>
              </a:rPr>
              <a:t>Introduction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6" name="Date Placeholder 5"/>
          <p:cNvSpPr/>
          <p:nvPr/>
        </p:nvSpPr>
        <p:spPr>
          <a:xfrm>
            <a:off x="266760" y="6518160"/>
            <a:ext cx="220968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 lnSpcReduction="10000"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7" name="Slide Number Placeholder 6"/>
          <p:cNvSpPr/>
          <p:nvPr/>
        </p:nvSpPr>
        <p:spPr>
          <a:xfrm>
            <a:off x="9607680" y="64533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8" name="Footer Placeholder 9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4400" y="1783080"/>
            <a:ext cx="10058400" cy="331988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literature review requires searching, reading, comparing and summarizing large volumes of papers.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offer limited search or summarization, without intelligent collaboration between specialized components.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uses multiple autonomous AI agents, each handling one sub-task of the research workflow.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grounds every answer in the full text of retrieved papers, reducing hallucination.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structured, citation-backed literature review with comparison table, research gaps and </a:t>
            </a:r>
            <a:r>
              <a:rPr lang="en-US" dirty="0" err="1">
                <a:solidFill>
                  <a:srgbClr val="20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BibTeX</a:t>
            </a:r>
            <a:r>
              <a:rPr lang="en-US" dirty="0">
                <a:solidFill>
                  <a:srgbClr val="20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/APA references.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61760" cy="1325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900" b="1">
                <a:solidFill>
                  <a:srgbClr val="002060"/>
                </a:solidFill>
                <a:latin typeface="Calibri Light" panose="020F0302020204030204"/>
              </a:rPr>
              <a:t>Motivation: Issues and Challenges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41" name="Date Placeholder 5"/>
          <p:cNvSpPr/>
          <p:nvPr/>
        </p:nvSpPr>
        <p:spPr>
          <a:xfrm>
            <a:off x="266760" y="6518160"/>
            <a:ext cx="220968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 lnSpcReduction="10000"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2" name="Slide Number Placeholder 6"/>
          <p:cNvSpPr/>
          <p:nvPr/>
        </p:nvSpPr>
        <p:spPr>
          <a:xfrm>
            <a:off x="9607680" y="64533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3" name="Footer Placeholder 9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68680" y="1737360"/>
            <a:ext cx="48006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3271" y="1847088"/>
            <a:ext cx="44805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000" b="1">
                <a:solidFill>
                  <a:srgbClr val="B71C1C"/>
                </a:solidFill>
                <a:latin typeface="Calibri" panose="020F0502020204030204"/>
              </a:rPr>
              <a:t>Information Overload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1" y="2267712"/>
            <a:ext cx="4434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202B3C"/>
                </a:solidFill>
                <a:latin typeface="Calibri" panose="020F0502020204030204"/>
              </a:rPr>
              <a:t>Thousands of scientific papers published weekly; manual literature review causes severe cognitive fatigue.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1737360"/>
            <a:ext cx="48006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28232" y="1847088"/>
            <a:ext cx="44805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000" b="1">
                <a:solidFill>
                  <a:srgbClr val="B26A00"/>
                </a:solidFill>
                <a:latin typeface="Calibri" panose="020F0502020204030204"/>
              </a:rPr>
              <a:t>Dense Academic Formats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28232" y="2267712"/>
            <a:ext cx="4434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202B3C"/>
                </a:solidFill>
                <a:latin typeface="Calibri" panose="020F0502020204030204"/>
              </a:rPr>
              <a:t>Academic PDFs contain multi-column text, dense formulas, and buried methodologies difficult for generic tools.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" y="3794760"/>
            <a:ext cx="48006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33271" y="3904488"/>
            <a:ext cx="44805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Calibri" panose="020F0502020204030204"/>
              </a:rPr>
              <a:t>LLM Hallucinations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1" y="4325112"/>
            <a:ext cx="4434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202B3C"/>
                </a:solidFill>
                <a:latin typeface="Calibri" panose="020F0502020204030204"/>
              </a:rPr>
              <a:t>Standard conversational AI produces plausible but ungrounded claims lacking verifiable chunk-level citations.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3794760"/>
            <a:ext cx="48006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28232" y="3904488"/>
            <a:ext cx="44805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000" b="1">
                <a:solidFill>
                  <a:srgbClr val="2E7D32"/>
                </a:solidFill>
                <a:latin typeface="Calibri" panose="020F0502020204030204"/>
              </a:rPr>
              <a:t>Monolithic Tooling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28232" y="4325112"/>
            <a:ext cx="4434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202B3C"/>
                </a:solidFill>
                <a:latin typeface="Calibri" panose="020F0502020204030204"/>
              </a:rPr>
              <a:t>Single-prompt tools fail to combine document ingestion, vector retrieval, comparative synthesis, and gap analysis.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02060"/>
                </a:solidFill>
                <a:latin typeface="Calibri" panose="020F0502020204030204"/>
              </a:rPr>
              <a:t>Design Principle: Coordinate specialized autonomous AI agents backed by Retrieval-Augmented Generation (RAG) for verifiable, citation-grounded literature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61760" cy="1325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1">
                <a:solidFill>
                  <a:srgbClr val="002060"/>
                </a:solidFill>
                <a:latin typeface="Calibri Light" panose="020F0302020204030204"/>
              </a:rPr>
              <a:t>Literature Review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46" name="Date Placeholder 5"/>
          <p:cNvSpPr/>
          <p:nvPr/>
        </p:nvSpPr>
        <p:spPr>
          <a:xfrm>
            <a:off x="266760" y="6518160"/>
            <a:ext cx="220968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 lnSpcReduction="10000"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7" name="Slide Number Placeholder 6"/>
          <p:cNvSpPr/>
          <p:nvPr/>
        </p:nvSpPr>
        <p:spPr>
          <a:xfrm>
            <a:off x="9607680" y="64533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8" name="Footer Placeholder 9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502920" y="1508760"/>
          <a:ext cx="11109959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6968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Reference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Technique / Focus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Data / Platform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Key Strengths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Observation / Limitation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Lewis et al. (2020)
NeurIPS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Retrieval-Augmented Generation (RAG)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Wikipedia / Open-domain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Combines parametric &amp; non-parametric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Single monolithic retrieval; lacks multi-agent specialization for academic papers.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Wu et al. (2023)
Microsoft AutoGen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Multi-Agent Conversational Framework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Collaborative Agent LLMs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Enables role-playing and collaborative problem solving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General-purpose; lacks specialized PDF chunking, citation tracking, and research gap extraction.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Commercial Tools
(ChatPDF, SciSpace)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Single-Document Vector Search &amp;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Academic PDFs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Fast basic QA and interactive PDF viewing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Limited cross-paper comparative reasoning; lack transparent agent routing and structured gap synthesis.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Proposed Work
(2026)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Multi-Agent Hybrid RAG + Provenance Engine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Academic Research Papers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Specialized agents (Doc, Retrieval, Analysis, Q&amp;A) + page citations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Midterm validated on single-paper deep analysis; cross-corpus scaling planned for end-term.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594360" y="6053328"/>
            <a:ext cx="1097280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50" b="1">
                <a:solidFill>
                  <a:srgbClr val="002060"/>
                </a:solidFill>
                <a:latin typeface="Calibri" panose="020F0502020204030204"/>
              </a:rPr>
              <a:t>Research Direction: While RAG and multi-agent LLM systems exist independently, orchestrating specialized academic agents (Ingestion, Semantic Indexing, Synthesis, Gap Discovery) with strict page-level citation provenance solves current academic literature review bottlenecks.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Box 48"/>
          <p:cNvSpPr txBox="1"/>
          <p:nvPr/>
        </p:nvSpPr>
        <p:spPr>
          <a:xfrm>
            <a:off x="698400" y="1690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79040" cy="1325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800" b="1">
                <a:solidFill>
                  <a:srgbClr val="002060"/>
                </a:solidFill>
                <a:latin typeface="Calibri Light" panose="020F0302020204030204"/>
              </a:rPr>
              <a:t>Problem Definition / Problem Statement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51" name="Date Placeholder 3"/>
          <p:cNvSpPr/>
          <p:nvPr/>
        </p:nvSpPr>
        <p:spPr>
          <a:xfrm>
            <a:off x="266760" y="6558120"/>
            <a:ext cx="22096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 lnSpcReduction="10000"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2" name="Footer Placeholder 4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3" name="Slide Number Placeholder 5"/>
          <p:cNvSpPr/>
          <p:nvPr/>
        </p:nvSpPr>
        <p:spPr>
          <a:xfrm>
            <a:off x="962964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68680" y="1783080"/>
            <a:ext cx="1014984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300" b="1">
                <a:solidFill>
                  <a:srgbClr val="002060"/>
                </a:solidFill>
                <a:latin typeface="Calibri" panose="020F0502020204030204"/>
              </a:rPr>
              <a:t>How can an autonomous multi-agent AI system intelligently orchestrate the ingestion, semantic retrieval, comparative analysis, and grounded question-answering of complex scientific papers while eliminating hallucinations through strict page-level citations and automated research gap discovery?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3246120"/>
            <a:ext cx="9966960" cy="2331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b="0" sz="1700"/>
              <a:t>Input: Unstructured scientific papers (PDFs) + user natural language research inquiries.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b="0" sz="1700"/>
              <a:t>Constraints: Strict factual grounding, page-level citation provenance, low query latency (&lt;2s local search), and zero hallucination on out-of-domain queries.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b="0" sz="1700"/>
              <a:t>Output: Structured summaries, grounded Q&amp;A with exact source chunks, multi-paper methodology comparison, and synthesized research gap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61760" cy="1325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1">
                <a:solidFill>
                  <a:srgbClr val="002060"/>
                </a:solidFill>
                <a:latin typeface="Calibri Light" panose="020F0302020204030204"/>
              </a:rPr>
              <a:t>Research Gap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55" name="Text Box 54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56" name="Date Placeholder 5"/>
          <p:cNvSpPr/>
          <p:nvPr/>
        </p:nvSpPr>
        <p:spPr>
          <a:xfrm>
            <a:off x="266760" y="6518160"/>
            <a:ext cx="220968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 lnSpcReduction="10000"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7" name="Slide Number Placeholder 6"/>
          <p:cNvSpPr/>
          <p:nvPr/>
        </p:nvSpPr>
        <p:spPr>
          <a:xfrm>
            <a:off x="9607680" y="64533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8" name="Footer Placeholder 9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14400" y="1737360"/>
            <a:ext cx="10241280" cy="252349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 b="1">
                <a:solidFill>
                  <a:srgbClr val="202B3C"/>
                </a:solidFill>
                <a:latin typeface="Calibri" panose="020F0502020204030204"/>
              </a:defRPr>
            </a:pPr>
            <a:r>
              <a:rPr sz="17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 1 — Lack of Agentic Specialization in Research Tools</a:t>
            </a:r>
          </a:p>
          <a:p>
            <a:pPr lvl="1"/>
            <a:r>
              <a:rPr sz="1400" b="0"/>
              <a:t>Existing academic tools use a single prompt-response loop for all queries, failing to differentiate between ingestion, semantic search, comparative synthesis, and critical evaluation.</a:t>
            </a:r>
          </a:p>
          <a:p>
            <a:pPr lvl="1"/>
            <a:r>
              <a:rPr b="0" sz="1000"/>
              <a:t/>
            </a:r>
            <a:endParaRPr sz="1400"/>
          </a:p>
          <a:p>
            <a:pPr/>
            <a:r>
              <a:rPr sz="1700" b="1">
                <a:solidFill>
                  <a:srgbClr val="002060"/>
                </a:solidFill>
              </a:rPr>
              <a:t>Gap 2 — Absence of Verifiable Page-Level Citation Provenance</a:t>
            </a:r>
          </a:p>
          <a:p>
            <a:pPr lvl="1"/>
            <a:r>
              <a:rPr b="0" sz="1400"/>
              <a:t>Current LLM research assistants frequently hallucinate facts or provide vague document-level links rather than exact page numbers and chunk-level textual evidence.</a:t>
            </a:r>
            <a:endParaRPr sz="1700"/>
          </a:p>
          <a:p>
            <a:pPr lvl="1"/>
            <a:r>
              <a:rPr sz="1000" b="0"/>
              <a:t/>
            </a:r>
          </a:p>
          <a:p>
            <a:pPr/>
            <a:r>
              <a:rPr b="1" sz="1700">
                <a:solidFill>
                  <a:srgbClr val="002060"/>
                </a:solidFill>
              </a:rPr>
              <a:t>Gap 3 — Disconnect Between Retrieval and Research Gap Discovery</a:t>
            </a:r>
            <a:endParaRPr sz="1400"/>
          </a:p>
          <a:p>
            <a:pPr lvl="1"/>
            <a:r>
              <a:rPr sz="1400" b="0"/>
              <a:t>Available tools answer direct questions but do not autonomously synthesize cross-paper methodologies, identify conflicting findings, or pinpoint under-explored research directions.</a:t>
            </a:r>
          </a:p>
          <a:p>
            <a:endParaRPr sz="1700"/>
          </a:p>
          <a:p>
            <a:pPr lvl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 58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1">
                <a:solidFill>
                  <a:srgbClr val="002060"/>
                </a:solidFill>
                <a:latin typeface="Calibri Light" panose="020F0302020204030204"/>
              </a:rPr>
              <a:t>Objectives of the Project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61" name="Date Placeholder 3"/>
          <p:cNvSpPr/>
          <p:nvPr/>
        </p:nvSpPr>
        <p:spPr>
          <a:xfrm>
            <a:off x="266760" y="6558120"/>
            <a:ext cx="22096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2" name="Footer Placeholder 4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3" name="Slide Number Placeholder 5"/>
          <p:cNvSpPr/>
          <p:nvPr/>
        </p:nvSpPr>
        <p:spPr>
          <a:xfrm>
            <a:off x="962964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14400" y="1691640"/>
            <a:ext cx="10149840" cy="289750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b="0" sz="1500"/>
              <a:t>1. Design a modular Multi-Agent Architecture featuring an Orchestrator, Document Agent, Retrieval Agent, Analysis Agent, and Grounded Q&amp;A Agent.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b="0" sz="1500"/>
              <a:t>2. Implement an intelligent Document Ingestion Pipeline supporting PDF extraction, text normalization, and 900-character chunking with 150-character overlap.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b="0" sz="1500"/>
              <a:t>3. Build a Hybrid Retrieval Engine combining ChromaDB vector embeddings (all-MiniLM-L6-v2) and lexical TF-IDF with resilient fallback mechanisms.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b="0" sz="1500"/>
              <a:t>4. Develop an Intent-Routing Engine to automatically classify queries into Summary, Comparative Analysis, Research Gaps, or Grounded Q&amp;A.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b="0" sz="1500"/>
              <a:t>5. Implement strict Grounded Answering and Citation Tracking with exact page and chunk metadata to eliminate hallucinated answers.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b="0" sz="1500"/>
              <a:t>6. Create an intuitive, high-responsiveness Web Interface (Streamlit) featuring interactive paper exploration, live agent activity logging, and quick prompt suggestions.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b="0" sz="1500"/>
              <a:t>7. Experimentally evaluate retrieval latency, grounding accuracy, citation precision, and agent routing reliability on benchmark scientific papers.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61760" cy="1325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800" b="1">
                <a:solidFill>
                  <a:srgbClr val="002060"/>
                </a:solidFill>
                <a:latin typeface="Calibri Light" panose="020F0302020204030204"/>
              </a:rPr>
              <a:t>Proposed Framework / Methodology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66" name="Date Placeholder 5"/>
          <p:cNvSpPr/>
          <p:nvPr/>
        </p:nvSpPr>
        <p:spPr>
          <a:xfrm>
            <a:off x="266760" y="6518160"/>
            <a:ext cx="220968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 lnSpcReduction="10000"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7" name="Slide Number Placeholder 6"/>
          <p:cNvSpPr/>
          <p:nvPr/>
        </p:nvSpPr>
        <p:spPr>
          <a:xfrm>
            <a:off x="9607680" y="64533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8" name="Footer Placeholder 9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347472" y="1234440"/>
            <a:ext cx="1353312" cy="1353312"/>
          </a:xfrm>
          <a:prstGeom prst="roundRect">
            <a:avLst/>
          </a:prstGeom>
          <a:solidFill>
            <a:srgbClr val="E9EEF8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822960" y="1344168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22960" y="1371600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0624" y="1764792"/>
            <a:ext cx="120700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Calibri" panose="020F0502020204030204"/>
              </a:rPr>
              <a:t>Paper Ingestion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0624" y="2130552"/>
            <a:ext cx="120700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202B3C"/>
                </a:solidFill>
                <a:latin typeface="Calibri" panose="020F0502020204030204"/>
              </a:rPr>
              <a:t>PDF upload / parsing
Metadata extraction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1709928" y="1746504"/>
            <a:ext cx="82296" cy="25603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1801368" y="1234440"/>
            <a:ext cx="1353312" cy="1353312"/>
          </a:xfrm>
          <a:prstGeom prst="roundRect">
            <a:avLst/>
          </a:prstGeom>
          <a:solidFill>
            <a:srgbClr val="E9EEF8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276856" y="1344168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276856" y="1371600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74520" y="1764792"/>
            <a:ext cx="120700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Calibri" panose="020F0502020204030204"/>
              </a:rPr>
              <a:t>Document Agent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74520" y="2130552"/>
            <a:ext cx="120700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202B3C"/>
                </a:solidFill>
                <a:latin typeface="Calibri" panose="020F0502020204030204"/>
              </a:rPr>
              <a:t>Text chunking (900 ch)
Overlap &amp; page mapping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3163824" y="1746504"/>
            <a:ext cx="82296" cy="25603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3255264" y="1234440"/>
            <a:ext cx="1353312" cy="1353312"/>
          </a:xfrm>
          <a:prstGeom prst="roundRect">
            <a:avLst/>
          </a:prstGeom>
          <a:solidFill>
            <a:srgbClr val="E9EEF8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3730752" y="1344168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30752" y="1371600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28416" y="1764792"/>
            <a:ext cx="120700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Calibri" panose="020F0502020204030204"/>
              </a:rPr>
              <a:t>Vector Indexing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28416" y="2130552"/>
            <a:ext cx="120700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202B3C"/>
                </a:solidFill>
                <a:latin typeface="Calibri" panose="020F0502020204030204"/>
              </a:rPr>
              <a:t>Embeddings generation
ChromaDB &amp; TF-IDF</a:t>
            </a:r>
          </a:p>
        </p:txBody>
      </p:sp>
      <p:sp>
        <p:nvSpPr>
          <p:cNvPr id="86" name="Right Arrow 85"/>
          <p:cNvSpPr/>
          <p:nvPr/>
        </p:nvSpPr>
        <p:spPr>
          <a:xfrm>
            <a:off x="4617720" y="1746504"/>
            <a:ext cx="82296" cy="25603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4709160" y="1234440"/>
            <a:ext cx="1353312" cy="1353312"/>
          </a:xfrm>
          <a:prstGeom prst="roundRect">
            <a:avLst/>
          </a:prstGeom>
          <a:solidFill>
            <a:srgbClr val="E9EEF8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5184648" y="1344168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184648" y="1371600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82312" y="1764792"/>
            <a:ext cx="120700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Calibri" panose="020F0502020204030204"/>
              </a:rPr>
              <a:t>Orchestrator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82312" y="2130552"/>
            <a:ext cx="120700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202B3C"/>
                </a:solidFill>
                <a:latin typeface="Calibri" panose="020F0502020204030204"/>
              </a:rPr>
              <a:t>Query intent routing
Agent dispatching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6071616" y="1746504"/>
            <a:ext cx="82296" cy="25603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6163056" y="1234440"/>
            <a:ext cx="1353312" cy="1353312"/>
          </a:xfrm>
          <a:prstGeom prst="roundRect">
            <a:avLst/>
          </a:prstGeom>
          <a:solidFill>
            <a:srgbClr val="E9EEF8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6638544" y="1344168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638544" y="1371600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36208" y="1764792"/>
            <a:ext cx="120700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Calibri" panose="020F0502020204030204"/>
              </a:rPr>
              <a:t>Retrieval Agent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36208" y="2130552"/>
            <a:ext cx="120700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202B3C"/>
                </a:solidFill>
                <a:latin typeface="Calibri" panose="020F0502020204030204"/>
              </a:rPr>
              <a:t>Semantic vector search
Top-k relevant chunks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7525512" y="1746504"/>
            <a:ext cx="82296" cy="25603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616952" y="1234440"/>
            <a:ext cx="1353312" cy="1353312"/>
          </a:xfrm>
          <a:prstGeom prst="roundRect">
            <a:avLst/>
          </a:prstGeom>
          <a:solidFill>
            <a:srgbClr val="E9EEF8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8092440" y="1344168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092440" y="1371600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90104" y="1764792"/>
            <a:ext cx="120700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Calibri" panose="020F0502020204030204"/>
              </a:rPr>
              <a:t>Analysis Agent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90104" y="2130552"/>
            <a:ext cx="120700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202B3C"/>
                </a:solidFill>
                <a:latin typeface="Calibri" panose="020F0502020204030204"/>
              </a:rPr>
              <a:t>Methodology synthesis
&amp; research gap extraction</a:t>
            </a:r>
          </a:p>
        </p:txBody>
      </p:sp>
      <p:sp>
        <p:nvSpPr>
          <p:cNvPr id="104" name="Right Arrow 103"/>
          <p:cNvSpPr/>
          <p:nvPr/>
        </p:nvSpPr>
        <p:spPr>
          <a:xfrm>
            <a:off x="8979408" y="1746504"/>
            <a:ext cx="82296" cy="25603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070848" y="1234440"/>
            <a:ext cx="1353312" cy="1353312"/>
          </a:xfrm>
          <a:prstGeom prst="roundRect">
            <a:avLst/>
          </a:prstGeom>
          <a:solidFill>
            <a:srgbClr val="E9EEF8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9546336" y="1344168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546336" y="1371600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0" y="1764792"/>
            <a:ext cx="120700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Calibri" panose="020F0502020204030204"/>
              </a:rPr>
              <a:t>Grounded Q&amp;A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0" y="2130552"/>
            <a:ext cx="120700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202B3C"/>
                </a:solidFill>
                <a:latin typeface="Calibri" panose="020F0502020204030204"/>
              </a:rPr>
              <a:t>LLM generation backed
by page-level citations</a:t>
            </a:r>
          </a:p>
        </p:txBody>
      </p:sp>
      <p:sp>
        <p:nvSpPr>
          <p:cNvPr id="110" name="Right Arrow 109"/>
          <p:cNvSpPr/>
          <p:nvPr/>
        </p:nvSpPr>
        <p:spPr>
          <a:xfrm>
            <a:off x="10433304" y="1746504"/>
            <a:ext cx="82296" cy="25603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0524744" y="1234440"/>
            <a:ext cx="1353312" cy="1353312"/>
          </a:xfrm>
          <a:prstGeom prst="roundRect">
            <a:avLst/>
          </a:prstGeom>
          <a:solidFill>
            <a:srgbClr val="E7F3E8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1000232" y="1344168"/>
            <a:ext cx="384048" cy="384048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1000232" y="1371600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597896" y="1764792"/>
            <a:ext cx="120700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 panose="020F0502020204030204"/>
              </a:rPr>
              <a:t>UI &amp; Activity Log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597896" y="2130552"/>
            <a:ext cx="120700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202B3C"/>
                </a:solidFill>
                <a:latin typeface="Calibri" panose="020F0502020204030204"/>
              </a:rPr>
              <a:t>Interactive Streamlit
Real-time agent logging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2920" y="297180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002060"/>
                </a:solidFill>
                <a:latin typeface="Calibri" panose="020F0502020204030204"/>
              </a:rPr>
              <a:t>Core Multi-Agent System Layers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02920" y="3429000"/>
            <a:ext cx="2029968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576072" y="3566160"/>
            <a:ext cx="187451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Calibri" panose="020F0502020204030204"/>
              </a:rPr>
              <a:t>Ingestion Layer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6072" y="3886200"/>
            <a:ext cx="1874519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202B3C"/>
                </a:solidFill>
                <a:latin typeface="Calibri" panose="020F0502020204030204"/>
              </a:rPr>
              <a:t>PyPDF &amp; text cleaning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770632" y="3429000"/>
            <a:ext cx="2029968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843784" y="3566160"/>
            <a:ext cx="187451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 panose="020F0502020204030204"/>
              </a:rPr>
              <a:t>Indexing Layer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43784" y="3886200"/>
            <a:ext cx="1874519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202B3C"/>
                </a:solidFill>
                <a:latin typeface="Calibri" panose="020F0502020204030204"/>
              </a:rPr>
              <a:t>ChromaDB + TF-IDF fallback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038344" y="3429000"/>
            <a:ext cx="2029968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111496" y="3566160"/>
            <a:ext cx="187451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B26A00"/>
                </a:solidFill>
                <a:latin typeface="Calibri" panose="020F0502020204030204"/>
              </a:rPr>
              <a:t>Agentic Layer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111496" y="3886200"/>
            <a:ext cx="1874519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202B3C"/>
                </a:solidFill>
                <a:latin typeface="Calibri" panose="020F0502020204030204"/>
              </a:rPr>
              <a:t>Autonomous specialized agents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306055" y="3429000"/>
            <a:ext cx="2029968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379207" y="3566160"/>
            <a:ext cx="187451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B71C1C"/>
                </a:solidFill>
                <a:latin typeface="Calibri" panose="020F0502020204030204"/>
              </a:rPr>
              <a:t>Generation Layer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379207" y="3886200"/>
            <a:ext cx="1874519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202B3C"/>
                </a:solidFill>
                <a:latin typeface="Calibri" panose="020F0502020204030204"/>
              </a:rPr>
              <a:t>Grounded LLM (Ollama / Fallback)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573768" y="3429000"/>
            <a:ext cx="2029968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2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9646920" y="3566160"/>
            <a:ext cx="187451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142D7E"/>
                </a:solidFill>
                <a:latin typeface="Calibri" panose="020F0502020204030204"/>
              </a:rPr>
              <a:t>Attribution Layer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646920" y="3886200"/>
            <a:ext cx="1874519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202B3C"/>
                </a:solidFill>
                <a:latin typeface="Calibri" panose="020F0502020204030204"/>
              </a:rPr>
              <a:t>Exact page &amp; chunk citations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85800" y="4800600"/>
            <a:ext cx="1069848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02060"/>
                </a:solidFill>
                <a:latin typeface="Calibri" panose="020F0502020204030204"/>
              </a:rPr>
              <a:t>Multi-Agent Execution Pipeline: User query -&gt; Orchestrator classifies intent -&gt; Retrieval Agent fetches semantic chunks with page provenance -&gt; Analysis / Q&amp;A Agent synthesizes grounded response -&gt; Activity Logger records multi-agent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200" b="1">
                <a:solidFill>
                  <a:srgbClr val="002060"/>
                </a:solidFill>
                <a:latin typeface="Calibri Light" panose="020F0302020204030204"/>
              </a:rPr>
              <a:t>Data / Database Description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71" name="Date Placeholder 3"/>
          <p:cNvSpPr/>
          <p:nvPr/>
        </p:nvSpPr>
        <p:spPr>
          <a:xfrm>
            <a:off x="266760" y="6558120"/>
            <a:ext cx="22096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2" name="Footer Placeholder 4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3" name="Slide Number Placeholder 5"/>
          <p:cNvSpPr/>
          <p:nvPr/>
        </p:nvSpPr>
        <p:spPr>
          <a:xfrm>
            <a:off x="962964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graphicFrame>
        <p:nvGraphicFramePr>
          <p:cNvPr id="74" name="Table 73"/>
          <p:cNvGraphicFramePr>
            <a:graphicFrameLocks noGrp="1"/>
          </p:cNvGraphicFramePr>
          <p:nvPr/>
        </p:nvGraphicFramePr>
        <p:xfrm>
          <a:off x="594360" y="1874519"/>
          <a:ext cx="106984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System Component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Configuration / Scope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Schema / Attributes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Functional Role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PDF Ingestion Corpus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1+ benchmark papers (e.g. LoRA 26-page PDF)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Raw text, page numbers, title, total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Source research papers for document decomposition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Chunking Store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900-character chunks with 150-char overlap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chunk_id, page_number, text, char_length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Granular semantic units preserving page-level attribution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ChromaDB Vector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Collection: research_papers (all-MiniLM-L6-v2)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chunk_id, vector_embedding, metadata, document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High-dimensional semantic similarity vector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TF-IDF Lexical Index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In-memory sparse term-frequency matrix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Vocabulary terms, document frequencies, scores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Resilient keyword search fallback when vector store is unavailable</a:t>
                      </a:r>
                    </a:p>
                  </a:txBody>
                  <a:tcPr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Agent Execution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Real-time session state &amp; execution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timestamp, agent_name, action, detail,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Live execution transparency and multi-agent coordination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685800" y="1481328"/>
            <a:ext cx="106984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5E6878"/>
                </a:solidFill>
                <a:latin typeface="Calibri" panose="020F0502020204030204"/>
              </a:rPr>
              <a:t>The system operates on academic scientific publications in PDF format, building persistent vector indices with metadata mapping for grounded semantic search and page-level attribution.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158760"/>
            <a:ext cx="10515600" cy="9446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800" b="1">
                <a:solidFill>
                  <a:srgbClr val="002060"/>
                </a:solidFill>
                <a:latin typeface="Calibri Light" panose="020F0302020204030204"/>
              </a:rPr>
              <a:t>Experimental Results &amp; Discussion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77" name="Date Placeholder 3"/>
          <p:cNvSpPr/>
          <p:nvPr/>
        </p:nvSpPr>
        <p:spPr>
          <a:xfrm>
            <a:off x="266760" y="6558120"/>
            <a:ext cx="22096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8" name="Footer Placeholder 4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9" name="Slide Number Placeholder 5"/>
          <p:cNvSpPr/>
          <p:nvPr/>
        </p:nvSpPr>
        <p:spPr>
          <a:xfrm>
            <a:off x="962964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40080" y="1417320"/>
            <a:ext cx="108813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B26A00"/>
                </a:solidFill>
                <a:latin typeface="Calibri" panose="020F0502020204030204"/>
              </a:rPr>
              <a:t>Midterm Status: Full multi-agent pipeline implemented, verified across 10 validation checks with 100% test pass rate, and deployed on interactive web UI.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1965960"/>
            <a:ext cx="33375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04088" y="2075688"/>
            <a:ext cx="3108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02060"/>
                </a:solidFill>
                <a:latin typeface="Calibri" panose="020F0502020204030204"/>
              </a:rPr>
              <a:t>Pipeline Stability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4088" y="2404872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02B3C"/>
                </a:solidFill>
                <a:latin typeface="Calibri" panose="020F0502020204030204"/>
              </a:rPr>
              <a:t>10 / 10 Tests Passed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4088" y="2743200"/>
            <a:ext cx="310896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5E6878"/>
                </a:solidFill>
                <a:latin typeface="Calibri" panose="020F0502020204030204"/>
              </a:rPr>
              <a:t>Ingestion, chunking, indexing, intent routing, and grounded generation fully verified.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389120" y="1965960"/>
            <a:ext cx="33375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498848" y="2075688"/>
            <a:ext cx="3108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2E7D32"/>
                </a:solidFill>
                <a:latin typeface="Calibri" panose="020F0502020204030204"/>
              </a:rPr>
              <a:t>Retrieval Accuracy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98848" y="2404872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02B3C"/>
                </a:solidFill>
                <a:latin typeface="Calibri" panose="020F0502020204030204"/>
              </a:rPr>
              <a:t>Top-k Chunk Precision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98848" y="2743200"/>
            <a:ext cx="310896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5E6878"/>
                </a:solidFill>
                <a:latin typeface="Calibri" panose="020F0502020204030204"/>
              </a:rPr>
              <a:t>Semantic vector search accurately isolates target methodology sections across 26-page papers.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183880" y="1965960"/>
            <a:ext cx="33375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293608" y="2075688"/>
            <a:ext cx="3108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B71C1C"/>
                </a:solidFill>
                <a:latin typeface="Calibri" panose="020F0502020204030204"/>
              </a:rPr>
              <a:t>Zero Hallucination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93608" y="2404872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02B3C"/>
                </a:solidFill>
                <a:latin typeface="Calibri" panose="020F0502020204030204"/>
              </a:rPr>
              <a:t>Negative Control Verified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93608" y="2743200"/>
            <a:ext cx="310896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5E6878"/>
                </a:solidFill>
                <a:latin typeface="Calibri" panose="020F0502020204030204"/>
              </a:rPr>
              <a:t>Irrelevant/out-of-domain queries ('quantum biology') correctly rejected with no fabrication.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94360" y="3657600"/>
            <a:ext cx="33375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2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04088" y="3767328"/>
            <a:ext cx="3108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42D7E"/>
                </a:solidFill>
                <a:latin typeface="Calibri" panose="020F0502020204030204"/>
              </a:rPr>
              <a:t>Citation Provenance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4088" y="4096512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02B3C"/>
                </a:solidFill>
                <a:latin typeface="Calibri" panose="020F0502020204030204"/>
              </a:rPr>
              <a:t>100% Page Attribution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4088" y="4434840"/>
            <a:ext cx="310896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5E6878"/>
                </a:solidFill>
                <a:latin typeface="Calibri" panose="020F0502020204030204"/>
              </a:rPr>
              <a:t>Every generated response strictly cites the source page numbers and exact chunk context.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389120" y="3657600"/>
            <a:ext cx="33375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498848" y="3767328"/>
            <a:ext cx="3108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B26A00"/>
                </a:solidFill>
                <a:latin typeface="Calibri" panose="020F0502020204030204"/>
              </a:rPr>
              <a:t>Resilient Fallback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98848" y="4096512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02B3C"/>
                </a:solidFill>
                <a:latin typeface="Calibri" panose="020F0502020204030204"/>
              </a:rPr>
              <a:t>Dual-Engine Architecture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98848" y="4434840"/>
            <a:ext cx="310896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5E6878"/>
                </a:solidFill>
                <a:latin typeface="Calibri" panose="020F0502020204030204"/>
              </a:rPr>
              <a:t>Seamless TF-IDF fallback activates automatically if vector DB or LLM server is unreachable.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183880" y="3657600"/>
            <a:ext cx="33375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E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293608" y="3767328"/>
            <a:ext cx="3108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5E6878"/>
                </a:solidFill>
                <a:latin typeface="Calibri" panose="020F0502020204030204"/>
              </a:rPr>
              <a:t>Response Latency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93608" y="4096512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02B3C"/>
                </a:solidFill>
                <a:latin typeface="Calibri" panose="020F0502020204030204"/>
              </a:rPr>
              <a:t>Sub-Second Query Time (&lt;1s)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93608" y="4434840"/>
            <a:ext cx="310896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>
                <a:solidFill>
                  <a:srgbClr val="5E6878"/>
                </a:solidFill>
                <a:latin typeface="Calibri" panose="020F0502020204030204"/>
              </a:rPr>
              <a:t>Optimized local chunk caching and search enables smooth live demonstration during evaluation.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31520" y="5577840"/>
            <a:ext cx="10515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02060"/>
                </a:solidFill>
                <a:latin typeface="Calibri" panose="020F0502020204030204"/>
              </a:rPr>
              <a:t>Evaluation Summary: The midterm prototype demonstrates robust end-to-end multi-agent orchestration, resilient fallbacks, zero hallucination on negative tests, and interactive research paper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Box 79"/>
          <p:cNvSpPr txBox="1"/>
          <p:nvPr/>
        </p:nvSpPr>
        <p:spPr>
          <a:xfrm>
            <a:off x="838080" y="1582200"/>
            <a:ext cx="10515600" cy="4054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000" b="1">
                <a:solidFill>
                  <a:srgbClr val="002060"/>
                </a:solidFill>
                <a:latin typeface="Calibri Light" panose="020F0302020204030204"/>
              </a:rPr>
              <a:t>Conclusion and Future Directions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82" name="Date Placeholder 3"/>
          <p:cNvSpPr/>
          <p:nvPr/>
        </p:nvSpPr>
        <p:spPr>
          <a:xfrm>
            <a:off x="266760" y="6558120"/>
            <a:ext cx="22096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3" name="Footer Placeholder 4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4" name="Slide Number Placeholder 5"/>
          <p:cNvSpPr/>
          <p:nvPr/>
        </p:nvSpPr>
        <p:spPr>
          <a:xfrm>
            <a:off x="962964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14400" y="1645920"/>
            <a:ext cx="10241280" cy="44805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202B3C"/>
                </a:solidFill>
                <a:latin typeface="Calibri" panose="020F0502020204030204"/>
              </a:defRPr>
            </a:pPr>
            <a:r>
              <a:rPr b="0" sz="1600"/>
              <a:t>Midterm Deliverable: Successfully engineered and validated a modular Multi-Agent AI Research Assistant capable of scientific PDF ingestion, semantic indexing, and grounded analysis.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202B3C"/>
                </a:solidFill>
                <a:latin typeface="Calibri" panose="020F0502020204030204"/>
              </a:defRPr>
            </a:pPr>
            <a:r>
              <a:rPr b="0" sz="1600"/>
              <a:t>Agent Collaboration: Autonomous specialization (Document, Retrieval, Analysis, Q&amp;A) significantly outperforms monolithic prompt approaches in precision and structure.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202B3C"/>
                </a:solidFill>
                <a:latin typeface="Calibri" panose="020F0502020204030204"/>
              </a:defRPr>
            </a:pPr>
            <a:r>
              <a:rPr b="0" sz="1600"/>
              <a:t>Elimination of Hallucinations: Grounded RAG with strict page-level citation provenance guarantees factual verification across complex academic literature.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202B3C"/>
                </a:solidFill>
                <a:latin typeface="Calibri" panose="020F0502020204030204"/>
              </a:defRPr>
            </a:pPr>
            <a:r>
              <a:rPr b="0" sz="1600"/>
              <a:t>Resilient &amp; Responsive: Hybrid vector and lexical fallback architecture delivers sub-second response times and zero-downtime reliability.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900">
                <a:solidFill>
                  <a:srgbClr val="202B3C"/>
                </a:solidFill>
                <a:latin typeface="Calibri" panose="020F0502020204030204"/>
              </a:defRPr>
            </a:pPr>
            <a:r>
              <a:rPr b="0" sz="1600"/>
              <a:t>End-Term Scope: Expand to multi-paper cross-corpus synthesis, live ArXiv/OpenAlex API ingestion, automated BibTeX citation export, and collaborative paper comparison matrices.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Box 84"/>
          <p:cNvSpPr txBox="1"/>
          <p:nvPr/>
        </p:nvSpPr>
        <p:spPr>
          <a:xfrm>
            <a:off x="503280" y="1825200"/>
            <a:ext cx="108504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3280" y="365040"/>
            <a:ext cx="10850400" cy="1325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700" b="1">
                <a:solidFill>
                  <a:srgbClr val="002060"/>
                </a:solidFill>
                <a:latin typeface="Calibri Light" panose="020F0302020204030204"/>
              </a:rPr>
              <a:t>Plan of Action for Remaining Project Work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87" name="Date Placeholder 3"/>
          <p:cNvSpPr/>
          <p:nvPr/>
        </p:nvSpPr>
        <p:spPr>
          <a:xfrm>
            <a:off x="266760" y="6558120"/>
            <a:ext cx="22096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8" name="Footer Placeholder 4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9" name="Slide Number Placeholder 5"/>
          <p:cNvSpPr/>
          <p:nvPr/>
        </p:nvSpPr>
        <p:spPr>
          <a:xfrm>
            <a:off x="962964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731520" y="1554480"/>
            <a:ext cx="1325880" cy="512064"/>
          </a:xfrm>
          <a:prstGeom prst="roundRect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9808" y="1664207"/>
            <a:ext cx="1280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Phase 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86000" y="1572768"/>
            <a:ext cx="27432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2E7D32"/>
                </a:solidFill>
                <a:latin typeface="Calibri" panose="020F0502020204030204"/>
              </a:rPr>
              <a:t>Multi-Paper Corpus Scaling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00600" y="1572768"/>
            <a:ext cx="63093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02B3C"/>
                </a:solidFill>
                <a:latin typeface="Calibri" panose="020F0502020204030204"/>
              </a:rPr>
              <a:t>Enable simultaneous indexing and cross-referencing across 20+ papers in shared workspace.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31520" y="2286000"/>
            <a:ext cx="1325880" cy="512064"/>
          </a:xfrm>
          <a:prstGeom prst="roundRect">
            <a:avLst/>
          </a:prstGeom>
          <a:solidFill>
            <a:srgbClr val="002060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9808" y="2395728"/>
            <a:ext cx="1280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Phase 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86000" y="2304288"/>
            <a:ext cx="27432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Calibri" panose="020F0502020204030204"/>
              </a:rPr>
              <a:t>Live Academic API Ingestion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00600" y="2304288"/>
            <a:ext cx="63093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02B3C"/>
                </a:solidFill>
                <a:latin typeface="Calibri" panose="020F0502020204030204"/>
              </a:rPr>
              <a:t>Integrate ArXiv, Semantic Scholar, and OpenAlex APIs for real-time paper retrieval.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31520" y="3017520"/>
            <a:ext cx="1325880" cy="512064"/>
          </a:xfrm>
          <a:prstGeom prst="roundRect">
            <a:avLst/>
          </a:prstGeom>
          <a:solidFill>
            <a:srgbClr val="B26A00"/>
          </a:solidFill>
          <a:ln w="1524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49808" y="3127248"/>
            <a:ext cx="1280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Phase 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86000" y="3035808"/>
            <a:ext cx="27432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B26A00"/>
                </a:solidFill>
                <a:latin typeface="Calibri" panose="020F0502020204030204"/>
              </a:rPr>
              <a:t>Automated Literature Review Writer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00600" y="3035808"/>
            <a:ext cx="63093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02B3C"/>
                </a:solidFill>
                <a:latin typeface="Calibri" panose="020F0502020204030204"/>
              </a:rPr>
              <a:t>Generate multi-section survey drafts complete with BibTeX and APA citations.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31520" y="3749040"/>
            <a:ext cx="1325880" cy="512064"/>
          </a:xfrm>
          <a:prstGeom prst="roundRect">
            <a:avLst/>
          </a:prstGeom>
          <a:solidFill>
            <a:srgbClr val="142D7E"/>
          </a:solidFill>
          <a:ln w="15240">
            <a:solidFill>
              <a:srgbClr val="142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49808" y="3858768"/>
            <a:ext cx="1280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Phase 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86000" y="3767328"/>
            <a:ext cx="27432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142D7E"/>
                </a:solidFill>
                <a:latin typeface="Calibri" panose="020F0502020204030204"/>
              </a:rPr>
              <a:t>Comparative Matrix Engine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00600" y="3767328"/>
            <a:ext cx="63093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02B3C"/>
                </a:solidFill>
                <a:latin typeface="Calibri" panose="020F0502020204030204"/>
              </a:rPr>
              <a:t>Synthesize structured comparison tables of datasets, architectures, and empirical findings.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31520" y="4480560"/>
            <a:ext cx="1325880" cy="512064"/>
          </a:xfrm>
          <a:prstGeom prst="roundRect">
            <a:avLst/>
          </a:prstGeom>
          <a:solidFill>
            <a:srgbClr val="B71C1C"/>
          </a:solidFill>
          <a:ln w="1524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49808" y="4590288"/>
            <a:ext cx="1280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Phase 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86000" y="4498848"/>
            <a:ext cx="27432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B71C1C"/>
                </a:solidFill>
                <a:latin typeface="Calibri" panose="020F0502020204030204"/>
              </a:rPr>
              <a:t>Advanced Agent Reasoning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800600" y="4498848"/>
            <a:ext cx="63093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02B3C"/>
                </a:solidFill>
                <a:latin typeface="Calibri" panose="020F0502020204030204"/>
              </a:rPr>
              <a:t>Implement critique/reflection agents with domain-fine-tuned embeddings (SciBERT).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31520" y="5212080"/>
            <a:ext cx="1325880" cy="512064"/>
          </a:xfrm>
          <a:prstGeom prst="roundRect">
            <a:avLst/>
          </a:prstGeom>
          <a:solidFill>
            <a:srgbClr val="5E6878"/>
          </a:solidFill>
          <a:ln w="15240">
            <a:solidFill>
              <a:srgbClr val="5E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49808" y="5321808"/>
            <a:ext cx="1280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Phase 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286000" y="5230368"/>
            <a:ext cx="27432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5E6878"/>
                </a:solidFill>
                <a:latin typeface="Calibri" panose="020F0502020204030204"/>
              </a:rPr>
              <a:t>Comprehensive Evaluation &amp; Demo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00600" y="5230368"/>
            <a:ext cx="63093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02B3C"/>
                </a:solidFill>
                <a:latin typeface="Calibri" panose="020F0502020204030204"/>
              </a:rPr>
              <a:t>Conduct quantitative latency/accuracy benchmarks, user study, and final thesis defense.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32040" y="15368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1">
                <a:solidFill>
                  <a:srgbClr val="002060"/>
                </a:solidFill>
                <a:latin typeface="Georgia" panose="02040502050405020303"/>
              </a:rPr>
              <a:t>Thank You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pic>
        <p:nvPicPr>
          <p:cNvPr id="92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216000" y="5002200"/>
            <a:ext cx="1244520" cy="124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Box 6"/>
          <p:cNvSpPr/>
          <p:nvPr/>
        </p:nvSpPr>
        <p:spPr>
          <a:xfrm>
            <a:off x="1652760" y="5162400"/>
            <a:ext cx="5559120" cy="916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800" b="1" u="none" strike="noStrike">
                <a:solidFill>
                  <a:srgbClr val="23298A"/>
                </a:solidFill>
                <a:effectLst/>
                <a:uFillTx/>
                <a:latin typeface="Georgia" panose="02040502050405020303"/>
              </a:rPr>
              <a:t>Dr. Shyama Prasad Mukherjee International Institute of Information Technology, Naya Raipur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4" name="Date Placeholder 7"/>
          <p:cNvSpPr/>
          <p:nvPr/>
        </p:nvSpPr>
        <p:spPr>
          <a:xfrm>
            <a:off x="266760" y="6518160"/>
            <a:ext cx="220968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 lnSpcReduction="10000"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5" name="Slide Number Placeholder 8"/>
          <p:cNvSpPr/>
          <p:nvPr/>
        </p:nvSpPr>
        <p:spPr>
          <a:xfrm>
            <a:off x="9607680" y="64533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6" name="Footer Placeholder 12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2834640" y="2880360"/>
            <a:ext cx="64922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002060"/>
                </a:solidFill>
                <a:latin typeface="Georgia" panose="02040502050405020303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1410</Words>
  <Application>Microsoft Office PowerPoint</Application>
  <PresentationFormat>Custom</PresentationFormat>
  <Paragraphs>237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Georgia</vt:lpstr>
      <vt:lpstr>Times New Roman</vt:lpstr>
      <vt:lpstr>Office</vt:lpstr>
      <vt:lpstr>Multi-Agent AI Research Assistant for Scientific Paper Analysis </vt:lpstr>
      <vt:lpstr>Content</vt:lpstr>
      <vt:lpstr>Introduction</vt:lpstr>
      <vt:lpstr>Motivation: Issues and Challenges</vt:lpstr>
      <vt:lpstr>Literature Review</vt:lpstr>
      <vt:lpstr>Problem Definition / Problem Statement</vt:lpstr>
      <vt:lpstr>Research Gap</vt:lpstr>
      <vt:lpstr>Objectives of the Project</vt:lpstr>
      <vt:lpstr>Proposed Framework / Methodology</vt:lpstr>
      <vt:lpstr>Data / Database Description</vt:lpstr>
      <vt:lpstr>Experimental Results &amp; Discussion</vt:lpstr>
      <vt:lpstr>Conclusion and Future Directions</vt:lpstr>
      <vt:lpstr>Plan of Action for Remaining Project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Blockchain-Based Secure Examination
Paper Distribution &amp; Leak Detection</dc:title>
  <dc:creator>Soham ‌Kamble</dc:creator>
  <cp:lastModifiedBy>Soham ‌Kamble</cp:lastModifiedBy>
  <cp:revision>2</cp:revision>
  <dcterms:created xsi:type="dcterms:W3CDTF">2026-10-05T20:44:50Z</dcterms:created>
  <dcterms:modified xsi:type="dcterms:W3CDTF">2026-10-06T10:44:39Z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A567FD948CD34F2589ED9C7714C5FF9F_12</vt:lpwstr>
  </property>
</Properties>
</file>